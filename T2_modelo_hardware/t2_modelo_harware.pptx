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handoutMasterIdLst>
    <p:handoutMasterId r:id="rId47"/>
  </p:handoutMasterIdLst>
  <p:sldIdLst>
    <p:sldId id="256" r:id="rId2"/>
    <p:sldId id="257" r:id="rId3"/>
    <p:sldId id="285" r:id="rId4"/>
    <p:sldId id="284" r:id="rId5"/>
    <p:sldId id="280" r:id="rId6"/>
    <p:sldId id="306" r:id="rId7"/>
    <p:sldId id="286" r:id="rId8"/>
    <p:sldId id="281" r:id="rId9"/>
    <p:sldId id="287" r:id="rId10"/>
    <p:sldId id="282" r:id="rId11"/>
    <p:sldId id="283" r:id="rId12"/>
    <p:sldId id="288" r:id="rId13"/>
    <p:sldId id="289" r:id="rId14"/>
    <p:sldId id="290" r:id="rId15"/>
    <p:sldId id="291" r:id="rId16"/>
    <p:sldId id="292" r:id="rId17"/>
    <p:sldId id="293" r:id="rId18"/>
    <p:sldId id="294" r:id="rId19"/>
    <p:sldId id="295" r:id="rId20"/>
    <p:sldId id="297" r:id="rId21"/>
    <p:sldId id="298" r:id="rId22"/>
    <p:sldId id="296" r:id="rId23"/>
    <p:sldId id="299" r:id="rId24"/>
    <p:sldId id="300" r:id="rId25"/>
    <p:sldId id="301" r:id="rId26"/>
    <p:sldId id="302" r:id="rId27"/>
    <p:sldId id="303" r:id="rId28"/>
    <p:sldId id="304" r:id="rId29"/>
    <p:sldId id="305" r:id="rId30"/>
    <p:sldId id="308" r:id="rId31"/>
    <p:sldId id="307" r:id="rId32"/>
    <p:sldId id="309" r:id="rId33"/>
    <p:sldId id="263" r:id="rId34"/>
    <p:sldId id="269" r:id="rId35"/>
    <p:sldId id="315" r:id="rId36"/>
    <p:sldId id="316" r:id="rId37"/>
    <p:sldId id="317" r:id="rId38"/>
    <p:sldId id="314" r:id="rId39"/>
    <p:sldId id="312" r:id="rId40"/>
    <p:sldId id="313" r:id="rId41"/>
    <p:sldId id="318" r:id="rId42"/>
    <p:sldId id="320" r:id="rId43"/>
    <p:sldId id="319" r:id="rId44"/>
    <p:sldId id="321" r:id="rId45"/>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67" autoAdjust="0"/>
    <p:restoredTop sz="94694" autoAdjust="0"/>
  </p:normalViewPr>
  <p:slideViewPr>
    <p:cSldViewPr snapToGrid="0" snapToObjects="1">
      <p:cViewPr varScale="1">
        <p:scale>
          <a:sx n="121" d="100"/>
          <a:sy n="121" d="100"/>
        </p:scale>
        <p:origin x="2296" y="176"/>
      </p:cViewPr>
      <p:guideLst>
        <p:guide orient="horz" pos="2160"/>
        <p:guide pos="2880"/>
      </p:guideLst>
    </p:cSldViewPr>
  </p:slideViewPr>
  <p:outlineViewPr>
    <p:cViewPr>
      <p:scale>
        <a:sx n="33" d="100"/>
        <a:sy n="33" d="100"/>
      </p:scale>
      <p:origin x="0" y="2096"/>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1" d="100"/>
          <a:sy n="111" d="100"/>
        </p:scale>
        <p:origin x="-4264"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628657-C005-0E41-B072-A5CC41F81085}" type="datetimeFigureOut">
              <a:rPr lang="es-ES" smtClean="0"/>
              <a:t>2/12/25</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B8F2FF-28B8-E040-BC17-D599F8ED2784}" type="slidenum">
              <a:rPr lang="es-ES" smtClean="0"/>
              <a:t>‹Nº›</a:t>
            </a:fld>
            <a:endParaRPr lang="es-ES"/>
          </a:p>
        </p:txBody>
      </p:sp>
    </p:spTree>
    <p:extLst>
      <p:ext uri="{BB962C8B-B14F-4D97-AF65-F5344CB8AC3E}">
        <p14:creationId xmlns:p14="http://schemas.microsoft.com/office/powerpoint/2010/main" val="23969421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19BFE1-6B15-984C-AD4E-E3242C5C2C4E}" type="datetimeFigureOut">
              <a:rPr lang="es-ES" smtClean="0"/>
              <a:t>2/12/25</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CD03B2-CD94-8741-87FD-52F4DEA566EE}" type="slidenum">
              <a:rPr lang="es-ES" smtClean="0"/>
              <a:t>‹Nº›</a:t>
            </a:fld>
            <a:endParaRPr lang="es-ES"/>
          </a:p>
        </p:txBody>
      </p:sp>
    </p:spTree>
    <p:extLst>
      <p:ext uri="{BB962C8B-B14F-4D97-AF65-F5344CB8AC3E}">
        <p14:creationId xmlns:p14="http://schemas.microsoft.com/office/powerpoint/2010/main" val="253975180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54CD03B2-CD94-8741-87FD-52F4DEA566EE}" type="slidenum">
              <a:rPr lang="es-ES" smtClean="0"/>
              <a:t>2</a:t>
            </a:fld>
            <a:endParaRPr lang="es-ES"/>
          </a:p>
        </p:txBody>
      </p:sp>
    </p:spTree>
    <p:extLst>
      <p:ext uri="{BB962C8B-B14F-4D97-AF65-F5344CB8AC3E}">
        <p14:creationId xmlns:p14="http://schemas.microsoft.com/office/powerpoint/2010/main" val="2509681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54CD03B2-CD94-8741-87FD-52F4DEA566EE}" type="slidenum">
              <a:rPr lang="es-ES" smtClean="0"/>
              <a:t>3</a:t>
            </a:fld>
            <a:endParaRPr lang="es-ES"/>
          </a:p>
        </p:txBody>
      </p:sp>
    </p:spTree>
    <p:extLst>
      <p:ext uri="{BB962C8B-B14F-4D97-AF65-F5344CB8AC3E}">
        <p14:creationId xmlns:p14="http://schemas.microsoft.com/office/powerpoint/2010/main" val="2509681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54CD03B2-CD94-8741-87FD-52F4DEA566EE}" type="slidenum">
              <a:rPr lang="es-ES" smtClean="0"/>
              <a:t>4</a:t>
            </a:fld>
            <a:endParaRPr lang="es-ES"/>
          </a:p>
        </p:txBody>
      </p:sp>
    </p:spTree>
    <p:extLst>
      <p:ext uri="{BB962C8B-B14F-4D97-AF65-F5344CB8AC3E}">
        <p14:creationId xmlns:p14="http://schemas.microsoft.com/office/powerpoint/2010/main" val="2509681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54CD03B2-CD94-8741-87FD-52F4DEA566EE}" type="slidenum">
              <a:rPr lang="es-ES" smtClean="0"/>
              <a:t>5</a:t>
            </a:fld>
            <a:endParaRPr lang="es-ES"/>
          </a:p>
        </p:txBody>
      </p:sp>
    </p:spTree>
    <p:extLst>
      <p:ext uri="{BB962C8B-B14F-4D97-AF65-F5344CB8AC3E}">
        <p14:creationId xmlns:p14="http://schemas.microsoft.com/office/powerpoint/2010/main" val="2509681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E5998-67B3-30A2-B9E4-7CBB182A321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CB3CB05-BF7A-C9C4-DBF5-2F53BEBE62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0ACA3F9-E45C-B46B-E672-22DD2F961AA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4D6133E-D380-E2E6-3F8C-15093D4AF537}"/>
              </a:ext>
            </a:extLst>
          </p:cNvPr>
          <p:cNvSpPr>
            <a:spLocks noGrp="1"/>
          </p:cNvSpPr>
          <p:nvPr>
            <p:ph type="sldNum" sz="quarter" idx="10"/>
          </p:nvPr>
        </p:nvSpPr>
        <p:spPr/>
        <p:txBody>
          <a:bodyPr/>
          <a:lstStyle/>
          <a:p>
            <a:fld id="{54CD03B2-CD94-8741-87FD-52F4DEA566EE}" type="slidenum">
              <a:rPr lang="es-ES" smtClean="0"/>
              <a:t>6</a:t>
            </a:fld>
            <a:endParaRPr lang="es-ES"/>
          </a:p>
        </p:txBody>
      </p:sp>
    </p:spTree>
    <p:extLst>
      <p:ext uri="{BB962C8B-B14F-4D97-AF65-F5344CB8AC3E}">
        <p14:creationId xmlns:p14="http://schemas.microsoft.com/office/powerpoint/2010/main" val="3888634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54CD03B2-CD94-8741-87FD-52F4DEA566EE}" type="slidenum">
              <a:rPr lang="es-ES" smtClean="0"/>
              <a:t>7</a:t>
            </a:fld>
            <a:endParaRPr lang="es-ES"/>
          </a:p>
        </p:txBody>
      </p:sp>
    </p:spTree>
    <p:extLst>
      <p:ext uri="{BB962C8B-B14F-4D97-AF65-F5344CB8AC3E}">
        <p14:creationId xmlns:p14="http://schemas.microsoft.com/office/powerpoint/2010/main" val="2509681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54CD03B2-CD94-8741-87FD-52F4DEA566EE}" type="slidenum">
              <a:rPr lang="es-ES" smtClean="0"/>
              <a:t>9</a:t>
            </a:fld>
            <a:endParaRPr lang="es-ES"/>
          </a:p>
        </p:txBody>
      </p:sp>
    </p:spTree>
    <p:extLst>
      <p:ext uri="{BB962C8B-B14F-4D97-AF65-F5344CB8AC3E}">
        <p14:creationId xmlns:p14="http://schemas.microsoft.com/office/powerpoint/2010/main" val="2509681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Haga clic para modificar el estilo de subtítulo del patrón</a:t>
            </a:r>
            <a:endParaRPr lang="es-ES"/>
          </a:p>
        </p:txBody>
      </p:sp>
      <p:sp>
        <p:nvSpPr>
          <p:cNvPr id="4" name="Marcador de fecha 3"/>
          <p:cNvSpPr>
            <a:spLocks noGrp="1"/>
          </p:cNvSpPr>
          <p:nvPr>
            <p:ph type="dt" sz="half" idx="10"/>
          </p:nvPr>
        </p:nvSpPr>
        <p:spPr/>
        <p:txBody>
          <a:bodyPr/>
          <a:lstStyle/>
          <a:p>
            <a:r>
              <a:rPr lang="es-ES"/>
              <a:t>February, 2016</a:t>
            </a:r>
          </a:p>
        </p:txBody>
      </p:sp>
      <p:sp>
        <p:nvSpPr>
          <p:cNvPr id="5" name="Marcador de pie de página 4"/>
          <p:cNvSpPr>
            <a:spLocks noGrp="1"/>
          </p:cNvSpPr>
          <p:nvPr>
            <p:ph type="ftr" sz="quarter" idx="11"/>
          </p:nvPr>
        </p:nvSpPr>
        <p:spPr/>
        <p:txBody>
          <a:bodyPr/>
          <a:lstStyle/>
          <a:p>
            <a:r>
              <a:rPr lang="is-IS"/>
              <a:t>TPP 2018-2019</a:t>
            </a:r>
            <a:endParaRPr lang="es-ES"/>
          </a:p>
        </p:txBody>
      </p:sp>
      <p:sp>
        <p:nvSpPr>
          <p:cNvPr id="6" name="Marcador de número de diapositiva 5"/>
          <p:cNvSpPr>
            <a:spLocks noGrp="1"/>
          </p:cNvSpPr>
          <p:nvPr>
            <p:ph type="sldNum" sz="quarter" idx="12"/>
          </p:nvPr>
        </p:nvSpPr>
        <p:spPr/>
        <p:txBody>
          <a:bodyPr/>
          <a:lstStyle/>
          <a:p>
            <a:fld id="{4555C3DD-BEFD-C549-9CBF-220CD50E2B7D}" type="slidenum">
              <a:rPr lang="es-ES" smtClean="0"/>
              <a:t>‹Nº›</a:t>
            </a:fld>
            <a:endParaRPr lang="es-ES" dirty="0"/>
          </a:p>
        </p:txBody>
      </p:sp>
    </p:spTree>
    <p:extLst>
      <p:ext uri="{BB962C8B-B14F-4D97-AF65-F5344CB8AC3E}">
        <p14:creationId xmlns:p14="http://schemas.microsoft.com/office/powerpoint/2010/main" val="1821772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r>
              <a:rPr lang="es-ES"/>
              <a:t>February, 2016</a:t>
            </a:r>
            <a:endParaRPr lang="es-ES" dirty="0"/>
          </a:p>
        </p:txBody>
      </p:sp>
      <p:sp>
        <p:nvSpPr>
          <p:cNvPr id="5" name="Marcador de pie de página 4"/>
          <p:cNvSpPr>
            <a:spLocks noGrp="1"/>
          </p:cNvSpPr>
          <p:nvPr>
            <p:ph type="ftr" sz="quarter" idx="11"/>
          </p:nvPr>
        </p:nvSpPr>
        <p:spPr/>
        <p:txBody>
          <a:bodyPr/>
          <a:lstStyle/>
          <a:p>
            <a:r>
              <a:rPr lang="is-IS"/>
              <a:t>TPP 2018-2019</a:t>
            </a:r>
            <a:endParaRPr lang="es-ES" dirty="0"/>
          </a:p>
        </p:txBody>
      </p:sp>
      <p:sp>
        <p:nvSpPr>
          <p:cNvPr id="6" name="Marcador de número de diapositiva 5"/>
          <p:cNvSpPr>
            <a:spLocks noGrp="1"/>
          </p:cNvSpPr>
          <p:nvPr>
            <p:ph type="sldNum" sz="quarter" idx="12"/>
          </p:nvPr>
        </p:nvSpPr>
        <p:spPr/>
        <p:txBody>
          <a:bodyPr/>
          <a:lstStyle/>
          <a:p>
            <a:fld id="{FCA0CD1F-DF31-2B47-B9C0-AAD6CC852762}" type="slidenum">
              <a:rPr lang="es-ES" smtClean="0"/>
              <a:t>‹Nº›</a:t>
            </a:fld>
            <a:endParaRPr lang="es-ES" dirty="0"/>
          </a:p>
        </p:txBody>
      </p:sp>
    </p:spTree>
    <p:extLst>
      <p:ext uri="{BB962C8B-B14F-4D97-AF65-F5344CB8AC3E}">
        <p14:creationId xmlns:p14="http://schemas.microsoft.com/office/powerpoint/2010/main" val="2449536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r>
              <a:rPr lang="es-ES"/>
              <a:t>February, 2016</a:t>
            </a:r>
          </a:p>
        </p:txBody>
      </p:sp>
      <p:sp>
        <p:nvSpPr>
          <p:cNvPr id="5" name="Marcador de pie de página 4"/>
          <p:cNvSpPr>
            <a:spLocks noGrp="1"/>
          </p:cNvSpPr>
          <p:nvPr>
            <p:ph type="ftr" sz="quarter" idx="11"/>
          </p:nvPr>
        </p:nvSpPr>
        <p:spPr/>
        <p:txBody>
          <a:bodyPr/>
          <a:lstStyle/>
          <a:p>
            <a:r>
              <a:rPr lang="is-IS"/>
              <a:t>TPP 2018-2019</a:t>
            </a:r>
            <a:endParaRPr lang="es-ES"/>
          </a:p>
        </p:txBody>
      </p:sp>
      <p:sp>
        <p:nvSpPr>
          <p:cNvPr id="6" name="Marcador de número de diapositiva 5"/>
          <p:cNvSpPr>
            <a:spLocks noGrp="1"/>
          </p:cNvSpPr>
          <p:nvPr>
            <p:ph type="sldNum" sz="quarter" idx="12"/>
          </p:nvPr>
        </p:nvSpPr>
        <p:spPr/>
        <p:txBody>
          <a:bodyPr/>
          <a:lstStyle/>
          <a:p>
            <a:fld id="{4555C3DD-BEFD-C549-9CBF-220CD50E2B7D}" type="slidenum">
              <a:rPr lang="es-ES" smtClean="0"/>
              <a:t>‹Nº›</a:t>
            </a:fld>
            <a:endParaRPr lang="es-ES"/>
          </a:p>
        </p:txBody>
      </p:sp>
    </p:spTree>
    <p:extLst>
      <p:ext uri="{BB962C8B-B14F-4D97-AF65-F5344CB8AC3E}">
        <p14:creationId xmlns:p14="http://schemas.microsoft.com/office/powerpoint/2010/main" val="720580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p:txBody>
          <a:bodyPr/>
          <a:lstStyle/>
          <a:p>
            <a:r>
              <a:rPr lang="es-ES"/>
              <a:t>February, 2016</a:t>
            </a:r>
          </a:p>
        </p:txBody>
      </p:sp>
      <p:sp>
        <p:nvSpPr>
          <p:cNvPr id="6" name="Marcador de pie de página 5"/>
          <p:cNvSpPr>
            <a:spLocks noGrp="1"/>
          </p:cNvSpPr>
          <p:nvPr>
            <p:ph type="ftr" sz="quarter" idx="11"/>
          </p:nvPr>
        </p:nvSpPr>
        <p:spPr/>
        <p:txBody>
          <a:bodyPr/>
          <a:lstStyle/>
          <a:p>
            <a:r>
              <a:rPr lang="is-IS"/>
              <a:t>TPP 2018-2019</a:t>
            </a:r>
            <a:endParaRPr lang="es-ES"/>
          </a:p>
        </p:txBody>
      </p:sp>
      <p:sp>
        <p:nvSpPr>
          <p:cNvPr id="7" name="Marcador de número de diapositiva 6"/>
          <p:cNvSpPr>
            <a:spLocks noGrp="1"/>
          </p:cNvSpPr>
          <p:nvPr>
            <p:ph type="sldNum" sz="quarter" idx="12"/>
          </p:nvPr>
        </p:nvSpPr>
        <p:spPr/>
        <p:txBody>
          <a:bodyPr/>
          <a:lstStyle/>
          <a:p>
            <a:fld id="{4555C3DD-BEFD-C549-9CBF-220CD50E2B7D}" type="slidenum">
              <a:rPr lang="es-ES" smtClean="0"/>
              <a:t>‹Nº›</a:t>
            </a:fld>
            <a:endParaRPr lang="es-ES"/>
          </a:p>
        </p:txBody>
      </p:sp>
    </p:spTree>
    <p:extLst>
      <p:ext uri="{BB962C8B-B14F-4D97-AF65-F5344CB8AC3E}">
        <p14:creationId xmlns:p14="http://schemas.microsoft.com/office/powerpoint/2010/main" val="2723199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p:txBody>
          <a:bodyPr/>
          <a:lstStyle/>
          <a:p>
            <a:r>
              <a:rPr lang="es-ES"/>
              <a:t>February, 2016</a:t>
            </a:r>
          </a:p>
        </p:txBody>
      </p:sp>
      <p:sp>
        <p:nvSpPr>
          <p:cNvPr id="8" name="Marcador de pie de página 7"/>
          <p:cNvSpPr>
            <a:spLocks noGrp="1"/>
          </p:cNvSpPr>
          <p:nvPr>
            <p:ph type="ftr" sz="quarter" idx="11"/>
          </p:nvPr>
        </p:nvSpPr>
        <p:spPr/>
        <p:txBody>
          <a:bodyPr/>
          <a:lstStyle/>
          <a:p>
            <a:r>
              <a:rPr lang="is-IS"/>
              <a:t>TPP 2018-2019</a:t>
            </a:r>
            <a:endParaRPr lang="es-ES"/>
          </a:p>
        </p:txBody>
      </p:sp>
      <p:sp>
        <p:nvSpPr>
          <p:cNvPr id="9" name="Marcador de número de diapositiva 8"/>
          <p:cNvSpPr>
            <a:spLocks noGrp="1"/>
          </p:cNvSpPr>
          <p:nvPr>
            <p:ph type="sldNum" sz="quarter" idx="12"/>
          </p:nvPr>
        </p:nvSpPr>
        <p:spPr/>
        <p:txBody>
          <a:bodyPr/>
          <a:lstStyle/>
          <a:p>
            <a:fld id="{4555C3DD-BEFD-C549-9CBF-220CD50E2B7D}" type="slidenum">
              <a:rPr lang="es-ES" smtClean="0"/>
              <a:t>‹Nº›</a:t>
            </a:fld>
            <a:endParaRPr lang="es-ES"/>
          </a:p>
        </p:txBody>
      </p:sp>
    </p:spTree>
    <p:extLst>
      <p:ext uri="{BB962C8B-B14F-4D97-AF65-F5344CB8AC3E}">
        <p14:creationId xmlns:p14="http://schemas.microsoft.com/office/powerpoint/2010/main" val="120536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2"/>
          <p:cNvSpPr>
            <a:spLocks noGrp="1"/>
          </p:cNvSpPr>
          <p:nvPr>
            <p:ph type="dt" sz="half" idx="10"/>
          </p:nvPr>
        </p:nvSpPr>
        <p:spPr/>
        <p:txBody>
          <a:bodyPr/>
          <a:lstStyle/>
          <a:p>
            <a:r>
              <a:rPr lang="es-ES"/>
              <a:t>February, 2016</a:t>
            </a:r>
          </a:p>
        </p:txBody>
      </p:sp>
      <p:sp>
        <p:nvSpPr>
          <p:cNvPr id="4" name="Marcador de pie de página 3"/>
          <p:cNvSpPr>
            <a:spLocks noGrp="1"/>
          </p:cNvSpPr>
          <p:nvPr>
            <p:ph type="ftr" sz="quarter" idx="11"/>
          </p:nvPr>
        </p:nvSpPr>
        <p:spPr/>
        <p:txBody>
          <a:bodyPr/>
          <a:lstStyle/>
          <a:p>
            <a:r>
              <a:rPr lang="is-IS"/>
              <a:t>TPP 2018-2019</a:t>
            </a:r>
            <a:endParaRPr lang="es-ES"/>
          </a:p>
        </p:txBody>
      </p:sp>
      <p:sp>
        <p:nvSpPr>
          <p:cNvPr id="5" name="Marcador de número de diapositiva 4"/>
          <p:cNvSpPr>
            <a:spLocks noGrp="1"/>
          </p:cNvSpPr>
          <p:nvPr>
            <p:ph type="sldNum" sz="quarter" idx="12"/>
          </p:nvPr>
        </p:nvSpPr>
        <p:spPr/>
        <p:txBody>
          <a:bodyPr/>
          <a:lstStyle/>
          <a:p>
            <a:fld id="{4555C3DD-BEFD-C549-9CBF-220CD50E2B7D}" type="slidenum">
              <a:rPr lang="es-ES" smtClean="0"/>
              <a:t>‹Nº›</a:t>
            </a:fld>
            <a:endParaRPr lang="es-ES"/>
          </a:p>
        </p:txBody>
      </p:sp>
    </p:spTree>
    <p:extLst>
      <p:ext uri="{BB962C8B-B14F-4D97-AF65-F5344CB8AC3E}">
        <p14:creationId xmlns:p14="http://schemas.microsoft.com/office/powerpoint/2010/main" val="1065006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r>
              <a:rPr lang="es-ES"/>
              <a:t>February, 2016</a:t>
            </a:r>
          </a:p>
        </p:txBody>
      </p:sp>
      <p:sp>
        <p:nvSpPr>
          <p:cNvPr id="3" name="Marcador de pie de página 2"/>
          <p:cNvSpPr>
            <a:spLocks noGrp="1"/>
          </p:cNvSpPr>
          <p:nvPr>
            <p:ph type="ftr" sz="quarter" idx="11"/>
          </p:nvPr>
        </p:nvSpPr>
        <p:spPr/>
        <p:txBody>
          <a:bodyPr/>
          <a:lstStyle/>
          <a:p>
            <a:r>
              <a:rPr lang="is-IS"/>
              <a:t>TPP 2018-2019</a:t>
            </a:r>
            <a:endParaRPr lang="es-ES"/>
          </a:p>
        </p:txBody>
      </p:sp>
      <p:sp>
        <p:nvSpPr>
          <p:cNvPr id="4" name="Marcador de número de diapositiva 3"/>
          <p:cNvSpPr>
            <a:spLocks noGrp="1"/>
          </p:cNvSpPr>
          <p:nvPr>
            <p:ph type="sldNum" sz="quarter" idx="12"/>
          </p:nvPr>
        </p:nvSpPr>
        <p:spPr/>
        <p:txBody>
          <a:bodyPr/>
          <a:lstStyle/>
          <a:p>
            <a:fld id="{4555C3DD-BEFD-C549-9CBF-220CD50E2B7D}" type="slidenum">
              <a:rPr lang="es-ES" smtClean="0"/>
              <a:t>‹Nº›</a:t>
            </a:fld>
            <a:endParaRPr lang="es-ES"/>
          </a:p>
        </p:txBody>
      </p:sp>
    </p:spTree>
    <p:extLst>
      <p:ext uri="{BB962C8B-B14F-4D97-AF65-F5344CB8AC3E}">
        <p14:creationId xmlns:p14="http://schemas.microsoft.com/office/powerpoint/2010/main" val="3162559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r>
              <a:rPr lang="es-ES"/>
              <a:t>February, 2016</a:t>
            </a:r>
          </a:p>
        </p:txBody>
      </p:sp>
      <p:sp>
        <p:nvSpPr>
          <p:cNvPr id="6" name="Marcador de pie de página 5"/>
          <p:cNvSpPr>
            <a:spLocks noGrp="1"/>
          </p:cNvSpPr>
          <p:nvPr>
            <p:ph type="ftr" sz="quarter" idx="11"/>
          </p:nvPr>
        </p:nvSpPr>
        <p:spPr/>
        <p:txBody>
          <a:bodyPr/>
          <a:lstStyle/>
          <a:p>
            <a:r>
              <a:rPr lang="is-IS"/>
              <a:t>TPP 2018-2019</a:t>
            </a:r>
            <a:endParaRPr lang="es-ES"/>
          </a:p>
        </p:txBody>
      </p:sp>
      <p:sp>
        <p:nvSpPr>
          <p:cNvPr id="7" name="Marcador de número de diapositiva 6"/>
          <p:cNvSpPr>
            <a:spLocks noGrp="1"/>
          </p:cNvSpPr>
          <p:nvPr>
            <p:ph type="sldNum" sz="quarter" idx="12"/>
          </p:nvPr>
        </p:nvSpPr>
        <p:spPr/>
        <p:txBody>
          <a:bodyPr/>
          <a:lstStyle/>
          <a:p>
            <a:fld id="{4555C3DD-BEFD-C549-9CBF-220CD50E2B7D}" type="slidenum">
              <a:rPr lang="es-ES" smtClean="0"/>
              <a:t>‹Nº›</a:t>
            </a:fld>
            <a:endParaRPr lang="es-ES"/>
          </a:p>
        </p:txBody>
      </p:sp>
    </p:spTree>
    <p:extLst>
      <p:ext uri="{BB962C8B-B14F-4D97-AF65-F5344CB8AC3E}">
        <p14:creationId xmlns:p14="http://schemas.microsoft.com/office/powerpoint/2010/main" val="95683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r>
              <a:rPr lang="es-ES"/>
              <a:t>February, 2016</a:t>
            </a:r>
          </a:p>
        </p:txBody>
      </p:sp>
      <p:sp>
        <p:nvSpPr>
          <p:cNvPr id="6" name="Marcador de pie de página 5"/>
          <p:cNvSpPr>
            <a:spLocks noGrp="1"/>
          </p:cNvSpPr>
          <p:nvPr>
            <p:ph type="ftr" sz="quarter" idx="11"/>
          </p:nvPr>
        </p:nvSpPr>
        <p:spPr/>
        <p:txBody>
          <a:bodyPr/>
          <a:lstStyle/>
          <a:p>
            <a:r>
              <a:rPr lang="is-IS"/>
              <a:t>TPP 2018-2019</a:t>
            </a:r>
            <a:endParaRPr lang="es-ES"/>
          </a:p>
        </p:txBody>
      </p:sp>
      <p:sp>
        <p:nvSpPr>
          <p:cNvPr id="7" name="Marcador de número de diapositiva 6"/>
          <p:cNvSpPr>
            <a:spLocks noGrp="1"/>
          </p:cNvSpPr>
          <p:nvPr>
            <p:ph type="sldNum" sz="quarter" idx="12"/>
          </p:nvPr>
        </p:nvSpPr>
        <p:spPr/>
        <p:txBody>
          <a:bodyPr/>
          <a:lstStyle/>
          <a:p>
            <a:fld id="{4555C3DD-BEFD-C549-9CBF-220CD50E2B7D}" type="slidenum">
              <a:rPr lang="es-ES" smtClean="0"/>
              <a:t>‹Nº›</a:t>
            </a:fld>
            <a:endParaRPr lang="es-ES"/>
          </a:p>
        </p:txBody>
      </p:sp>
    </p:spTree>
    <p:extLst>
      <p:ext uri="{BB962C8B-B14F-4D97-AF65-F5344CB8AC3E}">
        <p14:creationId xmlns:p14="http://schemas.microsoft.com/office/powerpoint/2010/main" val="1775677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r>
              <a:rPr lang="es-ES"/>
              <a:t>February, 2016</a:t>
            </a:r>
          </a:p>
        </p:txBody>
      </p:sp>
      <p:sp>
        <p:nvSpPr>
          <p:cNvPr id="5" name="Marcador de pie de página 4"/>
          <p:cNvSpPr>
            <a:spLocks noGrp="1"/>
          </p:cNvSpPr>
          <p:nvPr>
            <p:ph type="ftr" sz="quarter" idx="11"/>
          </p:nvPr>
        </p:nvSpPr>
        <p:spPr/>
        <p:txBody>
          <a:bodyPr/>
          <a:lstStyle/>
          <a:p>
            <a:r>
              <a:rPr lang="is-IS"/>
              <a:t>TPP 2018-2019</a:t>
            </a:r>
            <a:endParaRPr lang="es-ES"/>
          </a:p>
        </p:txBody>
      </p:sp>
      <p:sp>
        <p:nvSpPr>
          <p:cNvPr id="6" name="Marcador de número de diapositiva 5"/>
          <p:cNvSpPr>
            <a:spLocks noGrp="1"/>
          </p:cNvSpPr>
          <p:nvPr>
            <p:ph type="sldNum" sz="quarter" idx="12"/>
          </p:nvPr>
        </p:nvSpPr>
        <p:spPr/>
        <p:txBody>
          <a:bodyPr/>
          <a:lstStyle/>
          <a:p>
            <a:fld id="{4555C3DD-BEFD-C549-9CBF-220CD50E2B7D}" type="slidenum">
              <a:rPr lang="es-ES" smtClean="0"/>
              <a:t>‹Nº›</a:t>
            </a:fld>
            <a:endParaRPr lang="es-ES"/>
          </a:p>
        </p:txBody>
      </p:sp>
    </p:spTree>
    <p:extLst>
      <p:ext uri="{BB962C8B-B14F-4D97-AF65-F5344CB8AC3E}">
        <p14:creationId xmlns:p14="http://schemas.microsoft.com/office/powerpoint/2010/main" val="656465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r>
              <a:rPr lang="es-ES"/>
              <a:t>February, 2016</a:t>
            </a:r>
          </a:p>
        </p:txBody>
      </p:sp>
      <p:sp>
        <p:nvSpPr>
          <p:cNvPr id="5" name="Marcador de pie de página 4"/>
          <p:cNvSpPr>
            <a:spLocks noGrp="1"/>
          </p:cNvSpPr>
          <p:nvPr>
            <p:ph type="ftr" sz="quarter" idx="11"/>
          </p:nvPr>
        </p:nvSpPr>
        <p:spPr/>
        <p:txBody>
          <a:bodyPr/>
          <a:lstStyle/>
          <a:p>
            <a:r>
              <a:rPr lang="is-IS"/>
              <a:t>TPP 2018-2019</a:t>
            </a:r>
            <a:endParaRPr lang="es-ES"/>
          </a:p>
        </p:txBody>
      </p:sp>
      <p:sp>
        <p:nvSpPr>
          <p:cNvPr id="6" name="Marcador de número de diapositiva 5"/>
          <p:cNvSpPr>
            <a:spLocks noGrp="1"/>
          </p:cNvSpPr>
          <p:nvPr>
            <p:ph type="sldNum" sz="quarter" idx="12"/>
          </p:nvPr>
        </p:nvSpPr>
        <p:spPr/>
        <p:txBody>
          <a:bodyPr/>
          <a:lstStyle/>
          <a:p>
            <a:fld id="{4555C3DD-BEFD-C549-9CBF-220CD50E2B7D}" type="slidenum">
              <a:rPr lang="es-ES" smtClean="0"/>
              <a:t>‹Nº›</a:t>
            </a:fld>
            <a:endParaRPr lang="es-ES"/>
          </a:p>
        </p:txBody>
      </p:sp>
    </p:spTree>
    <p:extLst>
      <p:ext uri="{BB962C8B-B14F-4D97-AF65-F5344CB8AC3E}">
        <p14:creationId xmlns:p14="http://schemas.microsoft.com/office/powerpoint/2010/main" val="1295368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dirty="0"/>
              <a:t>Clic para editar título</a:t>
            </a:r>
            <a:endParaRPr lang="es-ES" dirty="0"/>
          </a:p>
        </p:txBody>
      </p:sp>
      <p:sp>
        <p:nvSpPr>
          <p:cNvPr id="3" name="Marcador de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fech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s-ES"/>
              <a:t>February, 2016</a:t>
            </a:r>
            <a:endParaRPr lang="es-ES" dirty="0"/>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s-IS"/>
              <a:t>TPP 2018-2019</a:t>
            </a:r>
            <a:endParaRPr lang="es-ES" dirty="0"/>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BE40430-21BC-BB40-BF47-13EDB36C1131}" type="slidenum">
              <a:rPr lang="es-ES" smtClean="0"/>
              <a:t>‹Nº›</a:t>
            </a:fld>
            <a:endParaRPr lang="es-ES" dirty="0"/>
          </a:p>
        </p:txBody>
      </p:sp>
      <p:pic>
        <p:nvPicPr>
          <p:cNvPr id="9" name="Imagen 8" descr="marca_UPV_secundaria_color300.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457200" y="274638"/>
            <a:ext cx="661538" cy="765195"/>
          </a:xfrm>
          <a:prstGeom prst="rect">
            <a:avLst/>
          </a:prstGeom>
        </p:spPr>
      </p:pic>
    </p:spTree>
    <p:extLst>
      <p:ext uri="{BB962C8B-B14F-4D97-AF65-F5344CB8AC3E}">
        <p14:creationId xmlns:p14="http://schemas.microsoft.com/office/powerpoint/2010/main" val="3995865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3200" kern="1200">
          <a:solidFill>
            <a:schemeClr val="tx1"/>
          </a:solidFill>
          <a:latin typeface="Century"/>
          <a:ea typeface="+mj-ea"/>
          <a:cs typeface="Century"/>
        </a:defRPr>
      </a:lvl1pPr>
    </p:titleStyle>
    <p:bodyStyle>
      <a:lvl1pPr marL="342900" indent="-342900" algn="l" defTabSz="457200" rtl="0" eaLnBrk="1" latinLnBrk="0" hangingPunct="1">
        <a:spcBef>
          <a:spcPct val="20000"/>
        </a:spcBef>
        <a:buFont typeface="Arial"/>
        <a:buChar char="•"/>
        <a:defRPr sz="2000" b="0" i="0" kern="1200">
          <a:solidFill>
            <a:schemeClr val="tx1"/>
          </a:solidFill>
          <a:latin typeface="Century"/>
          <a:ea typeface="+mn-ea"/>
          <a:cs typeface="Century"/>
        </a:defRPr>
      </a:lvl1pPr>
      <a:lvl2pPr marL="742950" indent="-285750" algn="l" defTabSz="457200" rtl="0" eaLnBrk="1" latinLnBrk="0" hangingPunct="1">
        <a:spcBef>
          <a:spcPct val="20000"/>
        </a:spcBef>
        <a:buFont typeface="Arial"/>
        <a:buChar char="–"/>
        <a:defRPr sz="1600" b="0" i="0" kern="1200">
          <a:solidFill>
            <a:schemeClr val="tx1"/>
          </a:solidFill>
          <a:latin typeface="Century"/>
          <a:ea typeface="+mn-ea"/>
          <a:cs typeface="Century"/>
        </a:defRPr>
      </a:lvl2pPr>
      <a:lvl3pPr marL="1143000" indent="-228600" algn="l" defTabSz="457200" rtl="0" eaLnBrk="1" latinLnBrk="0" hangingPunct="1">
        <a:spcBef>
          <a:spcPct val="20000"/>
        </a:spcBef>
        <a:buFont typeface="Arial"/>
        <a:buChar char="•"/>
        <a:defRPr sz="1400" b="0" i="0" kern="1200">
          <a:solidFill>
            <a:schemeClr val="tx1"/>
          </a:solidFill>
          <a:latin typeface="Century"/>
          <a:ea typeface="+mn-ea"/>
          <a:cs typeface="Century"/>
        </a:defRPr>
      </a:lvl3pPr>
      <a:lvl4pPr marL="1600200" indent="-228600" algn="l" defTabSz="457200" rtl="0" eaLnBrk="1" latinLnBrk="0" hangingPunct="1">
        <a:spcBef>
          <a:spcPct val="20000"/>
        </a:spcBef>
        <a:buFont typeface="Arial"/>
        <a:buChar char="–"/>
        <a:defRPr sz="2000" b="0" i="0" kern="1200">
          <a:solidFill>
            <a:schemeClr val="tx1"/>
          </a:solidFill>
          <a:latin typeface="Century"/>
          <a:ea typeface="+mn-ea"/>
          <a:cs typeface="Century"/>
        </a:defRPr>
      </a:lvl4pPr>
      <a:lvl5pPr marL="2057400" indent="-228600" algn="l" defTabSz="457200" rtl="0" eaLnBrk="1" latinLnBrk="0" hangingPunct="1">
        <a:spcBef>
          <a:spcPct val="20000"/>
        </a:spcBef>
        <a:buFont typeface="Arial"/>
        <a:buChar char="»"/>
        <a:defRPr sz="2000" b="0" i="0" kern="1200">
          <a:solidFill>
            <a:schemeClr val="tx1"/>
          </a:solidFill>
          <a:latin typeface="Century"/>
          <a:ea typeface="+mn-ea"/>
          <a:cs typeface="Century"/>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nvidia.com/es-es/data-center/tensor-core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developer.nvidia.com/cuda-gpus" TargetMode="External"/><Relationship Id="rId2" Type="http://schemas.openxmlformats.org/officeDocument/2006/relationships/hyperlink" Target="https://developer.nvidia.com/cuda-legacy-gpus" TargetMode="External"/><Relationship Id="rId1" Type="http://schemas.openxmlformats.org/officeDocument/2006/relationships/slideLayout" Target="../slideLayouts/slideLayout2.xml"/><Relationship Id="rId4" Type="http://schemas.openxmlformats.org/officeDocument/2006/relationships/hyperlink" Target="https://docs.nvidia.com/cuda/cuda-c-programming-guide/index.html#compute-capabilitie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1522217"/>
            <a:ext cx="7772400" cy="1470025"/>
          </a:xfrm>
        </p:spPr>
        <p:txBody>
          <a:bodyPr/>
          <a:lstStyle/>
          <a:p>
            <a:r>
              <a:rPr lang="en-GB" noProof="0" dirty="0">
                <a:effectLst>
                  <a:outerShdw blurRad="38100" dist="38100" dir="2700000" algn="tl" rotWithShape="0">
                    <a:schemeClr val="bg1">
                      <a:lumMod val="75000"/>
                      <a:alpha val="50000"/>
                    </a:schemeClr>
                  </a:outerShdw>
                </a:effectLst>
              </a:rPr>
              <a:t>CUDA: Modelo de Hardware</a:t>
            </a:r>
          </a:p>
        </p:txBody>
      </p:sp>
      <p:sp>
        <p:nvSpPr>
          <p:cNvPr id="3" name="Subtítulo 2"/>
          <p:cNvSpPr>
            <a:spLocks noGrp="1"/>
          </p:cNvSpPr>
          <p:nvPr>
            <p:ph type="subTitle" idx="1"/>
          </p:nvPr>
        </p:nvSpPr>
        <p:spPr/>
        <p:txBody>
          <a:bodyPr>
            <a:normAutofit/>
          </a:bodyPr>
          <a:lstStyle/>
          <a:p>
            <a:pPr>
              <a:lnSpc>
                <a:spcPct val="150000"/>
              </a:lnSpc>
            </a:pPr>
            <a:r>
              <a:rPr lang="en-GB" sz="1800" noProof="0" dirty="0" err="1"/>
              <a:t>Universitat</a:t>
            </a:r>
            <a:r>
              <a:rPr lang="en-GB" sz="1800" noProof="0" dirty="0"/>
              <a:t> </a:t>
            </a:r>
            <a:r>
              <a:rPr lang="en-GB" sz="1800" noProof="0" dirty="0" err="1"/>
              <a:t>Politècnica</a:t>
            </a:r>
            <a:r>
              <a:rPr lang="en-GB" sz="1800" noProof="0" dirty="0"/>
              <a:t> de València</a:t>
            </a:r>
          </a:p>
        </p:txBody>
      </p:sp>
      <p:sp>
        <p:nvSpPr>
          <p:cNvPr id="10" name="CuadroTexto 9"/>
          <p:cNvSpPr txBox="1"/>
          <p:nvPr/>
        </p:nvSpPr>
        <p:spPr>
          <a:xfrm>
            <a:off x="2795648" y="3059668"/>
            <a:ext cx="3552704" cy="369332"/>
          </a:xfrm>
          <a:prstGeom prst="rect">
            <a:avLst/>
          </a:prstGeom>
          <a:noFill/>
        </p:spPr>
        <p:txBody>
          <a:bodyPr wrap="none" rtlCol="0">
            <a:spAutoFit/>
          </a:bodyPr>
          <a:lstStyle/>
          <a:p>
            <a:r>
              <a:rPr lang="en-GB" b="1" dirty="0">
                <a:effectLst>
                  <a:outerShdw blurRad="38100" dist="38100" dir="2700000" algn="tl" rotWithShape="0">
                    <a:schemeClr val="bg1">
                      <a:lumMod val="75000"/>
                      <a:alpha val="50000"/>
                    </a:schemeClr>
                  </a:outerShdw>
                </a:effectLst>
                <a:latin typeface="Century"/>
                <a:cs typeface="Century"/>
              </a:rPr>
              <a:t>Pedro Alonso y Adrián Castelló </a:t>
            </a:r>
          </a:p>
        </p:txBody>
      </p:sp>
    </p:spTree>
    <p:extLst>
      <p:ext uri="{BB962C8B-B14F-4D97-AF65-F5344CB8AC3E}">
        <p14:creationId xmlns:p14="http://schemas.microsoft.com/office/powerpoint/2010/main" val="2823077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GB" sz="2800" noProof="0" dirty="0">
                <a:effectLst>
                  <a:outerShdw blurRad="38100" dist="38100" dir="2700000" algn="tl" rotWithShape="0">
                    <a:schemeClr val="bg1">
                      <a:lumMod val="75000"/>
                      <a:alpha val="50000"/>
                    </a:schemeClr>
                  </a:outerShdw>
                </a:effectLst>
                <a:latin typeface="Century"/>
                <a:cs typeface="Century"/>
              </a:rPr>
              <a:t>Hardware implementation: Architecture</a:t>
            </a:r>
          </a:p>
        </p:txBody>
      </p:sp>
      <p:sp>
        <p:nvSpPr>
          <p:cNvPr id="3" name="Marcador de contenido 2"/>
          <p:cNvSpPr>
            <a:spLocks noGrp="1"/>
          </p:cNvSpPr>
          <p:nvPr>
            <p:ph idx="1"/>
          </p:nvPr>
        </p:nvSpPr>
        <p:spPr>
          <a:xfrm>
            <a:off x="457199" y="1600200"/>
            <a:ext cx="8450943" cy="4525963"/>
          </a:xfrm>
        </p:spPr>
        <p:txBody>
          <a:bodyPr>
            <a:noAutofit/>
          </a:bodyPr>
          <a:lstStyle/>
          <a:p>
            <a:r>
              <a:rPr lang="en-GB" sz="2400" noProof="0" dirty="0">
                <a:effectLst>
                  <a:outerShdw blurRad="38100" dist="38100" dir="2700000" algn="tl" rotWithShape="0">
                    <a:schemeClr val="bg1">
                      <a:lumMod val="75000"/>
                      <a:alpha val="50000"/>
                    </a:schemeClr>
                  </a:outerShdw>
                </a:effectLst>
              </a:rPr>
              <a:t>The CUDA architecture is built around a scalable array of multithreaded </a:t>
            </a:r>
            <a:r>
              <a:rPr lang="en-GB" sz="2400" i="1" noProof="0" dirty="0">
                <a:solidFill>
                  <a:srgbClr val="F79646"/>
                </a:solidFill>
                <a:effectLst>
                  <a:outerShdw blurRad="38100" dist="38100" dir="2700000" algn="tl" rotWithShape="0">
                    <a:schemeClr val="bg1">
                      <a:lumMod val="75000"/>
                      <a:alpha val="50000"/>
                    </a:schemeClr>
                  </a:outerShdw>
                </a:effectLst>
              </a:rPr>
              <a:t>Streaming Multiprocessors</a:t>
            </a:r>
            <a:r>
              <a:rPr lang="en-GB" sz="2400" i="1" noProof="0" dirty="0">
                <a:effectLst>
                  <a:outerShdw blurRad="38100" dist="38100" dir="2700000" algn="tl" rotWithShape="0">
                    <a:schemeClr val="bg1">
                      <a:lumMod val="75000"/>
                      <a:alpha val="50000"/>
                    </a:schemeClr>
                  </a:outerShdw>
                </a:effectLst>
              </a:rPr>
              <a:t> </a:t>
            </a:r>
            <a:r>
              <a:rPr lang="en-GB" sz="2400" noProof="0" dirty="0">
                <a:effectLst>
                  <a:outerShdw blurRad="38100" dist="38100" dir="2700000" algn="tl" rotWithShape="0">
                    <a:schemeClr val="bg1">
                      <a:lumMod val="75000"/>
                      <a:alpha val="50000"/>
                    </a:schemeClr>
                  </a:outerShdw>
                </a:effectLst>
              </a:rPr>
              <a:t>(</a:t>
            </a:r>
            <a:r>
              <a:rPr lang="en-GB" sz="2400" i="1" noProof="0" dirty="0">
                <a:solidFill>
                  <a:srgbClr val="F79646"/>
                </a:solidFill>
                <a:effectLst>
                  <a:outerShdw blurRad="38100" dist="38100" dir="2700000" algn="tl" rotWithShape="0">
                    <a:schemeClr val="bg1">
                      <a:lumMod val="75000"/>
                      <a:alpha val="50000"/>
                    </a:schemeClr>
                  </a:outerShdw>
                </a:effectLst>
              </a:rPr>
              <a:t>SMs</a:t>
            </a:r>
            <a:r>
              <a:rPr lang="en-GB" sz="2400" noProof="0" dirty="0">
                <a:effectLst>
                  <a:outerShdw blurRad="38100" dist="38100" dir="2700000" algn="tl" rotWithShape="0">
                    <a:schemeClr val="bg1">
                      <a:lumMod val="75000"/>
                      <a:alpha val="50000"/>
                    </a:schemeClr>
                  </a:outerShdw>
                </a:effectLst>
              </a:rPr>
              <a:t>).</a:t>
            </a:r>
          </a:p>
          <a:p>
            <a:r>
              <a:rPr lang="en-GB" sz="2400" noProof="0" dirty="0">
                <a:effectLst>
                  <a:outerShdw blurRad="38100" dist="38100" dir="2700000" algn="tl" rotWithShape="0">
                    <a:schemeClr val="bg1">
                      <a:lumMod val="75000"/>
                      <a:alpha val="50000"/>
                    </a:schemeClr>
                  </a:outerShdw>
                </a:effectLst>
              </a:rPr>
              <a:t>The </a:t>
            </a:r>
            <a:r>
              <a:rPr lang="en-GB" sz="2400" noProof="0" dirty="0">
                <a:solidFill>
                  <a:srgbClr val="F79646"/>
                </a:solidFill>
                <a:effectLst>
                  <a:outerShdw blurRad="38100" dist="38100" dir="2700000" algn="tl" rotWithShape="0">
                    <a:schemeClr val="bg1">
                      <a:lumMod val="75000"/>
                      <a:alpha val="50000"/>
                    </a:schemeClr>
                  </a:outerShdw>
                </a:effectLst>
              </a:rPr>
              <a:t>blocks of the grid </a:t>
            </a:r>
            <a:r>
              <a:rPr lang="en-GB" sz="2400" noProof="0" dirty="0">
                <a:effectLst>
                  <a:outerShdw blurRad="38100" dist="38100" dir="2700000" algn="tl" rotWithShape="0">
                    <a:schemeClr val="bg1">
                      <a:lumMod val="75000"/>
                      <a:alpha val="50000"/>
                    </a:schemeClr>
                  </a:outerShdw>
                </a:effectLst>
              </a:rPr>
              <a:t>are enumerated and distributed to </a:t>
            </a:r>
            <a:r>
              <a:rPr lang="en-GB" sz="2400" noProof="0" dirty="0">
                <a:solidFill>
                  <a:srgbClr val="F79646"/>
                </a:solidFill>
                <a:effectLst>
                  <a:outerShdw blurRad="38100" dist="38100" dir="2700000" algn="tl" rotWithShape="0">
                    <a:schemeClr val="bg1">
                      <a:lumMod val="75000"/>
                      <a:alpha val="50000"/>
                    </a:schemeClr>
                  </a:outerShdw>
                </a:effectLst>
              </a:rPr>
              <a:t>multiprocessors</a:t>
            </a:r>
            <a:r>
              <a:rPr lang="en-GB" sz="2400" dirty="0">
                <a:effectLst>
                  <a:outerShdw blurRad="38100" dist="38100" dir="2700000" algn="tl" rotWithShape="0">
                    <a:schemeClr val="bg1">
                      <a:lumMod val="75000"/>
                      <a:alpha val="50000"/>
                    </a:schemeClr>
                  </a:outerShdw>
                </a:effectLst>
              </a:rPr>
              <a:t>.</a:t>
            </a:r>
            <a:endParaRPr lang="en-GB" sz="2400" noProof="0" dirty="0">
              <a:solidFill>
                <a:srgbClr val="F79646"/>
              </a:solidFill>
              <a:effectLst>
                <a:outerShdw blurRad="38100" dist="38100" dir="2700000" algn="tl" rotWithShape="0">
                  <a:schemeClr val="bg1">
                    <a:lumMod val="75000"/>
                    <a:alpha val="50000"/>
                  </a:schemeClr>
                </a:outerShdw>
              </a:effectLst>
            </a:endParaRPr>
          </a:p>
          <a:p>
            <a:r>
              <a:rPr lang="en-GB" sz="2400" noProof="0" dirty="0">
                <a:effectLst>
                  <a:outerShdw blurRad="38100" dist="38100" dir="2700000" algn="tl" rotWithShape="0">
                    <a:schemeClr val="bg1">
                      <a:lumMod val="75000"/>
                      <a:alpha val="50000"/>
                    </a:schemeClr>
                  </a:outerShdw>
                </a:effectLst>
              </a:rPr>
              <a:t>The </a:t>
            </a:r>
            <a:r>
              <a:rPr lang="en-GB" sz="2400" noProof="0" dirty="0">
                <a:solidFill>
                  <a:srgbClr val="F79646"/>
                </a:solidFill>
                <a:effectLst>
                  <a:outerShdw blurRad="38100" dist="38100" dir="2700000" algn="tl" rotWithShape="0">
                    <a:schemeClr val="bg1">
                      <a:lumMod val="75000"/>
                      <a:alpha val="50000"/>
                    </a:schemeClr>
                  </a:outerShdw>
                </a:effectLst>
              </a:rPr>
              <a:t>threads</a:t>
            </a:r>
            <a:r>
              <a:rPr lang="en-GB" sz="2400" noProof="0" dirty="0">
                <a:effectLst>
                  <a:outerShdw blurRad="38100" dist="38100" dir="2700000" algn="tl" rotWithShape="0">
                    <a:schemeClr val="bg1">
                      <a:lumMod val="75000"/>
                      <a:alpha val="50000"/>
                    </a:schemeClr>
                  </a:outerShdw>
                </a:effectLst>
              </a:rPr>
              <a:t> of a thread block execute concurrently on </a:t>
            </a:r>
            <a:r>
              <a:rPr lang="en-GB" sz="2400" noProof="0" dirty="0">
                <a:solidFill>
                  <a:srgbClr val="F79646"/>
                </a:solidFill>
                <a:effectLst>
                  <a:outerShdw blurRad="38100" dist="38100" dir="2700000" algn="tl" rotWithShape="0">
                    <a:schemeClr val="bg1">
                      <a:lumMod val="75000"/>
                      <a:alpha val="50000"/>
                    </a:schemeClr>
                  </a:outerShdw>
                </a:effectLst>
              </a:rPr>
              <a:t>one multiprocessor</a:t>
            </a:r>
            <a:r>
              <a:rPr lang="en-GB" sz="2400" dirty="0">
                <a:effectLst>
                  <a:outerShdw blurRad="38100" dist="38100" dir="2700000" algn="tl" rotWithShape="0">
                    <a:schemeClr val="bg1">
                      <a:lumMod val="75000"/>
                      <a:alpha val="50000"/>
                    </a:schemeClr>
                  </a:outerShdw>
                </a:effectLst>
              </a:rPr>
              <a:t>.</a:t>
            </a:r>
            <a:endParaRPr lang="en-GB" sz="2400" noProof="0" dirty="0">
              <a:solidFill>
                <a:srgbClr val="F79646"/>
              </a:solidFill>
              <a:effectLst>
                <a:outerShdw blurRad="38100" dist="38100" dir="2700000" algn="tl" rotWithShape="0">
                  <a:schemeClr val="bg1">
                    <a:lumMod val="75000"/>
                    <a:alpha val="50000"/>
                  </a:schemeClr>
                </a:outerShdw>
              </a:effectLst>
            </a:endParaRPr>
          </a:p>
          <a:p>
            <a:r>
              <a:rPr lang="en-GB" sz="2400" noProof="0" dirty="0">
                <a:effectLst>
                  <a:outerShdw blurRad="38100" dist="38100" dir="2700000" algn="tl" rotWithShape="0">
                    <a:schemeClr val="bg1">
                      <a:lumMod val="75000"/>
                      <a:alpha val="50000"/>
                    </a:schemeClr>
                  </a:outerShdw>
                </a:effectLst>
              </a:rPr>
              <a:t>Multiple thread blocks can execute concurrently on one </a:t>
            </a:r>
            <a:r>
              <a:rPr lang="en-GB" sz="2400" dirty="0">
                <a:effectLst>
                  <a:outerShdw blurRad="38100" dist="38100" dir="2700000" algn="tl" rotWithShape="0">
                    <a:schemeClr val="bg1">
                      <a:lumMod val="75000"/>
                      <a:alpha val="50000"/>
                    </a:schemeClr>
                  </a:outerShdw>
                </a:effectLst>
              </a:rPr>
              <a:t>multiprocessor.</a:t>
            </a:r>
            <a:endParaRPr lang="en-GB" sz="2400" noProof="0" dirty="0">
              <a:effectLst>
                <a:outerShdw blurRad="38100" dist="38100" dir="2700000" algn="tl" rotWithShape="0">
                  <a:schemeClr val="bg1">
                    <a:lumMod val="75000"/>
                    <a:alpha val="50000"/>
                  </a:schemeClr>
                </a:outerShdw>
              </a:effectLst>
            </a:endParaRPr>
          </a:p>
          <a:p>
            <a:r>
              <a:rPr lang="en-GB" sz="2400" noProof="0" dirty="0">
                <a:effectLst>
                  <a:outerShdw blurRad="38100" dist="38100" dir="2700000" algn="tl" rotWithShape="0">
                    <a:schemeClr val="bg1">
                      <a:lumMod val="75000"/>
                      <a:alpha val="50000"/>
                    </a:schemeClr>
                  </a:outerShdw>
                </a:effectLst>
              </a:rPr>
              <a:t>As thread blocks terminate, new blocks are launched on the vacated </a:t>
            </a:r>
            <a:r>
              <a:rPr lang="en-GB" sz="2400" dirty="0">
                <a:effectLst>
                  <a:outerShdw blurRad="38100" dist="38100" dir="2700000" algn="tl" rotWithShape="0">
                    <a:schemeClr val="bg1">
                      <a:lumMod val="75000"/>
                      <a:alpha val="50000"/>
                    </a:schemeClr>
                  </a:outerShdw>
                </a:effectLst>
              </a:rPr>
              <a:t>multiprocessors.</a:t>
            </a:r>
            <a:endParaRPr lang="en-GB" sz="2400" noProof="0" dirty="0">
              <a:solidFill>
                <a:srgbClr val="F79646"/>
              </a:solidFill>
              <a:effectLst>
                <a:outerShdw blurRad="38100" dist="38100" dir="2700000" algn="tl" rotWithShape="0">
                  <a:schemeClr val="bg1">
                    <a:lumMod val="75000"/>
                    <a:alpha val="50000"/>
                  </a:schemeClr>
                </a:outerShdw>
              </a:effectLst>
            </a:endParaRPr>
          </a:p>
        </p:txBody>
      </p:sp>
    </p:spTree>
    <p:extLst>
      <p:ext uri="{BB962C8B-B14F-4D97-AF65-F5344CB8AC3E}">
        <p14:creationId xmlns:p14="http://schemas.microsoft.com/office/powerpoint/2010/main" val="3201531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GB" sz="2800" noProof="0" dirty="0">
                <a:effectLst>
                  <a:outerShdw blurRad="38100" dist="38100" dir="2700000" algn="tl" rotWithShape="0">
                    <a:schemeClr val="bg1">
                      <a:lumMod val="75000"/>
                      <a:alpha val="50000"/>
                    </a:schemeClr>
                  </a:outerShdw>
                </a:effectLst>
                <a:latin typeface="Century"/>
                <a:cs typeface="Century"/>
              </a:rPr>
              <a:t>Hardware implementation: Architecture</a:t>
            </a:r>
          </a:p>
        </p:txBody>
      </p:sp>
      <p:sp>
        <p:nvSpPr>
          <p:cNvPr id="3" name="Marcador de contenido 2"/>
          <p:cNvSpPr>
            <a:spLocks noGrp="1"/>
          </p:cNvSpPr>
          <p:nvPr>
            <p:ph idx="1"/>
          </p:nvPr>
        </p:nvSpPr>
        <p:spPr>
          <a:xfrm>
            <a:off x="457199" y="1600200"/>
            <a:ext cx="8450943" cy="4525963"/>
          </a:xfrm>
        </p:spPr>
        <p:txBody>
          <a:bodyPr>
            <a:noAutofit/>
          </a:bodyPr>
          <a:lstStyle/>
          <a:p>
            <a:r>
              <a:rPr lang="en-GB" sz="2400" dirty="0"/>
              <a:t>A multiprocessor </a:t>
            </a:r>
            <a:r>
              <a:rPr lang="en-GB" sz="2400" dirty="0">
                <a:effectLst>
                  <a:outerShdw blurRad="38100" dist="38100" dir="2700000" algn="tl" rotWithShape="0">
                    <a:schemeClr val="bg1">
                      <a:lumMod val="75000"/>
                      <a:alpha val="50000"/>
                    </a:schemeClr>
                  </a:outerShdw>
                </a:effectLst>
              </a:rPr>
              <a:t>(</a:t>
            </a:r>
            <a:r>
              <a:rPr lang="en-GB" sz="2400" dirty="0">
                <a:solidFill>
                  <a:srgbClr val="F79646"/>
                </a:solidFill>
                <a:effectLst>
                  <a:outerShdw blurRad="38100" dist="38100" dir="2700000" algn="tl" rotWithShape="0">
                    <a:schemeClr val="bg1">
                      <a:lumMod val="75000"/>
                      <a:alpha val="50000"/>
                    </a:schemeClr>
                  </a:outerShdw>
                </a:effectLst>
              </a:rPr>
              <a:t>SM</a:t>
            </a:r>
            <a:r>
              <a:rPr lang="en-GB" sz="2400" dirty="0">
                <a:effectLst>
                  <a:outerShdw blurRad="38100" dist="38100" dir="2700000" algn="tl" rotWithShape="0">
                    <a:schemeClr val="bg1">
                      <a:lumMod val="75000"/>
                      <a:alpha val="50000"/>
                    </a:schemeClr>
                  </a:outerShdw>
                </a:effectLst>
              </a:rPr>
              <a:t>) </a:t>
            </a:r>
            <a:r>
              <a:rPr lang="en-GB" sz="2400" dirty="0"/>
              <a:t>is designed to execute hundreds of threads concurrently</a:t>
            </a:r>
            <a:r>
              <a:rPr lang="en-GB" sz="2400" noProof="0" dirty="0">
                <a:effectLst>
                  <a:outerShdw blurRad="38100" dist="38100" dir="2700000" algn="tl" rotWithShape="0">
                    <a:schemeClr val="bg1">
                      <a:lumMod val="75000"/>
                      <a:alpha val="50000"/>
                    </a:schemeClr>
                  </a:outerShdw>
                </a:effectLst>
              </a:rPr>
              <a:t>.</a:t>
            </a:r>
          </a:p>
          <a:p>
            <a:r>
              <a:rPr lang="en-GB" sz="2400" dirty="0"/>
              <a:t>It employs a unique architecture called </a:t>
            </a:r>
            <a:r>
              <a:rPr lang="en-GB" sz="2400" dirty="0">
                <a:solidFill>
                  <a:srgbClr val="F79646"/>
                </a:solidFill>
              </a:rPr>
              <a:t>SIMT</a:t>
            </a:r>
            <a:r>
              <a:rPr lang="en-GB" sz="2400" dirty="0"/>
              <a:t> (</a:t>
            </a:r>
            <a:r>
              <a:rPr lang="en-GB" sz="2400" dirty="0">
                <a:solidFill>
                  <a:srgbClr val="F79646"/>
                </a:solidFill>
              </a:rPr>
              <a:t>S</a:t>
            </a:r>
            <a:r>
              <a:rPr lang="en-GB" sz="2400" dirty="0"/>
              <a:t>ingle- </a:t>
            </a:r>
            <a:r>
              <a:rPr lang="en-GB" sz="2400" dirty="0">
                <a:solidFill>
                  <a:srgbClr val="F79646"/>
                </a:solidFill>
              </a:rPr>
              <a:t>I</a:t>
            </a:r>
            <a:r>
              <a:rPr lang="en-GB" sz="2400" dirty="0"/>
              <a:t>nstruction, </a:t>
            </a:r>
            <a:r>
              <a:rPr lang="en-GB" sz="2400" dirty="0">
                <a:solidFill>
                  <a:srgbClr val="F79646"/>
                </a:solidFill>
              </a:rPr>
              <a:t>M</a:t>
            </a:r>
            <a:r>
              <a:rPr lang="en-GB" sz="2400" dirty="0"/>
              <a:t>ultiple-</a:t>
            </a:r>
            <a:r>
              <a:rPr lang="en-GB" sz="2400" dirty="0">
                <a:solidFill>
                  <a:srgbClr val="F79646"/>
                </a:solidFill>
              </a:rPr>
              <a:t>T</a:t>
            </a:r>
            <a:r>
              <a:rPr lang="en-GB" sz="2400" dirty="0"/>
              <a:t>hread)</a:t>
            </a:r>
            <a:r>
              <a:rPr lang="en-GB" sz="2400" dirty="0">
                <a:effectLst>
                  <a:outerShdw blurRad="38100" dist="38100" dir="2700000" algn="tl" rotWithShape="0">
                    <a:schemeClr val="bg1">
                      <a:lumMod val="75000"/>
                      <a:alpha val="50000"/>
                    </a:schemeClr>
                  </a:outerShdw>
                </a:effectLst>
              </a:rPr>
              <a:t>.</a:t>
            </a:r>
            <a:endParaRPr lang="en-GB" sz="2400" noProof="0" dirty="0">
              <a:solidFill>
                <a:srgbClr val="F79646"/>
              </a:solidFill>
              <a:effectLst>
                <a:outerShdw blurRad="38100" dist="38100" dir="2700000" algn="tl" rotWithShape="0">
                  <a:schemeClr val="bg1">
                    <a:lumMod val="75000"/>
                    <a:alpha val="50000"/>
                  </a:schemeClr>
                </a:outerShdw>
              </a:effectLst>
            </a:endParaRPr>
          </a:p>
          <a:p>
            <a:r>
              <a:rPr lang="en-GB" sz="2400" dirty="0"/>
              <a:t>The </a:t>
            </a:r>
            <a:r>
              <a:rPr lang="en-GB" sz="2400" dirty="0">
                <a:solidFill>
                  <a:srgbClr val="F79646"/>
                </a:solidFill>
              </a:rPr>
              <a:t>instructions</a:t>
            </a:r>
            <a:r>
              <a:rPr lang="en-GB" sz="2400" dirty="0"/>
              <a:t> are pipelined to leverage instruction-level parallelism (</a:t>
            </a:r>
            <a:r>
              <a:rPr lang="en-GB" sz="2400" dirty="0">
                <a:solidFill>
                  <a:srgbClr val="F79646"/>
                </a:solidFill>
              </a:rPr>
              <a:t>ILP</a:t>
            </a:r>
            <a:r>
              <a:rPr lang="en-GB" sz="2400" dirty="0"/>
              <a:t>) within a single thread, as well as thread-level parallelism (</a:t>
            </a:r>
            <a:r>
              <a:rPr lang="en-GB" sz="2400" dirty="0">
                <a:solidFill>
                  <a:srgbClr val="F79646"/>
                </a:solidFill>
              </a:rPr>
              <a:t>TLP</a:t>
            </a:r>
            <a:r>
              <a:rPr lang="en-GB" sz="2400" dirty="0"/>
              <a:t>) extensively through simultaneous </a:t>
            </a:r>
            <a:r>
              <a:rPr lang="en-GB" sz="2400" dirty="0">
                <a:solidFill>
                  <a:srgbClr val="F79646"/>
                </a:solidFill>
              </a:rPr>
              <a:t>hardware multithreading</a:t>
            </a:r>
            <a:r>
              <a:rPr lang="en-GB" sz="2400" dirty="0">
                <a:effectLst>
                  <a:outerShdw blurRad="38100" dist="38100" dir="2700000" algn="tl" rotWithShape="0">
                    <a:schemeClr val="bg1">
                      <a:lumMod val="75000"/>
                      <a:alpha val="50000"/>
                    </a:schemeClr>
                  </a:outerShdw>
                </a:effectLst>
              </a:rPr>
              <a:t>.</a:t>
            </a:r>
            <a:endParaRPr lang="en-GB" sz="2400" noProof="0" dirty="0">
              <a:solidFill>
                <a:srgbClr val="F79646"/>
              </a:solidFill>
              <a:effectLst>
                <a:outerShdw blurRad="38100" dist="38100" dir="2700000" algn="tl" rotWithShape="0">
                  <a:schemeClr val="bg1">
                    <a:lumMod val="75000"/>
                    <a:alpha val="50000"/>
                  </a:schemeClr>
                </a:outerShdw>
              </a:effectLst>
            </a:endParaRPr>
          </a:p>
          <a:p>
            <a:r>
              <a:rPr lang="en-GB" sz="2400" dirty="0"/>
              <a:t>Instructions (unlike in CPU cores) are issued in order: </a:t>
            </a:r>
            <a:r>
              <a:rPr lang="en-GB" sz="2400" dirty="0">
                <a:solidFill>
                  <a:srgbClr val="F79646"/>
                </a:solidFill>
              </a:rPr>
              <a:t>no branch prediction</a:t>
            </a:r>
            <a:r>
              <a:rPr lang="en-GB" sz="2400" dirty="0"/>
              <a:t> and </a:t>
            </a:r>
            <a:r>
              <a:rPr lang="en-GB" sz="2400" dirty="0">
                <a:solidFill>
                  <a:schemeClr val="accent6"/>
                </a:solidFill>
              </a:rPr>
              <a:t>no speculative execution</a:t>
            </a:r>
            <a:r>
              <a:rPr lang="en-GB" sz="2400" dirty="0">
                <a:effectLst>
                  <a:outerShdw blurRad="38100" dist="38100" dir="2700000" algn="tl" rotWithShape="0">
                    <a:schemeClr val="bg1">
                      <a:lumMod val="75000"/>
                      <a:alpha val="50000"/>
                    </a:schemeClr>
                  </a:outerShdw>
                </a:effectLst>
              </a:rPr>
              <a:t>.</a:t>
            </a:r>
            <a:endParaRPr lang="en-GB" sz="2400" noProof="0" dirty="0">
              <a:effectLst>
                <a:outerShdw blurRad="38100" dist="38100" dir="2700000" algn="tl" rotWithShape="0">
                  <a:schemeClr val="bg1">
                    <a:lumMod val="75000"/>
                    <a:alpha val="50000"/>
                  </a:schemeClr>
                </a:outerShdw>
              </a:effectLst>
            </a:endParaRPr>
          </a:p>
        </p:txBody>
      </p:sp>
    </p:spTree>
    <p:extLst>
      <p:ext uri="{BB962C8B-B14F-4D97-AF65-F5344CB8AC3E}">
        <p14:creationId xmlns:p14="http://schemas.microsoft.com/office/powerpoint/2010/main" val="2612107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b="1" noProof="0"/>
              <a:t>SIMT</a:t>
            </a:r>
          </a:p>
        </p:txBody>
      </p:sp>
      <p:sp>
        <p:nvSpPr>
          <p:cNvPr id="3" name="Marcador de contenido 2"/>
          <p:cNvSpPr>
            <a:spLocks noGrp="1"/>
          </p:cNvSpPr>
          <p:nvPr>
            <p:ph idx="1"/>
          </p:nvPr>
        </p:nvSpPr>
        <p:spPr>
          <a:xfrm>
            <a:off x="457199" y="1516304"/>
            <a:ext cx="8432801" cy="4609860"/>
          </a:xfrm>
        </p:spPr>
        <p:txBody>
          <a:bodyPr>
            <a:noAutofit/>
          </a:bodyPr>
          <a:lstStyle/>
          <a:p>
            <a:r>
              <a:rPr lang="en-GB" sz="2400" b="1" i="1" noProof="0" dirty="0">
                <a:solidFill>
                  <a:srgbClr val="F79646"/>
                </a:solidFill>
                <a:effectLst>
                  <a:outerShdw blurRad="38100" dist="38100" dir="2700000" algn="tl" rotWithShape="0">
                    <a:schemeClr val="bg1">
                      <a:lumMod val="75000"/>
                      <a:alpha val="43000"/>
                    </a:schemeClr>
                  </a:outerShdw>
                </a:effectLst>
              </a:rPr>
              <a:t>SIMT</a:t>
            </a:r>
            <a:r>
              <a:rPr lang="en-GB" sz="2400" i="1" noProof="0" dirty="0">
                <a:solidFill>
                  <a:srgbClr val="F79646"/>
                </a:solidFill>
                <a:effectLst>
                  <a:outerShdw blurRad="38100" dist="38100" dir="2700000" algn="tl" rotWithShape="0">
                    <a:schemeClr val="bg1">
                      <a:lumMod val="75000"/>
                      <a:alpha val="43000"/>
                    </a:schemeClr>
                  </a:outerShdw>
                </a:effectLst>
              </a:rPr>
              <a:t> </a:t>
            </a:r>
            <a:r>
              <a:rPr lang="en-GB" sz="2400" noProof="0" dirty="0">
                <a:effectLst>
                  <a:outerShdw blurRad="38100" dist="38100" dir="2700000" algn="tl" rotWithShape="0">
                    <a:schemeClr val="bg1">
                      <a:lumMod val="75000"/>
                      <a:alpha val="43000"/>
                    </a:schemeClr>
                  </a:outerShdw>
                </a:effectLst>
              </a:rPr>
              <a:t>(</a:t>
            </a:r>
            <a:r>
              <a:rPr lang="en-GB" sz="2400" i="1" noProof="0" dirty="0">
                <a:effectLst>
                  <a:outerShdw blurRad="38100" dist="38100" dir="2700000" algn="tl" rotWithShape="0">
                    <a:schemeClr val="bg1">
                      <a:lumMod val="75000"/>
                      <a:alpha val="43000"/>
                    </a:schemeClr>
                  </a:outerShdw>
                </a:effectLst>
              </a:rPr>
              <a:t>Single-Instruction, Multiple-Thread</a:t>
            </a:r>
            <a:r>
              <a:rPr lang="en-GB" sz="2400" dirty="0">
                <a:effectLst>
                  <a:outerShdw blurRad="38100" dist="38100" dir="2700000" algn="tl" rotWithShape="0">
                    <a:schemeClr val="bg1">
                      <a:lumMod val="75000"/>
                      <a:alpha val="43000"/>
                    </a:schemeClr>
                  </a:outerShdw>
                </a:effectLst>
              </a:rPr>
              <a:t>).</a:t>
            </a:r>
            <a:endParaRPr lang="en-GB" sz="2400" noProof="0" dirty="0">
              <a:effectLst>
                <a:outerShdw blurRad="38100" dist="38100" dir="2700000" algn="tl" rotWithShape="0">
                  <a:schemeClr val="bg1">
                    <a:lumMod val="75000"/>
                    <a:alpha val="43000"/>
                  </a:schemeClr>
                </a:outerShdw>
              </a:effectLst>
            </a:endParaRPr>
          </a:p>
          <a:p>
            <a:r>
              <a:rPr lang="en-GB" sz="2400" noProof="0" dirty="0">
                <a:effectLst>
                  <a:outerShdw blurRad="38100" dist="38100" dir="2700000" algn="tl" rotWithShape="0">
                    <a:schemeClr val="bg1">
                      <a:lumMod val="75000"/>
                      <a:alpha val="43000"/>
                    </a:schemeClr>
                  </a:outerShdw>
                </a:effectLst>
              </a:rPr>
              <a:t>The multiprocessor </a:t>
            </a:r>
            <a:r>
              <a:rPr lang="en-GB" sz="2400" noProof="0" dirty="0">
                <a:solidFill>
                  <a:srgbClr val="F79646"/>
                </a:solidFill>
                <a:effectLst>
                  <a:outerShdw blurRad="38100" dist="38100" dir="2700000" algn="tl" rotWithShape="0">
                    <a:schemeClr val="bg1">
                      <a:lumMod val="75000"/>
                      <a:alpha val="43000"/>
                    </a:schemeClr>
                  </a:outerShdw>
                </a:effectLst>
              </a:rPr>
              <a:t>creates</a:t>
            </a:r>
            <a:r>
              <a:rPr lang="en-GB" sz="2400" noProof="0" dirty="0">
                <a:effectLst>
                  <a:outerShdw blurRad="38100" dist="38100" dir="2700000" algn="tl" rotWithShape="0">
                    <a:schemeClr val="bg1">
                      <a:lumMod val="75000"/>
                      <a:alpha val="43000"/>
                    </a:schemeClr>
                  </a:outerShdw>
                </a:effectLst>
              </a:rPr>
              <a:t>, </a:t>
            </a:r>
            <a:r>
              <a:rPr lang="en-GB" sz="2400" noProof="0" dirty="0">
                <a:solidFill>
                  <a:srgbClr val="F79646"/>
                </a:solidFill>
                <a:effectLst>
                  <a:outerShdw blurRad="38100" dist="38100" dir="2700000" algn="tl" rotWithShape="0">
                    <a:schemeClr val="bg1">
                      <a:lumMod val="75000"/>
                      <a:alpha val="43000"/>
                    </a:schemeClr>
                  </a:outerShdw>
                </a:effectLst>
              </a:rPr>
              <a:t>manages</a:t>
            </a:r>
            <a:r>
              <a:rPr lang="en-GB" sz="2400" noProof="0" dirty="0">
                <a:effectLst>
                  <a:outerShdw blurRad="38100" dist="38100" dir="2700000" algn="tl" rotWithShape="0">
                    <a:schemeClr val="bg1">
                      <a:lumMod val="75000"/>
                      <a:alpha val="43000"/>
                    </a:schemeClr>
                  </a:outerShdw>
                </a:effectLst>
              </a:rPr>
              <a:t>, </a:t>
            </a:r>
            <a:r>
              <a:rPr lang="en-GB" sz="2400" noProof="0" dirty="0">
                <a:solidFill>
                  <a:srgbClr val="F79646"/>
                </a:solidFill>
                <a:effectLst>
                  <a:outerShdw blurRad="38100" dist="38100" dir="2700000" algn="tl" rotWithShape="0">
                    <a:schemeClr val="bg1">
                      <a:lumMod val="75000"/>
                      <a:alpha val="43000"/>
                    </a:schemeClr>
                  </a:outerShdw>
                </a:effectLst>
              </a:rPr>
              <a:t>schedules</a:t>
            </a:r>
            <a:r>
              <a:rPr lang="en-GB" sz="2400" noProof="0" dirty="0">
                <a:effectLst>
                  <a:outerShdw blurRad="38100" dist="38100" dir="2700000" algn="tl" rotWithShape="0">
                    <a:schemeClr val="bg1">
                      <a:lumMod val="75000"/>
                      <a:alpha val="43000"/>
                    </a:schemeClr>
                  </a:outerShdw>
                </a:effectLst>
              </a:rPr>
              <a:t>, and </a:t>
            </a:r>
            <a:r>
              <a:rPr lang="en-GB" sz="2400" noProof="0" dirty="0">
                <a:solidFill>
                  <a:srgbClr val="F79646"/>
                </a:solidFill>
                <a:effectLst>
                  <a:outerShdw blurRad="38100" dist="38100" dir="2700000" algn="tl" rotWithShape="0">
                    <a:schemeClr val="bg1">
                      <a:lumMod val="75000"/>
                      <a:alpha val="43000"/>
                    </a:schemeClr>
                  </a:outerShdw>
                </a:effectLst>
              </a:rPr>
              <a:t>executes</a:t>
            </a:r>
            <a:r>
              <a:rPr lang="en-GB" sz="2400" noProof="0" dirty="0">
                <a:effectLst>
                  <a:outerShdw blurRad="38100" dist="38100" dir="2700000" algn="tl" rotWithShape="0">
                    <a:schemeClr val="bg1">
                      <a:lumMod val="75000"/>
                      <a:alpha val="43000"/>
                    </a:schemeClr>
                  </a:outerShdw>
                </a:effectLst>
              </a:rPr>
              <a:t> threads in groups of </a:t>
            </a:r>
            <a:r>
              <a:rPr lang="en-GB" sz="2400" b="1" noProof="0" dirty="0">
                <a:solidFill>
                  <a:schemeClr val="accent6"/>
                </a:solidFill>
                <a:effectLst>
                  <a:outerShdw blurRad="38100" dist="38100" dir="2700000" algn="tl" rotWithShape="0">
                    <a:schemeClr val="bg1">
                      <a:lumMod val="75000"/>
                      <a:alpha val="43000"/>
                    </a:schemeClr>
                  </a:outerShdw>
                </a:effectLst>
              </a:rPr>
              <a:t>32</a:t>
            </a:r>
            <a:r>
              <a:rPr lang="en-GB" sz="2400" noProof="0" dirty="0">
                <a:effectLst>
                  <a:outerShdw blurRad="38100" dist="38100" dir="2700000" algn="tl" rotWithShape="0">
                    <a:schemeClr val="bg1">
                      <a:lumMod val="75000"/>
                      <a:alpha val="43000"/>
                    </a:schemeClr>
                  </a:outerShdw>
                </a:effectLst>
              </a:rPr>
              <a:t> parallel threads called </a:t>
            </a:r>
            <a:r>
              <a:rPr lang="en-GB" sz="2400" b="1" i="1" noProof="0" dirty="0">
                <a:solidFill>
                  <a:srgbClr val="F79646"/>
                </a:solidFill>
                <a:effectLst>
                  <a:outerShdw blurRad="38100" dist="38100" dir="2700000" algn="tl" rotWithShape="0">
                    <a:schemeClr val="bg1">
                      <a:lumMod val="75000"/>
                      <a:alpha val="43000"/>
                    </a:schemeClr>
                  </a:outerShdw>
                </a:effectLst>
              </a:rPr>
              <a:t>warps</a:t>
            </a:r>
            <a:r>
              <a:rPr lang="en-GB" sz="2400" dirty="0">
                <a:effectLst>
                  <a:outerShdw blurRad="38100" dist="38100" dir="2700000" algn="tl" rotWithShape="0">
                    <a:schemeClr val="bg1">
                      <a:lumMod val="75000"/>
                      <a:alpha val="43000"/>
                    </a:schemeClr>
                  </a:outerShdw>
                </a:effectLst>
              </a:rPr>
              <a:t>.</a:t>
            </a:r>
            <a:endParaRPr lang="en-GB" sz="2400" b="1" i="1" noProof="0" dirty="0">
              <a:solidFill>
                <a:srgbClr val="F79646"/>
              </a:solidFill>
              <a:effectLst>
                <a:outerShdw blurRad="38100" dist="38100" dir="2700000" algn="tl" rotWithShape="0">
                  <a:schemeClr val="bg1">
                    <a:lumMod val="75000"/>
                    <a:alpha val="43000"/>
                  </a:schemeClr>
                </a:outerShdw>
              </a:effectLst>
            </a:endParaRPr>
          </a:p>
          <a:p>
            <a:r>
              <a:rPr lang="en-GB" sz="2400" noProof="0" dirty="0">
                <a:effectLst>
                  <a:outerShdw blurRad="38100" dist="38100" dir="2700000" algn="tl" rotWithShape="0">
                    <a:schemeClr val="bg1">
                      <a:lumMod val="75000"/>
                      <a:alpha val="43000"/>
                    </a:schemeClr>
                  </a:outerShdw>
                </a:effectLst>
              </a:rPr>
              <a:t>There also </a:t>
            </a:r>
            <a:r>
              <a:rPr lang="en-GB" sz="2400" i="1" noProof="0" dirty="0">
                <a:solidFill>
                  <a:schemeClr val="accent6"/>
                </a:solidFill>
                <a:effectLst>
                  <a:outerShdw blurRad="38100" dist="38100" dir="2700000" algn="tl" rotWithShape="0">
                    <a:schemeClr val="bg1">
                      <a:lumMod val="75000"/>
                      <a:alpha val="43000"/>
                    </a:schemeClr>
                  </a:outerShdw>
                </a:effectLst>
              </a:rPr>
              <a:t>half-warps </a:t>
            </a:r>
            <a:r>
              <a:rPr lang="en-GB" sz="2400" noProof="0" dirty="0">
                <a:effectLst>
                  <a:outerShdw blurRad="38100" dist="38100" dir="2700000" algn="tl" rotWithShape="0">
                    <a:schemeClr val="bg1">
                      <a:lumMod val="75000"/>
                      <a:alpha val="43000"/>
                    </a:schemeClr>
                  </a:outerShdw>
                </a:effectLst>
              </a:rPr>
              <a:t>and </a:t>
            </a:r>
            <a:r>
              <a:rPr lang="en-GB" sz="2400" i="1" noProof="0" dirty="0">
                <a:solidFill>
                  <a:srgbClr val="F79646"/>
                </a:solidFill>
                <a:effectLst>
                  <a:outerShdw blurRad="38100" dist="38100" dir="2700000" algn="tl" rotWithShape="0">
                    <a:schemeClr val="bg1">
                      <a:lumMod val="75000"/>
                      <a:alpha val="43000"/>
                    </a:schemeClr>
                  </a:outerShdw>
                </a:effectLst>
              </a:rPr>
              <a:t>quarter-warps</a:t>
            </a:r>
            <a:r>
              <a:rPr lang="en-GB" sz="2400" dirty="0">
                <a:effectLst>
                  <a:outerShdw blurRad="38100" dist="38100" dir="2700000" algn="tl" rotWithShape="0">
                    <a:schemeClr val="bg1">
                      <a:lumMod val="75000"/>
                      <a:alpha val="43000"/>
                    </a:schemeClr>
                  </a:outerShdw>
                </a:effectLst>
              </a:rPr>
              <a:t>.</a:t>
            </a:r>
            <a:endParaRPr lang="en-GB" sz="2400" noProof="0" dirty="0">
              <a:effectLst>
                <a:outerShdw blurRad="38100" dist="38100" dir="2700000" algn="tl" rotWithShape="0">
                  <a:schemeClr val="bg1">
                    <a:lumMod val="75000"/>
                    <a:alpha val="43000"/>
                  </a:schemeClr>
                </a:outerShdw>
              </a:effectLst>
            </a:endParaRPr>
          </a:p>
          <a:p>
            <a:r>
              <a:rPr lang="en-GB" sz="2400" noProof="0" dirty="0">
                <a:effectLst>
                  <a:outerShdw blurRad="38100" dist="38100" dir="2700000" algn="tl" rotWithShape="0">
                    <a:schemeClr val="bg1">
                      <a:lumMod val="75000"/>
                      <a:alpha val="43000"/>
                    </a:schemeClr>
                  </a:outerShdw>
                </a:effectLst>
              </a:rPr>
              <a:t>The </a:t>
            </a:r>
            <a:r>
              <a:rPr lang="en-GB" sz="2400" i="1" noProof="0" dirty="0">
                <a:solidFill>
                  <a:srgbClr val="F79646"/>
                </a:solidFill>
                <a:effectLst>
                  <a:outerShdw blurRad="38100" dist="38100" dir="2700000" algn="tl" rotWithShape="0">
                    <a:schemeClr val="bg1">
                      <a:lumMod val="75000"/>
                      <a:alpha val="43000"/>
                    </a:schemeClr>
                  </a:outerShdw>
                </a:effectLst>
              </a:rPr>
              <a:t>warp scheduler </a:t>
            </a:r>
            <a:r>
              <a:rPr lang="en-GB" sz="2400" noProof="0" dirty="0">
                <a:effectLst>
                  <a:outerShdw blurRad="38100" dist="38100" dir="2700000" algn="tl" rotWithShape="0">
                    <a:schemeClr val="bg1">
                      <a:lumMod val="75000"/>
                      <a:alpha val="43000"/>
                    </a:schemeClr>
                  </a:outerShdw>
                </a:effectLst>
              </a:rPr>
              <a:t>partitions the block into warps.</a:t>
            </a:r>
          </a:p>
          <a:p>
            <a:r>
              <a:rPr lang="en-GB" sz="2400" dirty="0">
                <a:solidFill>
                  <a:srgbClr val="F79646"/>
                </a:solidFill>
              </a:rPr>
              <a:t>Individual threads </a:t>
            </a:r>
            <a:r>
              <a:rPr lang="en-GB" sz="2400" dirty="0"/>
              <a:t>composing a warp start together at the same program address, but they have their own instruction address counter and register state and are therefore free to branch and execute </a:t>
            </a:r>
            <a:r>
              <a:rPr lang="en-GB" sz="2400" dirty="0">
                <a:solidFill>
                  <a:srgbClr val="F79646"/>
                </a:solidFill>
              </a:rPr>
              <a:t>independently</a:t>
            </a:r>
            <a:r>
              <a:rPr lang="en-GB" sz="2400" dirty="0"/>
              <a:t>.</a:t>
            </a:r>
            <a:endParaRPr lang="en-GB" sz="2400" noProof="0" dirty="0">
              <a:effectLst>
                <a:outerShdw blurRad="38100" dist="38100" dir="2700000" algn="tl" rotWithShape="0">
                  <a:schemeClr val="bg1">
                    <a:lumMod val="75000"/>
                    <a:alpha val="43000"/>
                  </a:schemeClr>
                </a:outerShdw>
              </a:effectLst>
            </a:endParaRPr>
          </a:p>
        </p:txBody>
      </p:sp>
    </p:spTree>
    <p:extLst>
      <p:ext uri="{BB962C8B-B14F-4D97-AF65-F5344CB8AC3E}">
        <p14:creationId xmlns:p14="http://schemas.microsoft.com/office/powerpoint/2010/main" val="2961403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b="1" noProof="0"/>
              <a:t>SIMT</a:t>
            </a:r>
          </a:p>
        </p:txBody>
      </p:sp>
      <p:sp>
        <p:nvSpPr>
          <p:cNvPr id="3" name="Marcador de contenido 2"/>
          <p:cNvSpPr>
            <a:spLocks noGrp="1"/>
          </p:cNvSpPr>
          <p:nvPr>
            <p:ph idx="1"/>
          </p:nvPr>
        </p:nvSpPr>
        <p:spPr>
          <a:xfrm>
            <a:off x="457199" y="1516304"/>
            <a:ext cx="8432801" cy="4609860"/>
          </a:xfrm>
        </p:spPr>
        <p:txBody>
          <a:bodyPr>
            <a:noAutofit/>
          </a:bodyPr>
          <a:lstStyle/>
          <a:p>
            <a:r>
              <a:rPr lang="en-GB" sz="2400" dirty="0"/>
              <a:t>When a multiprocessor is given one or more thread blocks to execute, it partitions them into warps and each warp gets scheduled by a </a:t>
            </a:r>
            <a:r>
              <a:rPr lang="en-GB" sz="2400" i="1" dirty="0">
                <a:solidFill>
                  <a:srgbClr val="F79646"/>
                </a:solidFill>
                <a:effectLst>
                  <a:outerShdw blurRad="50800" dist="38100" dir="2700000" algn="tl" rotWithShape="0">
                    <a:srgbClr val="000000">
                      <a:alpha val="43000"/>
                    </a:srgbClr>
                  </a:outerShdw>
                </a:effectLst>
              </a:rPr>
              <a:t>warp scheduler </a:t>
            </a:r>
            <a:r>
              <a:rPr lang="en-GB" sz="2400" dirty="0"/>
              <a:t>for execution.</a:t>
            </a:r>
            <a:endParaRPr lang="en-GB" sz="2400" noProof="0" dirty="0">
              <a:effectLst>
                <a:outerShdw blurRad="38100" dist="38100" dir="2700000" algn="tl" rotWithShape="0">
                  <a:schemeClr val="bg1">
                    <a:lumMod val="75000"/>
                    <a:alpha val="43000"/>
                  </a:schemeClr>
                </a:outerShdw>
              </a:effectLst>
            </a:endParaRPr>
          </a:p>
          <a:p>
            <a:r>
              <a:rPr lang="en-GB" sz="2400" noProof="0" dirty="0">
                <a:effectLst>
                  <a:outerShdw blurRad="38100" dist="38100" dir="2700000" algn="tl" rotWithShape="0">
                    <a:schemeClr val="bg1">
                      <a:lumMod val="75000"/>
                      <a:alpha val="43000"/>
                    </a:schemeClr>
                  </a:outerShdw>
                </a:effectLst>
              </a:rPr>
              <a:t>A warp executes one common instruction at a time</a:t>
            </a:r>
          </a:p>
          <a:p>
            <a:pPr lvl="1"/>
            <a:r>
              <a:rPr lang="en-GB" noProof="0" dirty="0">
                <a:effectLst>
                  <a:outerShdw blurRad="38100" dist="38100" dir="2700000" algn="tl" rotWithShape="0">
                    <a:schemeClr val="bg1">
                      <a:lumMod val="75000"/>
                      <a:alpha val="43000"/>
                    </a:schemeClr>
                  </a:outerShdw>
                </a:effectLst>
              </a:rPr>
              <a:t>Full efficiency is realized when all 32 threads of a warp </a:t>
            </a:r>
            <a:r>
              <a:rPr lang="en-GB" noProof="0" dirty="0">
                <a:solidFill>
                  <a:srgbClr val="F79646"/>
                </a:solidFill>
                <a:effectLst>
                  <a:outerShdw blurRad="38100" dist="38100" dir="2700000" algn="tl" rotWithShape="0">
                    <a:schemeClr val="bg1">
                      <a:lumMod val="75000"/>
                      <a:alpha val="43000"/>
                    </a:schemeClr>
                  </a:outerShdw>
                </a:effectLst>
              </a:rPr>
              <a:t>agree on </a:t>
            </a:r>
            <a:br>
              <a:rPr lang="en-GB" noProof="0" dirty="0">
                <a:solidFill>
                  <a:srgbClr val="F79646"/>
                </a:solidFill>
                <a:effectLst>
                  <a:outerShdw blurRad="38100" dist="38100" dir="2700000" algn="tl" rotWithShape="0">
                    <a:schemeClr val="bg1">
                      <a:lumMod val="75000"/>
                      <a:alpha val="43000"/>
                    </a:schemeClr>
                  </a:outerShdw>
                </a:effectLst>
              </a:rPr>
            </a:br>
            <a:r>
              <a:rPr lang="en-GB" noProof="0" dirty="0">
                <a:solidFill>
                  <a:srgbClr val="F79646"/>
                </a:solidFill>
                <a:effectLst>
                  <a:outerShdw blurRad="38100" dist="38100" dir="2700000" algn="tl" rotWithShape="0">
                    <a:schemeClr val="bg1">
                      <a:lumMod val="75000"/>
                      <a:alpha val="43000"/>
                    </a:schemeClr>
                  </a:outerShdw>
                </a:effectLst>
              </a:rPr>
              <a:t>their execution path</a:t>
            </a:r>
            <a:r>
              <a:rPr lang="en-GB" dirty="0"/>
              <a:t>.</a:t>
            </a:r>
            <a:endParaRPr lang="en-GB" dirty="0">
              <a:effectLst>
                <a:outerShdw blurRad="38100" dist="38100" dir="2700000" algn="tl" rotWithShape="0">
                  <a:schemeClr val="bg1">
                    <a:lumMod val="75000"/>
                    <a:alpha val="43000"/>
                  </a:schemeClr>
                </a:outerShdw>
              </a:effectLst>
            </a:endParaRPr>
          </a:p>
          <a:p>
            <a:pPr lvl="1"/>
            <a:r>
              <a:rPr lang="en-GB" noProof="0" dirty="0">
                <a:effectLst>
                  <a:outerShdw blurRad="38100" dist="38100" dir="2700000" algn="tl" rotWithShape="0">
                    <a:schemeClr val="bg1">
                      <a:lumMod val="75000"/>
                      <a:alpha val="43000"/>
                    </a:schemeClr>
                  </a:outerShdw>
                </a:effectLst>
              </a:rPr>
              <a:t>If threads of a warp diverge via a data-dependent conditional branch, the warp serially executes each branch path taken, disabling threads that are not on that path, and when all paths complete, the threads converge back to the same execution path.</a:t>
            </a:r>
          </a:p>
          <a:p>
            <a:pPr lvl="1"/>
            <a:r>
              <a:rPr lang="en-GB" dirty="0">
                <a:effectLst>
                  <a:outerShdw blurRad="38100" dist="38100" dir="2700000" algn="tl" rotWithShape="0">
                    <a:schemeClr val="bg1">
                      <a:lumMod val="75000"/>
                      <a:alpha val="43000"/>
                    </a:schemeClr>
                  </a:outerShdw>
                </a:effectLst>
              </a:rPr>
              <a:t>Branch divergence occurs only within a warp.</a:t>
            </a:r>
            <a:endParaRPr lang="en-GB" noProof="0" dirty="0">
              <a:effectLst>
                <a:outerShdw blurRad="38100" dist="38100" dir="2700000" algn="tl" rotWithShape="0">
                  <a:schemeClr val="bg1">
                    <a:lumMod val="75000"/>
                    <a:alpha val="43000"/>
                  </a:schemeClr>
                </a:outerShdw>
              </a:effectLst>
            </a:endParaRPr>
          </a:p>
        </p:txBody>
      </p:sp>
    </p:spTree>
    <p:extLst>
      <p:ext uri="{BB962C8B-B14F-4D97-AF65-F5344CB8AC3E}">
        <p14:creationId xmlns:p14="http://schemas.microsoft.com/office/powerpoint/2010/main" val="2056236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DF984-BDC2-8865-C196-E37335A358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D3EE981-B0EB-FAE1-B7D5-F13111BDC136}"/>
              </a:ext>
            </a:extLst>
          </p:cNvPr>
          <p:cNvSpPr>
            <a:spLocks noGrp="1"/>
          </p:cNvSpPr>
          <p:nvPr>
            <p:ph type="title"/>
          </p:nvPr>
        </p:nvSpPr>
        <p:spPr/>
        <p:txBody>
          <a:bodyPr/>
          <a:lstStyle/>
          <a:p>
            <a:r>
              <a:rPr lang="en-GB" b="1" noProof="0"/>
              <a:t>SIMT</a:t>
            </a:r>
          </a:p>
        </p:txBody>
      </p:sp>
      <p:sp>
        <p:nvSpPr>
          <p:cNvPr id="3" name="Marcador de contenido 2">
            <a:extLst>
              <a:ext uri="{FF2B5EF4-FFF2-40B4-BE49-F238E27FC236}">
                <a16:creationId xmlns:a16="http://schemas.microsoft.com/office/drawing/2014/main" id="{DCFEDADB-F81E-41A4-C76C-BB5574296CA2}"/>
              </a:ext>
            </a:extLst>
          </p:cNvPr>
          <p:cNvSpPr>
            <a:spLocks noGrp="1"/>
          </p:cNvSpPr>
          <p:nvPr>
            <p:ph idx="1"/>
          </p:nvPr>
        </p:nvSpPr>
        <p:spPr>
          <a:xfrm>
            <a:off x="457199" y="1516304"/>
            <a:ext cx="8432801" cy="4609860"/>
          </a:xfrm>
        </p:spPr>
        <p:txBody>
          <a:bodyPr>
            <a:noAutofit/>
          </a:bodyPr>
          <a:lstStyle/>
          <a:p>
            <a:r>
              <a:rPr lang="en-GB" u="sng" dirty="0"/>
              <a:t>Prior to NVIDIA Volta</a:t>
            </a:r>
            <a:r>
              <a:rPr lang="en-GB" dirty="0"/>
              <a:t>, warps used a single program counter shared amongst all 32 threads in the warp together with an active mask specifying the active threads of the warp. This can lead in some situations to </a:t>
            </a:r>
            <a:r>
              <a:rPr lang="en-GB" b="1" dirty="0"/>
              <a:t>deadlocks</a:t>
            </a:r>
            <a:r>
              <a:rPr lang="en-GB" sz="2400" dirty="0"/>
              <a:t>.</a:t>
            </a:r>
            <a:r>
              <a:rPr lang="en-GB" sz="2400" dirty="0">
                <a:effectLst>
                  <a:outerShdw blurRad="38100" dist="38100" dir="2700000" algn="tl" rotWithShape="0">
                    <a:schemeClr val="bg1">
                      <a:lumMod val="75000"/>
                      <a:alpha val="43000"/>
                    </a:schemeClr>
                  </a:outerShdw>
                </a:effectLst>
              </a:rPr>
              <a:t> </a:t>
            </a:r>
          </a:p>
          <a:p>
            <a:r>
              <a:rPr lang="en-GB" u="sng" noProof="0" dirty="0">
                <a:effectLst>
                  <a:outerShdw blurRad="38100" dist="38100" dir="2700000" algn="tl" rotWithShape="0">
                    <a:schemeClr val="bg1">
                      <a:lumMod val="75000"/>
                      <a:alpha val="43000"/>
                    </a:schemeClr>
                  </a:outerShdw>
                </a:effectLst>
              </a:rPr>
              <a:t>Starting with the NVIDIA Volta</a:t>
            </a:r>
            <a:r>
              <a:rPr lang="en-GB" noProof="0" dirty="0">
                <a:effectLst>
                  <a:outerShdw blurRad="38100" dist="38100" dir="2700000" algn="tl" rotWithShape="0">
                    <a:schemeClr val="bg1">
                      <a:lumMod val="75000"/>
                      <a:alpha val="43000"/>
                    </a:schemeClr>
                  </a:outerShdw>
                </a:effectLst>
              </a:rPr>
              <a:t> architecture, </a:t>
            </a:r>
            <a:r>
              <a:rPr lang="en-GB" i="1" noProof="0" dirty="0">
                <a:effectLst>
                  <a:outerShdw blurRad="38100" dist="38100" dir="2700000" algn="tl" rotWithShape="0">
                    <a:schemeClr val="bg1">
                      <a:lumMod val="75000"/>
                      <a:alpha val="43000"/>
                    </a:schemeClr>
                  </a:outerShdw>
                </a:effectLst>
              </a:rPr>
              <a:t>Independent Thread Scheduling</a:t>
            </a:r>
            <a:r>
              <a:rPr lang="en-GB" noProof="0" dirty="0">
                <a:effectLst>
                  <a:outerShdw blurRad="38100" dist="38100" dir="2700000" algn="tl" rotWithShape="0">
                    <a:schemeClr val="bg1">
                      <a:lumMod val="75000"/>
                      <a:alpha val="43000"/>
                    </a:schemeClr>
                  </a:outerShdw>
                </a:effectLst>
              </a:rPr>
              <a:t> allows full concurrency between threads, regardless of warp. The GPU maintains execution state per thread, including a program counter and call stack, and can yield execution at a per-thread granularity, either to make better use of execution resources or to allow one thread to wait for data to be produced by another. Much </a:t>
            </a:r>
            <a:r>
              <a:rPr lang="en-GB" b="1" noProof="0" dirty="0">
                <a:effectLst>
                  <a:outerShdw blurRad="38100" dist="38100" dir="2700000" algn="tl" rotWithShape="0">
                    <a:schemeClr val="bg1">
                      <a:lumMod val="75000"/>
                      <a:alpha val="43000"/>
                    </a:schemeClr>
                  </a:outerShdw>
                </a:effectLst>
              </a:rPr>
              <a:t>more flexibility</a:t>
            </a:r>
            <a:r>
              <a:rPr lang="en-GB" noProof="0" dirty="0">
                <a:effectLst>
                  <a:outerShdw blurRad="38100" dist="38100" dir="2700000" algn="tl" rotWithShape="0">
                    <a:schemeClr val="bg1">
                      <a:lumMod val="75000"/>
                      <a:alpha val="43000"/>
                    </a:schemeClr>
                  </a:outerShdw>
                </a:effectLst>
              </a:rPr>
              <a:t>: threads can now diverge and reconverge at </a:t>
            </a:r>
            <a:r>
              <a:rPr lang="en-GB" b="1" noProof="0" dirty="0">
                <a:effectLst>
                  <a:outerShdw blurRad="38100" dist="38100" dir="2700000" algn="tl" rotWithShape="0">
                    <a:schemeClr val="bg1">
                      <a:lumMod val="75000"/>
                      <a:alpha val="43000"/>
                    </a:schemeClr>
                  </a:outerShdw>
                </a:effectLst>
              </a:rPr>
              <a:t>sub-warp granularity</a:t>
            </a:r>
            <a:r>
              <a:rPr lang="en-GB" noProof="0" dirty="0">
                <a:effectLst>
                  <a:outerShdw blurRad="38100" dist="38100" dir="2700000" algn="tl" rotWithShape="0">
                    <a:schemeClr val="bg1">
                      <a:lumMod val="75000"/>
                      <a:alpha val="43000"/>
                    </a:schemeClr>
                  </a:outerShdw>
                </a:effectLst>
              </a:rPr>
              <a:t>.</a:t>
            </a:r>
          </a:p>
        </p:txBody>
      </p:sp>
    </p:spTree>
    <p:extLst>
      <p:ext uri="{BB962C8B-B14F-4D97-AF65-F5344CB8AC3E}">
        <p14:creationId xmlns:p14="http://schemas.microsoft.com/office/powerpoint/2010/main" val="2020503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b="1" noProof="0" dirty="0"/>
              <a:t>Thread Multithreading</a:t>
            </a:r>
          </a:p>
        </p:txBody>
      </p:sp>
      <p:sp>
        <p:nvSpPr>
          <p:cNvPr id="3" name="Marcador de contenido 2"/>
          <p:cNvSpPr>
            <a:spLocks noGrp="1"/>
          </p:cNvSpPr>
          <p:nvPr>
            <p:ph idx="1"/>
          </p:nvPr>
        </p:nvSpPr>
        <p:spPr>
          <a:xfrm>
            <a:off x="457199" y="1507837"/>
            <a:ext cx="8432801" cy="4609860"/>
          </a:xfrm>
        </p:spPr>
        <p:txBody>
          <a:bodyPr>
            <a:noAutofit/>
          </a:bodyPr>
          <a:lstStyle/>
          <a:p>
            <a:r>
              <a:rPr lang="en-GB" dirty="0"/>
              <a:t>The execution context (program counters, registers, etc.) for each warp processed by a multiprocessor is maintained on-chip during the entire lifetime of the warp:</a:t>
            </a:r>
          </a:p>
          <a:p>
            <a:pPr lvl="1"/>
            <a:r>
              <a:rPr lang="en-GB" dirty="0"/>
              <a:t>switching from one execution context to another has no cost,</a:t>
            </a:r>
          </a:p>
          <a:p>
            <a:pPr lvl="1"/>
            <a:r>
              <a:rPr lang="en-GB" dirty="0"/>
              <a:t>at every instruction issue time, a warp scheduler selects a warp that has threads ready to execute its next instruction and issues the instruction to those threads.</a:t>
            </a:r>
          </a:p>
          <a:p>
            <a:r>
              <a:rPr lang="en-GB" dirty="0"/>
              <a:t>Each multiprocessor (SM) has a set of </a:t>
            </a:r>
            <a:r>
              <a:rPr lang="en-GB" dirty="0">
                <a:solidFill>
                  <a:srgbClr val="F79646"/>
                </a:solidFill>
              </a:rPr>
              <a:t>32-bit registers</a:t>
            </a:r>
            <a:r>
              <a:rPr lang="en-GB" dirty="0"/>
              <a:t> that are partitioned among the warps.</a:t>
            </a:r>
          </a:p>
          <a:p>
            <a:r>
              <a:rPr lang="en-GB" dirty="0"/>
              <a:t>Each multiprocessor (SM) has a </a:t>
            </a:r>
            <a:r>
              <a:rPr lang="en-GB" dirty="0">
                <a:solidFill>
                  <a:srgbClr val="F79646"/>
                </a:solidFill>
              </a:rPr>
              <a:t>shared memory </a:t>
            </a:r>
            <a:r>
              <a:rPr lang="en-GB" dirty="0"/>
              <a:t>that is partitioned among the thread blocks.</a:t>
            </a:r>
          </a:p>
          <a:p>
            <a:endParaRPr lang="en-GB" noProof="0" dirty="0">
              <a:effectLst>
                <a:outerShdw blurRad="38100" dist="38100" dir="2700000" algn="tl" rotWithShape="0">
                  <a:schemeClr val="bg1">
                    <a:lumMod val="75000"/>
                    <a:alpha val="43000"/>
                  </a:schemeClr>
                </a:outerShdw>
              </a:effectLst>
            </a:endParaRPr>
          </a:p>
        </p:txBody>
      </p:sp>
    </p:spTree>
    <p:extLst>
      <p:ext uri="{BB962C8B-B14F-4D97-AF65-F5344CB8AC3E}">
        <p14:creationId xmlns:p14="http://schemas.microsoft.com/office/powerpoint/2010/main" val="3703056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noProof="0" dirty="0">
                <a:effectLst>
                  <a:outerShdw blurRad="38100" dist="38100" dir="2700000" algn="tl" rotWithShape="0">
                    <a:schemeClr val="bg1">
                      <a:lumMod val="75000"/>
                      <a:alpha val="50000"/>
                    </a:schemeClr>
                  </a:outerShdw>
                </a:effectLst>
              </a:rPr>
              <a:t>A Streaming Multiprocessor</a:t>
            </a:r>
          </a:p>
        </p:txBody>
      </p:sp>
      <p:sp>
        <p:nvSpPr>
          <p:cNvPr id="3" name="Marcador de contenido 2"/>
          <p:cNvSpPr>
            <a:spLocks noGrp="1"/>
          </p:cNvSpPr>
          <p:nvPr>
            <p:ph idx="1"/>
          </p:nvPr>
        </p:nvSpPr>
        <p:spPr>
          <a:xfrm>
            <a:off x="2590800" y="1600200"/>
            <a:ext cx="6360776" cy="4525963"/>
          </a:xfrm>
        </p:spPr>
        <p:txBody>
          <a:bodyPr>
            <a:normAutofit/>
          </a:bodyPr>
          <a:lstStyle/>
          <a:p>
            <a:r>
              <a:rPr lang="en-GB" noProof="0" dirty="0">
                <a:effectLst>
                  <a:outerShdw blurRad="38100" dist="38100" dir="2700000" algn="tl">
                    <a:srgbClr val="DDDDDD"/>
                  </a:outerShdw>
                </a:effectLst>
              </a:rPr>
              <a:t>A Streaming Multiprocessor (SM) in </a:t>
            </a:r>
            <a:br>
              <a:rPr lang="en-GB" noProof="0" dirty="0">
                <a:effectLst>
                  <a:outerShdw blurRad="38100" dist="38100" dir="2700000" algn="tl">
                    <a:srgbClr val="DDDDDD"/>
                  </a:outerShdw>
                </a:effectLst>
              </a:rPr>
            </a:br>
            <a:r>
              <a:rPr lang="en-GB" noProof="0" dirty="0">
                <a:effectLst>
                  <a:outerShdw blurRad="38100" dist="38100" dir="2700000" algn="tl">
                    <a:srgbClr val="DDDDDD"/>
                  </a:outerShdw>
                </a:effectLst>
              </a:rPr>
              <a:t>the Tesla G80 (2006) architecture is composed of:</a:t>
            </a:r>
          </a:p>
          <a:p>
            <a:pPr lvl="1"/>
            <a:r>
              <a:rPr lang="en-GB" noProof="0" dirty="0">
                <a:effectLst>
                  <a:outerShdw blurRad="38100" dist="38100" dir="2700000" algn="tl">
                    <a:srgbClr val="DDDDDD"/>
                  </a:outerShdw>
                </a:effectLst>
              </a:rPr>
              <a:t>8 Scalar Processors (SP)</a:t>
            </a:r>
          </a:p>
          <a:p>
            <a:pPr lvl="1"/>
            <a:r>
              <a:rPr lang="en-GB" noProof="0" dirty="0">
                <a:effectLst>
                  <a:outerShdw blurRad="38100" dist="38100" dir="2700000" algn="tl">
                    <a:srgbClr val="DDDDDD"/>
                  </a:outerShdw>
                </a:effectLst>
              </a:rPr>
              <a:t>1 Double Precision unit (DP)</a:t>
            </a:r>
          </a:p>
          <a:p>
            <a:pPr lvl="1"/>
            <a:r>
              <a:rPr lang="en-GB" noProof="0" dirty="0">
                <a:effectLst>
                  <a:outerShdw blurRad="38100" dist="38100" dir="2700000" algn="tl">
                    <a:srgbClr val="DDDDDD"/>
                  </a:outerShdw>
                </a:effectLst>
              </a:rPr>
              <a:t>16 </a:t>
            </a:r>
            <a:r>
              <a:rPr lang="en-GB" noProof="0" dirty="0" err="1">
                <a:effectLst>
                  <a:outerShdw blurRad="38100" dist="38100" dir="2700000" algn="tl">
                    <a:srgbClr val="DDDDDD"/>
                  </a:outerShdw>
                </a:effectLst>
              </a:rPr>
              <a:t>KBytes</a:t>
            </a:r>
            <a:r>
              <a:rPr lang="en-GB" noProof="0" dirty="0">
                <a:effectLst>
                  <a:outerShdw blurRad="38100" dist="38100" dir="2700000" algn="tl">
                    <a:srgbClr val="DDDDDD"/>
                  </a:outerShdw>
                </a:effectLst>
              </a:rPr>
              <a:t> Shared Memory</a:t>
            </a:r>
          </a:p>
          <a:p>
            <a:pPr lvl="1"/>
            <a:r>
              <a:rPr lang="en-GB" noProof="0" dirty="0">
                <a:effectLst>
                  <a:outerShdw blurRad="38100" dist="38100" dir="2700000" algn="tl">
                    <a:srgbClr val="DDDDDD"/>
                  </a:outerShdw>
                </a:effectLst>
              </a:rPr>
              <a:t>Bank of 32 bit registers (8192 registers)</a:t>
            </a:r>
          </a:p>
          <a:p>
            <a:pPr lvl="1"/>
            <a:r>
              <a:rPr lang="en-GB" noProof="0" dirty="0">
                <a:effectLst>
                  <a:outerShdw blurRad="38100" dist="38100" dir="2700000" algn="tl">
                    <a:srgbClr val="DDDDDD"/>
                  </a:outerShdw>
                </a:effectLst>
              </a:rPr>
              <a:t>A read only cache for Constant and Texture Memory</a:t>
            </a:r>
          </a:p>
          <a:p>
            <a:pPr lvl="1"/>
            <a:endParaRPr lang="en-GB" noProof="0" dirty="0">
              <a:effectLst>
                <a:outerShdw blurRad="38100" dist="38100" dir="2700000" algn="tl">
                  <a:srgbClr val="DDDDDD"/>
                </a:outerShdw>
              </a:effectLst>
            </a:endParaRPr>
          </a:p>
          <a:p>
            <a:r>
              <a:rPr lang="en-GB" noProof="0" dirty="0">
                <a:effectLst>
                  <a:outerShdw blurRad="38100" dist="38100" dir="2700000" algn="tl" rotWithShape="0">
                    <a:schemeClr val="bg1">
                      <a:lumMod val="75000"/>
                      <a:alpha val="50000"/>
                    </a:schemeClr>
                  </a:outerShdw>
                </a:effectLst>
              </a:rPr>
              <a:t>For a given kernel, the number of active blocks and </a:t>
            </a:r>
            <a:r>
              <a:rPr lang="en-GB" dirty="0">
                <a:effectLst>
                  <a:outerShdw blurRad="38100" dist="38100" dir="2700000" algn="tl" rotWithShape="0">
                    <a:schemeClr val="bg1">
                      <a:lumMod val="75000"/>
                      <a:alpha val="50000"/>
                    </a:schemeClr>
                  </a:outerShdw>
                </a:effectLst>
              </a:rPr>
              <a:t>warps that can reside and be processed together on the multiprocessor for a given kernel depends </a:t>
            </a:r>
            <a:r>
              <a:rPr lang="en-GB" noProof="0" dirty="0">
                <a:effectLst>
                  <a:outerShdw blurRad="38100" dist="38100" dir="2700000" algn="tl" rotWithShape="0">
                    <a:schemeClr val="bg1">
                      <a:lumMod val="75000"/>
                      <a:alpha val="50000"/>
                    </a:schemeClr>
                  </a:outerShdw>
                </a:effectLst>
              </a:rPr>
              <a:t>on:</a:t>
            </a:r>
          </a:p>
          <a:p>
            <a:pPr lvl="1"/>
            <a:r>
              <a:rPr lang="en-GB" noProof="0" dirty="0">
                <a:effectLst>
                  <a:outerShdw blurRad="38100" dist="38100" dir="2700000" algn="tl" rotWithShape="0">
                    <a:schemeClr val="bg1">
                      <a:lumMod val="75000"/>
                      <a:alpha val="50000"/>
                    </a:schemeClr>
                  </a:outerShdw>
                </a:effectLst>
              </a:rPr>
              <a:t>The number of registers the kernel compiles to.</a:t>
            </a:r>
          </a:p>
          <a:p>
            <a:pPr lvl="1"/>
            <a:r>
              <a:rPr lang="en-GB" noProof="0" dirty="0">
                <a:effectLst>
                  <a:outerShdw blurRad="38100" dist="38100" dir="2700000" algn="tl" rotWithShape="0">
                    <a:schemeClr val="bg1">
                      <a:lumMod val="75000"/>
                      <a:alpha val="50000"/>
                    </a:schemeClr>
                  </a:outerShdw>
                </a:effectLst>
              </a:rPr>
              <a:t>How much shared memory the kernel requires.</a:t>
            </a:r>
          </a:p>
        </p:txBody>
      </p:sp>
      <p:sp>
        <p:nvSpPr>
          <p:cNvPr id="7"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SM</a:t>
            </a:r>
          </a:p>
        </p:txBody>
      </p:sp>
      <p:sp>
        <p:nvSpPr>
          <p:cNvPr id="8"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r>
              <a:rPr lang="es-ES" sz="1400" kern="0" dirty="0" err="1">
                <a:solidFill>
                  <a:sysClr val="window" lastClr="FFFFFF"/>
                </a:solidFill>
                <a:latin typeface="Century"/>
                <a:ea typeface="+mn-ea"/>
                <a:cs typeface="Century"/>
              </a:rPr>
              <a:t>Shared</a:t>
            </a:r>
            <a:r>
              <a:rPr lang="es-ES" sz="1400" kern="0" dirty="0">
                <a:solidFill>
                  <a:sysClr val="window" lastClr="FFFFFF"/>
                </a:solidFill>
                <a:latin typeface="Century"/>
                <a:ea typeface="+mn-ea"/>
                <a:cs typeface="Century"/>
              </a:rPr>
              <a:t> </a:t>
            </a:r>
            <a:r>
              <a:rPr lang="es-ES" sz="1400" kern="0" dirty="0" err="1">
                <a:solidFill>
                  <a:sysClr val="window" lastClr="FFFFFF"/>
                </a:solidFill>
                <a:latin typeface="Century"/>
                <a:ea typeface="+mn-ea"/>
                <a:cs typeface="Century"/>
              </a:rPr>
              <a:t>Memory</a:t>
            </a:r>
            <a:endParaRPr lang="es-ES" sz="1400" kern="0" dirty="0">
              <a:solidFill>
                <a:sysClr val="window" lastClr="FFFFFF"/>
              </a:solidFill>
              <a:latin typeface="Century"/>
              <a:ea typeface="+mn-ea"/>
              <a:cs typeface="Century"/>
            </a:endParaRPr>
          </a:p>
        </p:txBody>
      </p:sp>
      <p:sp>
        <p:nvSpPr>
          <p:cNvPr id="9"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400" kern="0" dirty="0" err="1">
                <a:solidFill>
                  <a:sysClr val="window" lastClr="FFFFFF"/>
                </a:solidFill>
                <a:latin typeface="Century"/>
                <a:ea typeface="+mn-ea"/>
                <a:cs typeface="Century"/>
              </a:rPr>
              <a:t>Double</a:t>
            </a:r>
            <a:r>
              <a:rPr lang="es-ES" sz="1400" kern="0" dirty="0">
                <a:solidFill>
                  <a:sysClr val="window" lastClr="FFFFFF"/>
                </a:solidFill>
                <a:latin typeface="Century"/>
                <a:ea typeface="+mn-ea"/>
                <a:cs typeface="Century"/>
              </a:rPr>
              <a:t> </a:t>
            </a:r>
            <a:r>
              <a:rPr lang="es-ES" sz="1400" kern="0" dirty="0" err="1">
                <a:solidFill>
                  <a:sysClr val="window" lastClr="FFFFFF"/>
                </a:solidFill>
                <a:latin typeface="Century"/>
                <a:ea typeface="+mn-ea"/>
                <a:cs typeface="Century"/>
              </a:rPr>
              <a:t>prec</a:t>
            </a:r>
            <a:r>
              <a:rPr lang="es-ES" sz="1400" kern="0" dirty="0">
                <a:solidFill>
                  <a:sysClr val="window" lastClr="FFFFFF"/>
                </a:solidFill>
                <a:latin typeface="Century"/>
                <a:ea typeface="+mn-ea"/>
                <a:cs typeface="Century"/>
              </a:rPr>
              <a:t>. </a:t>
            </a:r>
            <a:r>
              <a:rPr lang="es-ES" sz="1400" kern="0" dirty="0" err="1">
                <a:solidFill>
                  <a:sysClr val="window" lastClr="FFFFFF"/>
                </a:solidFill>
                <a:latin typeface="Century"/>
                <a:ea typeface="+mn-ea"/>
                <a:cs typeface="Century"/>
              </a:rPr>
              <a:t>Unit</a:t>
            </a:r>
            <a:endParaRPr lang="es-ES" sz="1400" kern="0" dirty="0">
              <a:solidFill>
                <a:sysClr val="window" lastClr="FFFFFF"/>
              </a:solidFill>
              <a:latin typeface="Century"/>
              <a:ea typeface="+mn-ea"/>
              <a:cs typeface="Century"/>
            </a:endParaRPr>
          </a:p>
        </p:txBody>
      </p:sp>
      <p:sp>
        <p:nvSpPr>
          <p:cNvPr id="10"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11"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12"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13"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14"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15"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16"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17"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18"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r>
              <a:rPr lang="es-ES" sz="1400" kern="0" dirty="0">
                <a:solidFill>
                  <a:sysClr val="window" lastClr="FFFFFF"/>
                </a:solidFill>
                <a:latin typeface="Century"/>
                <a:ea typeface="+mn-ea"/>
                <a:cs typeface="Century"/>
              </a:rPr>
              <a:t>Cache</a:t>
            </a:r>
          </a:p>
        </p:txBody>
      </p:sp>
    </p:spTree>
    <p:extLst>
      <p:ext uri="{BB962C8B-B14F-4D97-AF65-F5344CB8AC3E}">
        <p14:creationId xmlns:p14="http://schemas.microsoft.com/office/powerpoint/2010/main" val="2066491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b="1" noProof="0" dirty="0"/>
              <a:t>Thread Multithreading</a:t>
            </a:r>
          </a:p>
        </p:txBody>
      </p:sp>
      <p:sp>
        <p:nvSpPr>
          <p:cNvPr id="3" name="Marcador de contenido 2"/>
          <p:cNvSpPr>
            <a:spLocks noGrp="1"/>
          </p:cNvSpPr>
          <p:nvPr>
            <p:ph idx="1"/>
          </p:nvPr>
        </p:nvSpPr>
        <p:spPr>
          <a:xfrm>
            <a:off x="457199" y="1507837"/>
            <a:ext cx="8432801" cy="4609860"/>
          </a:xfrm>
        </p:spPr>
        <p:txBody>
          <a:bodyPr>
            <a:noAutofit/>
          </a:bodyPr>
          <a:lstStyle/>
          <a:p>
            <a:r>
              <a:rPr lang="en-GB" dirty="0"/>
              <a:t>There are also a maximum number of resident blocks and a maximum number of resident warps per multiprocessor. </a:t>
            </a:r>
          </a:p>
          <a:p>
            <a:r>
              <a:rPr lang="en-GB" dirty="0"/>
              <a:t>These limits as well the amount of registers and shared memory available on the multiprocessor are a function of the compute capability of the device.</a:t>
            </a:r>
          </a:p>
          <a:p>
            <a:r>
              <a:rPr lang="en-GB" dirty="0"/>
              <a:t>The total number of warps in a block is as follows:</a:t>
            </a:r>
          </a:p>
          <a:p>
            <a:endParaRPr lang="en-GB" dirty="0"/>
          </a:p>
          <a:p>
            <a:endParaRPr lang="en-GB" dirty="0"/>
          </a:p>
          <a:p>
            <a:endParaRPr lang="en-GB" dirty="0"/>
          </a:p>
          <a:p>
            <a:pPr marL="457200" lvl="1" indent="0">
              <a:buNone/>
            </a:pPr>
            <a:r>
              <a:rPr lang="en-GB" i="1" dirty="0"/>
              <a:t>T</a:t>
            </a:r>
            <a:r>
              <a:rPr lang="en-GB" dirty="0"/>
              <a:t> is the number of threads per block, </a:t>
            </a:r>
          </a:p>
          <a:p>
            <a:pPr marL="457200" lvl="1" indent="0">
              <a:buNone/>
            </a:pPr>
            <a:r>
              <a:rPr lang="en-GB" i="1" dirty="0" err="1"/>
              <a:t>W</a:t>
            </a:r>
            <a:r>
              <a:rPr lang="en-GB" i="1" baseline="-25000" dirty="0" err="1"/>
              <a:t>size</a:t>
            </a:r>
            <a:r>
              <a:rPr lang="en-GB" dirty="0"/>
              <a:t> is the warp size, which is equal to 32, </a:t>
            </a:r>
          </a:p>
          <a:p>
            <a:pPr marL="457200" lvl="1" indent="0">
              <a:buNone/>
            </a:pPr>
            <a:r>
              <a:rPr lang="en-GB" i="1" dirty="0"/>
              <a:t>ceil(x, y)</a:t>
            </a:r>
            <a:r>
              <a:rPr lang="en-GB" dirty="0"/>
              <a:t> is equal to </a:t>
            </a:r>
            <a:r>
              <a:rPr lang="en-GB" i="1" dirty="0"/>
              <a:t>x</a:t>
            </a:r>
            <a:r>
              <a:rPr lang="en-GB" dirty="0"/>
              <a:t> rounded up to the nearest multiple of </a:t>
            </a:r>
            <a:r>
              <a:rPr lang="en-GB" i="1" dirty="0"/>
              <a:t>y</a:t>
            </a:r>
            <a:r>
              <a:rPr lang="en-GB" dirty="0"/>
              <a:t>.</a:t>
            </a:r>
          </a:p>
          <a:p>
            <a:endParaRPr lang="en-GB" noProof="0" dirty="0">
              <a:effectLst>
                <a:outerShdw blurRad="38100" dist="38100" dir="2700000" algn="tl" rotWithShape="0">
                  <a:schemeClr val="bg1">
                    <a:lumMod val="75000"/>
                    <a:alpha val="43000"/>
                  </a:schemeClr>
                </a:outerShdw>
              </a:effectLst>
            </a:endParaRPr>
          </a:p>
        </p:txBody>
      </p:sp>
      <p:graphicFrame>
        <p:nvGraphicFramePr>
          <p:cNvPr id="5" name="Objeto 4"/>
          <p:cNvGraphicFramePr>
            <a:graphicFrameLocks noChangeAspect="1"/>
          </p:cNvGraphicFramePr>
          <p:nvPr>
            <p:extLst>
              <p:ext uri="{D42A27DB-BD31-4B8C-83A1-F6EECF244321}">
                <p14:modId xmlns:p14="http://schemas.microsoft.com/office/powerpoint/2010/main" val="975951105"/>
              </p:ext>
            </p:extLst>
          </p:nvPr>
        </p:nvGraphicFramePr>
        <p:xfrm>
          <a:off x="3515896" y="3683000"/>
          <a:ext cx="1221203" cy="736599"/>
        </p:xfrm>
        <a:graphic>
          <a:graphicData uri="http://schemas.openxmlformats.org/presentationml/2006/ole">
            <mc:AlternateContent xmlns:mc="http://schemas.openxmlformats.org/markup-compatibility/2006">
              <mc:Choice xmlns:v="urn:schemas-microsoft-com:vml" Requires="v">
                <p:oleObj name="Ecuación" r:id="rId3" imgW="800100" imgH="482600" progId="Equation.3">
                  <p:embed/>
                </p:oleObj>
              </mc:Choice>
              <mc:Fallback>
                <p:oleObj name="Ecuación" r:id="rId3" imgW="800100" imgH="482600" progId="Equation.3">
                  <p:embed/>
                  <p:pic>
                    <p:nvPicPr>
                      <p:cNvPr id="0" name=""/>
                      <p:cNvPicPr/>
                      <p:nvPr/>
                    </p:nvPicPr>
                    <p:blipFill>
                      <a:blip r:embed="rId4"/>
                      <a:stretch>
                        <a:fillRect/>
                      </a:stretch>
                    </p:blipFill>
                    <p:spPr>
                      <a:xfrm>
                        <a:off x="3515896" y="3683000"/>
                        <a:ext cx="1221203" cy="736599"/>
                      </a:xfrm>
                      <a:prstGeom prst="rect">
                        <a:avLst/>
                      </a:prstGeom>
                    </p:spPr>
                  </p:pic>
                </p:oleObj>
              </mc:Fallback>
            </mc:AlternateContent>
          </a:graphicData>
        </a:graphic>
      </p:graphicFrame>
    </p:spTree>
    <p:extLst>
      <p:ext uri="{BB962C8B-B14F-4D97-AF65-F5344CB8AC3E}">
        <p14:creationId xmlns:p14="http://schemas.microsoft.com/office/powerpoint/2010/main" val="542644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GB" sz="2800" noProof="0" dirty="0"/>
              <a:t>Chip </a:t>
            </a:r>
            <a:r>
              <a:rPr lang="en-GB" sz="2800" dirty="0"/>
              <a:t>G90 of the GeForce 8800 GTX</a:t>
            </a:r>
            <a:endParaRPr lang="en-GB" sz="2800" noProof="0" dirty="0"/>
          </a:p>
        </p:txBody>
      </p:sp>
      <p:grpSp>
        <p:nvGrpSpPr>
          <p:cNvPr id="49" name="Agrupar 48"/>
          <p:cNvGrpSpPr/>
          <p:nvPr/>
        </p:nvGrpSpPr>
        <p:grpSpPr>
          <a:xfrm>
            <a:off x="2340628" y="1682188"/>
            <a:ext cx="844001" cy="1625773"/>
            <a:chOff x="851889" y="1193627"/>
            <a:chExt cx="844001" cy="1625773"/>
          </a:xfrm>
        </p:grpSpPr>
        <p:sp>
          <p:nvSpPr>
            <p:cNvPr id="47" name="Rectángulo 46"/>
            <p:cNvSpPr/>
            <p:nvPr/>
          </p:nvSpPr>
          <p:spPr>
            <a:xfrm>
              <a:off x="851889" y="1193627"/>
              <a:ext cx="844001" cy="162577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nvGrpSpPr>
            <p:cNvPr id="19" name="Agrupar 18"/>
            <p:cNvGrpSpPr/>
            <p:nvPr/>
          </p:nvGrpSpPr>
          <p:grpSpPr>
            <a:xfrm>
              <a:off x="922243" y="1412875"/>
              <a:ext cx="330632" cy="1323787"/>
              <a:chOff x="922242" y="1412875"/>
              <a:chExt cx="1395412" cy="4679950"/>
            </a:xfrm>
          </p:grpSpPr>
          <p:sp>
            <p:nvSpPr>
              <p:cNvPr id="7"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8"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9"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0"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1"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2"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3"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4"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5"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6"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7"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8"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grpSp>
          <p:nvGrpSpPr>
            <p:cNvPr id="20" name="Agrupar 19"/>
            <p:cNvGrpSpPr/>
            <p:nvPr/>
          </p:nvGrpSpPr>
          <p:grpSpPr>
            <a:xfrm>
              <a:off x="1286539" y="1412875"/>
              <a:ext cx="330632" cy="1323787"/>
              <a:chOff x="922242" y="1412875"/>
              <a:chExt cx="1395412" cy="4679950"/>
            </a:xfrm>
          </p:grpSpPr>
          <p:sp>
            <p:nvSpPr>
              <p:cNvPr id="21"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2"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4"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5"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6"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7"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8"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9"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30"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31"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32"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sp>
          <p:nvSpPr>
            <p:cNvPr id="48" name="CuadroTexto 47"/>
            <p:cNvSpPr txBox="1"/>
            <p:nvPr/>
          </p:nvSpPr>
          <p:spPr>
            <a:xfrm>
              <a:off x="1093804" y="1193627"/>
              <a:ext cx="417496" cy="215444"/>
            </a:xfrm>
            <a:prstGeom prst="rect">
              <a:avLst/>
            </a:prstGeom>
            <a:noFill/>
          </p:spPr>
          <p:txBody>
            <a:bodyPr wrap="square" rtlCol="0">
              <a:spAutoFit/>
            </a:bodyPr>
            <a:lstStyle/>
            <a:p>
              <a:r>
                <a:rPr lang="en-GB" sz="800" dirty="0">
                  <a:latin typeface="Century"/>
                  <a:cs typeface="Century"/>
                </a:rPr>
                <a:t>TPC</a:t>
              </a:r>
            </a:p>
          </p:txBody>
        </p:sp>
      </p:grpSp>
      <p:grpSp>
        <p:nvGrpSpPr>
          <p:cNvPr id="50" name="Agrupar 49"/>
          <p:cNvGrpSpPr/>
          <p:nvPr/>
        </p:nvGrpSpPr>
        <p:grpSpPr>
          <a:xfrm>
            <a:off x="3258310" y="1682188"/>
            <a:ext cx="844001" cy="1625773"/>
            <a:chOff x="851889" y="1193627"/>
            <a:chExt cx="844001" cy="1625773"/>
          </a:xfrm>
        </p:grpSpPr>
        <p:sp>
          <p:nvSpPr>
            <p:cNvPr id="51" name="Rectángulo 50"/>
            <p:cNvSpPr/>
            <p:nvPr/>
          </p:nvSpPr>
          <p:spPr>
            <a:xfrm>
              <a:off x="851889" y="1193627"/>
              <a:ext cx="844001" cy="162577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nvGrpSpPr>
            <p:cNvPr id="52" name="Agrupar 51"/>
            <p:cNvGrpSpPr/>
            <p:nvPr/>
          </p:nvGrpSpPr>
          <p:grpSpPr>
            <a:xfrm>
              <a:off x="922243" y="1412875"/>
              <a:ext cx="330632" cy="1323787"/>
              <a:chOff x="922242" y="1412875"/>
              <a:chExt cx="1395412" cy="4679950"/>
            </a:xfrm>
          </p:grpSpPr>
          <p:sp>
            <p:nvSpPr>
              <p:cNvPr id="67"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68"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69"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70"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71"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72"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73"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74"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75"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76"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77"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78"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grpSp>
          <p:nvGrpSpPr>
            <p:cNvPr id="53" name="Agrupar 52"/>
            <p:cNvGrpSpPr/>
            <p:nvPr/>
          </p:nvGrpSpPr>
          <p:grpSpPr>
            <a:xfrm>
              <a:off x="1286539" y="1412875"/>
              <a:ext cx="330632" cy="1323787"/>
              <a:chOff x="922242" y="1412875"/>
              <a:chExt cx="1395412" cy="4679950"/>
            </a:xfrm>
          </p:grpSpPr>
          <p:sp>
            <p:nvSpPr>
              <p:cNvPr id="55"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56"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57"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58"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59"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60"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61"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62"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63"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64"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65"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66"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sp>
          <p:nvSpPr>
            <p:cNvPr id="54" name="CuadroTexto 53"/>
            <p:cNvSpPr txBox="1"/>
            <p:nvPr/>
          </p:nvSpPr>
          <p:spPr>
            <a:xfrm>
              <a:off x="1093804" y="1193627"/>
              <a:ext cx="417496" cy="215444"/>
            </a:xfrm>
            <a:prstGeom prst="rect">
              <a:avLst/>
            </a:prstGeom>
            <a:noFill/>
          </p:spPr>
          <p:txBody>
            <a:bodyPr wrap="square" rtlCol="0">
              <a:spAutoFit/>
            </a:bodyPr>
            <a:lstStyle/>
            <a:p>
              <a:r>
                <a:rPr lang="en-GB" sz="800" dirty="0">
                  <a:latin typeface="Century"/>
                  <a:cs typeface="Century"/>
                </a:rPr>
                <a:t>TPC</a:t>
              </a:r>
            </a:p>
          </p:txBody>
        </p:sp>
      </p:grpSp>
      <p:grpSp>
        <p:nvGrpSpPr>
          <p:cNvPr id="79" name="Agrupar 78"/>
          <p:cNvGrpSpPr/>
          <p:nvPr/>
        </p:nvGrpSpPr>
        <p:grpSpPr>
          <a:xfrm>
            <a:off x="4175778" y="1682188"/>
            <a:ext cx="844001" cy="1625773"/>
            <a:chOff x="851889" y="1193627"/>
            <a:chExt cx="844001" cy="1625773"/>
          </a:xfrm>
        </p:grpSpPr>
        <p:sp>
          <p:nvSpPr>
            <p:cNvPr id="80" name="Rectángulo 79"/>
            <p:cNvSpPr/>
            <p:nvPr/>
          </p:nvSpPr>
          <p:spPr>
            <a:xfrm>
              <a:off x="851889" y="1193627"/>
              <a:ext cx="844001" cy="162577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nvGrpSpPr>
            <p:cNvPr id="81" name="Agrupar 80"/>
            <p:cNvGrpSpPr/>
            <p:nvPr/>
          </p:nvGrpSpPr>
          <p:grpSpPr>
            <a:xfrm>
              <a:off x="922243" y="1412875"/>
              <a:ext cx="330632" cy="1323787"/>
              <a:chOff x="922242" y="1412875"/>
              <a:chExt cx="1395412" cy="4679950"/>
            </a:xfrm>
          </p:grpSpPr>
          <p:sp>
            <p:nvSpPr>
              <p:cNvPr id="96"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97"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98"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99"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00"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01"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02"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03"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04"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05"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06"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07"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grpSp>
          <p:nvGrpSpPr>
            <p:cNvPr id="82" name="Agrupar 81"/>
            <p:cNvGrpSpPr/>
            <p:nvPr/>
          </p:nvGrpSpPr>
          <p:grpSpPr>
            <a:xfrm>
              <a:off x="1286539" y="1412875"/>
              <a:ext cx="330632" cy="1323787"/>
              <a:chOff x="922242" y="1412875"/>
              <a:chExt cx="1395412" cy="4679950"/>
            </a:xfrm>
          </p:grpSpPr>
          <p:sp>
            <p:nvSpPr>
              <p:cNvPr id="84"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85"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86"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87"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88"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89"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90"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91"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92"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93"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94"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95"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sp>
          <p:nvSpPr>
            <p:cNvPr id="83" name="CuadroTexto 82"/>
            <p:cNvSpPr txBox="1"/>
            <p:nvPr/>
          </p:nvSpPr>
          <p:spPr>
            <a:xfrm>
              <a:off x="1093804" y="1193627"/>
              <a:ext cx="417496" cy="215444"/>
            </a:xfrm>
            <a:prstGeom prst="rect">
              <a:avLst/>
            </a:prstGeom>
            <a:noFill/>
          </p:spPr>
          <p:txBody>
            <a:bodyPr wrap="square" rtlCol="0">
              <a:spAutoFit/>
            </a:bodyPr>
            <a:lstStyle/>
            <a:p>
              <a:r>
                <a:rPr lang="en-GB" sz="800" dirty="0">
                  <a:latin typeface="Century"/>
                  <a:cs typeface="Century"/>
                </a:rPr>
                <a:t>TPC</a:t>
              </a:r>
            </a:p>
          </p:txBody>
        </p:sp>
      </p:grpSp>
      <p:grpSp>
        <p:nvGrpSpPr>
          <p:cNvPr id="108" name="Agrupar 107"/>
          <p:cNvGrpSpPr/>
          <p:nvPr/>
        </p:nvGrpSpPr>
        <p:grpSpPr>
          <a:xfrm>
            <a:off x="5096528" y="1682188"/>
            <a:ext cx="844001" cy="1625773"/>
            <a:chOff x="851889" y="1193627"/>
            <a:chExt cx="844001" cy="1625773"/>
          </a:xfrm>
        </p:grpSpPr>
        <p:sp>
          <p:nvSpPr>
            <p:cNvPr id="109" name="Rectángulo 108"/>
            <p:cNvSpPr/>
            <p:nvPr/>
          </p:nvSpPr>
          <p:spPr>
            <a:xfrm>
              <a:off x="851889" y="1193627"/>
              <a:ext cx="844001" cy="162577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nvGrpSpPr>
            <p:cNvPr id="110" name="Agrupar 109"/>
            <p:cNvGrpSpPr/>
            <p:nvPr/>
          </p:nvGrpSpPr>
          <p:grpSpPr>
            <a:xfrm>
              <a:off x="922243" y="1412875"/>
              <a:ext cx="330632" cy="1323787"/>
              <a:chOff x="922242" y="1412875"/>
              <a:chExt cx="1395412" cy="4679950"/>
            </a:xfrm>
          </p:grpSpPr>
          <p:sp>
            <p:nvSpPr>
              <p:cNvPr id="125"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26"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27"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28"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29"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30"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31"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32"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33"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34"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35"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36"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grpSp>
          <p:nvGrpSpPr>
            <p:cNvPr id="111" name="Agrupar 110"/>
            <p:cNvGrpSpPr/>
            <p:nvPr/>
          </p:nvGrpSpPr>
          <p:grpSpPr>
            <a:xfrm>
              <a:off x="1286539" y="1412875"/>
              <a:ext cx="330632" cy="1323787"/>
              <a:chOff x="922242" y="1412875"/>
              <a:chExt cx="1395412" cy="4679950"/>
            </a:xfrm>
          </p:grpSpPr>
          <p:sp>
            <p:nvSpPr>
              <p:cNvPr id="113"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14"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15"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16"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17"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18"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19"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20"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21"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22"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23"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24"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sp>
          <p:nvSpPr>
            <p:cNvPr id="112" name="CuadroTexto 111"/>
            <p:cNvSpPr txBox="1"/>
            <p:nvPr/>
          </p:nvSpPr>
          <p:spPr>
            <a:xfrm>
              <a:off x="1093804" y="1193627"/>
              <a:ext cx="417496" cy="215444"/>
            </a:xfrm>
            <a:prstGeom prst="rect">
              <a:avLst/>
            </a:prstGeom>
            <a:noFill/>
          </p:spPr>
          <p:txBody>
            <a:bodyPr wrap="square" rtlCol="0">
              <a:spAutoFit/>
            </a:bodyPr>
            <a:lstStyle/>
            <a:p>
              <a:r>
                <a:rPr lang="en-GB" sz="800" dirty="0">
                  <a:latin typeface="Century"/>
                  <a:cs typeface="Century"/>
                </a:rPr>
                <a:t>TPC</a:t>
              </a:r>
            </a:p>
          </p:txBody>
        </p:sp>
      </p:grpSp>
      <p:grpSp>
        <p:nvGrpSpPr>
          <p:cNvPr id="137" name="Agrupar 136"/>
          <p:cNvGrpSpPr/>
          <p:nvPr/>
        </p:nvGrpSpPr>
        <p:grpSpPr>
          <a:xfrm>
            <a:off x="2341733" y="3377623"/>
            <a:ext cx="844001" cy="1625773"/>
            <a:chOff x="851889" y="1193627"/>
            <a:chExt cx="844001" cy="1625773"/>
          </a:xfrm>
        </p:grpSpPr>
        <p:sp>
          <p:nvSpPr>
            <p:cNvPr id="138" name="Rectángulo 137"/>
            <p:cNvSpPr/>
            <p:nvPr/>
          </p:nvSpPr>
          <p:spPr>
            <a:xfrm>
              <a:off x="851889" y="1193627"/>
              <a:ext cx="844001" cy="162577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nvGrpSpPr>
            <p:cNvPr id="139" name="Agrupar 138"/>
            <p:cNvGrpSpPr/>
            <p:nvPr/>
          </p:nvGrpSpPr>
          <p:grpSpPr>
            <a:xfrm>
              <a:off x="922243" y="1412875"/>
              <a:ext cx="330632" cy="1323787"/>
              <a:chOff x="922242" y="1412875"/>
              <a:chExt cx="1395412" cy="4679950"/>
            </a:xfrm>
          </p:grpSpPr>
          <p:sp>
            <p:nvSpPr>
              <p:cNvPr id="154"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55"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56"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57"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58"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59"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60"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61"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62"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63"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64"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65"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grpSp>
          <p:nvGrpSpPr>
            <p:cNvPr id="140" name="Agrupar 139"/>
            <p:cNvGrpSpPr/>
            <p:nvPr/>
          </p:nvGrpSpPr>
          <p:grpSpPr>
            <a:xfrm>
              <a:off x="1286539" y="1412875"/>
              <a:ext cx="330632" cy="1323787"/>
              <a:chOff x="922242" y="1412875"/>
              <a:chExt cx="1395412" cy="4679950"/>
            </a:xfrm>
          </p:grpSpPr>
          <p:sp>
            <p:nvSpPr>
              <p:cNvPr id="142"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43"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44"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45"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46"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47"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48"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49"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50"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51"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52"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53"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sp>
          <p:nvSpPr>
            <p:cNvPr id="141" name="CuadroTexto 140"/>
            <p:cNvSpPr txBox="1"/>
            <p:nvPr/>
          </p:nvSpPr>
          <p:spPr>
            <a:xfrm>
              <a:off x="1093804" y="1193627"/>
              <a:ext cx="417496" cy="215444"/>
            </a:xfrm>
            <a:prstGeom prst="rect">
              <a:avLst/>
            </a:prstGeom>
            <a:noFill/>
          </p:spPr>
          <p:txBody>
            <a:bodyPr wrap="square" rtlCol="0">
              <a:spAutoFit/>
            </a:bodyPr>
            <a:lstStyle/>
            <a:p>
              <a:r>
                <a:rPr lang="en-GB" sz="800" dirty="0">
                  <a:latin typeface="Century"/>
                  <a:cs typeface="Century"/>
                </a:rPr>
                <a:t>TPC</a:t>
              </a:r>
            </a:p>
          </p:txBody>
        </p:sp>
      </p:grpSp>
      <p:grpSp>
        <p:nvGrpSpPr>
          <p:cNvPr id="166" name="Agrupar 165"/>
          <p:cNvGrpSpPr/>
          <p:nvPr/>
        </p:nvGrpSpPr>
        <p:grpSpPr>
          <a:xfrm>
            <a:off x="3259415" y="3377623"/>
            <a:ext cx="844001" cy="1625773"/>
            <a:chOff x="851889" y="1193627"/>
            <a:chExt cx="844001" cy="1625773"/>
          </a:xfrm>
        </p:grpSpPr>
        <p:sp>
          <p:nvSpPr>
            <p:cNvPr id="167" name="Rectángulo 166"/>
            <p:cNvSpPr/>
            <p:nvPr/>
          </p:nvSpPr>
          <p:spPr>
            <a:xfrm>
              <a:off x="851889" y="1193627"/>
              <a:ext cx="844001" cy="162577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nvGrpSpPr>
            <p:cNvPr id="168" name="Agrupar 167"/>
            <p:cNvGrpSpPr/>
            <p:nvPr/>
          </p:nvGrpSpPr>
          <p:grpSpPr>
            <a:xfrm>
              <a:off x="922243" y="1412875"/>
              <a:ext cx="330632" cy="1323787"/>
              <a:chOff x="922242" y="1412875"/>
              <a:chExt cx="1395412" cy="4679950"/>
            </a:xfrm>
          </p:grpSpPr>
          <p:sp>
            <p:nvSpPr>
              <p:cNvPr id="183"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84"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85"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86"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87"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88"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89"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90"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91"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92"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93"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94"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grpSp>
          <p:nvGrpSpPr>
            <p:cNvPr id="169" name="Agrupar 168"/>
            <p:cNvGrpSpPr/>
            <p:nvPr/>
          </p:nvGrpSpPr>
          <p:grpSpPr>
            <a:xfrm>
              <a:off x="1286539" y="1412875"/>
              <a:ext cx="330632" cy="1323787"/>
              <a:chOff x="922242" y="1412875"/>
              <a:chExt cx="1395412" cy="4679950"/>
            </a:xfrm>
          </p:grpSpPr>
          <p:sp>
            <p:nvSpPr>
              <p:cNvPr id="171"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72"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73"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74"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75"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76"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77"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78"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79"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80"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81"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182"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sp>
          <p:nvSpPr>
            <p:cNvPr id="170" name="CuadroTexto 169"/>
            <p:cNvSpPr txBox="1"/>
            <p:nvPr/>
          </p:nvSpPr>
          <p:spPr>
            <a:xfrm>
              <a:off x="1093804" y="1193627"/>
              <a:ext cx="417496" cy="215444"/>
            </a:xfrm>
            <a:prstGeom prst="rect">
              <a:avLst/>
            </a:prstGeom>
            <a:noFill/>
          </p:spPr>
          <p:txBody>
            <a:bodyPr wrap="square" rtlCol="0">
              <a:spAutoFit/>
            </a:bodyPr>
            <a:lstStyle/>
            <a:p>
              <a:r>
                <a:rPr lang="en-GB" sz="800" dirty="0">
                  <a:latin typeface="Century"/>
                  <a:cs typeface="Century"/>
                </a:rPr>
                <a:t>TPC</a:t>
              </a:r>
            </a:p>
          </p:txBody>
        </p:sp>
      </p:grpSp>
      <p:grpSp>
        <p:nvGrpSpPr>
          <p:cNvPr id="195" name="Agrupar 194"/>
          <p:cNvGrpSpPr/>
          <p:nvPr/>
        </p:nvGrpSpPr>
        <p:grpSpPr>
          <a:xfrm>
            <a:off x="4176883" y="3377623"/>
            <a:ext cx="844001" cy="1625773"/>
            <a:chOff x="851889" y="1193627"/>
            <a:chExt cx="844001" cy="1625773"/>
          </a:xfrm>
        </p:grpSpPr>
        <p:sp>
          <p:nvSpPr>
            <p:cNvPr id="196" name="Rectángulo 195"/>
            <p:cNvSpPr/>
            <p:nvPr/>
          </p:nvSpPr>
          <p:spPr>
            <a:xfrm>
              <a:off x="851889" y="1193627"/>
              <a:ext cx="844001" cy="162577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nvGrpSpPr>
            <p:cNvPr id="197" name="Agrupar 196"/>
            <p:cNvGrpSpPr/>
            <p:nvPr/>
          </p:nvGrpSpPr>
          <p:grpSpPr>
            <a:xfrm>
              <a:off x="922243" y="1412875"/>
              <a:ext cx="330632" cy="1323787"/>
              <a:chOff x="922242" y="1412875"/>
              <a:chExt cx="1395412" cy="4679950"/>
            </a:xfrm>
          </p:grpSpPr>
          <p:sp>
            <p:nvSpPr>
              <p:cNvPr id="212"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13"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14"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15"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16"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17"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18"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19"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20"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21"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22"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23"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grpSp>
          <p:nvGrpSpPr>
            <p:cNvPr id="198" name="Agrupar 197"/>
            <p:cNvGrpSpPr/>
            <p:nvPr/>
          </p:nvGrpSpPr>
          <p:grpSpPr>
            <a:xfrm>
              <a:off x="1286539" y="1412875"/>
              <a:ext cx="330632" cy="1323787"/>
              <a:chOff x="922242" y="1412875"/>
              <a:chExt cx="1395412" cy="4679950"/>
            </a:xfrm>
          </p:grpSpPr>
          <p:sp>
            <p:nvSpPr>
              <p:cNvPr id="200"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01"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02"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03"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04"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05"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06"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07"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08"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09"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10"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11"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sp>
          <p:nvSpPr>
            <p:cNvPr id="199" name="CuadroTexto 198"/>
            <p:cNvSpPr txBox="1"/>
            <p:nvPr/>
          </p:nvSpPr>
          <p:spPr>
            <a:xfrm>
              <a:off x="1093804" y="1193627"/>
              <a:ext cx="417496" cy="215444"/>
            </a:xfrm>
            <a:prstGeom prst="rect">
              <a:avLst/>
            </a:prstGeom>
            <a:noFill/>
          </p:spPr>
          <p:txBody>
            <a:bodyPr wrap="square" rtlCol="0">
              <a:spAutoFit/>
            </a:bodyPr>
            <a:lstStyle/>
            <a:p>
              <a:r>
                <a:rPr lang="en-GB" sz="800" dirty="0">
                  <a:latin typeface="Century"/>
                  <a:cs typeface="Century"/>
                </a:rPr>
                <a:t>TPC</a:t>
              </a:r>
            </a:p>
          </p:txBody>
        </p:sp>
      </p:grpSp>
      <p:grpSp>
        <p:nvGrpSpPr>
          <p:cNvPr id="224" name="Agrupar 223"/>
          <p:cNvGrpSpPr/>
          <p:nvPr/>
        </p:nvGrpSpPr>
        <p:grpSpPr>
          <a:xfrm>
            <a:off x="5097633" y="3377623"/>
            <a:ext cx="844001" cy="1625773"/>
            <a:chOff x="851889" y="1193627"/>
            <a:chExt cx="844001" cy="1625773"/>
          </a:xfrm>
        </p:grpSpPr>
        <p:sp>
          <p:nvSpPr>
            <p:cNvPr id="225" name="Rectángulo 224"/>
            <p:cNvSpPr/>
            <p:nvPr/>
          </p:nvSpPr>
          <p:spPr>
            <a:xfrm>
              <a:off x="851889" y="1193627"/>
              <a:ext cx="844001" cy="162577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nvGrpSpPr>
            <p:cNvPr id="226" name="Agrupar 225"/>
            <p:cNvGrpSpPr/>
            <p:nvPr/>
          </p:nvGrpSpPr>
          <p:grpSpPr>
            <a:xfrm>
              <a:off x="922243" y="1412875"/>
              <a:ext cx="330632" cy="1323787"/>
              <a:chOff x="922242" y="1412875"/>
              <a:chExt cx="1395412" cy="4679950"/>
            </a:xfrm>
          </p:grpSpPr>
          <p:sp>
            <p:nvSpPr>
              <p:cNvPr id="241"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42"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43"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44"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45"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46"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47"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48"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49"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50"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51"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52"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grpSp>
          <p:nvGrpSpPr>
            <p:cNvPr id="227" name="Agrupar 226"/>
            <p:cNvGrpSpPr/>
            <p:nvPr/>
          </p:nvGrpSpPr>
          <p:grpSpPr>
            <a:xfrm>
              <a:off x="1286539" y="1412875"/>
              <a:ext cx="330632" cy="1323787"/>
              <a:chOff x="922242" y="1412875"/>
              <a:chExt cx="1395412" cy="4679950"/>
            </a:xfrm>
          </p:grpSpPr>
          <p:sp>
            <p:nvSpPr>
              <p:cNvPr id="229"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0"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1"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2"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3"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4"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5"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6"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7"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8"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39"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sp>
            <p:nvSpPr>
              <p:cNvPr id="240"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endParaRPr lang="es-ES" sz="800" kern="0" dirty="0">
                  <a:solidFill>
                    <a:sysClr val="window" lastClr="FFFFFF"/>
                  </a:solidFill>
                  <a:latin typeface="Century"/>
                  <a:ea typeface="+mn-ea"/>
                  <a:cs typeface="Century"/>
                </a:endParaRPr>
              </a:p>
            </p:txBody>
          </p:sp>
        </p:grpSp>
        <p:sp>
          <p:nvSpPr>
            <p:cNvPr id="228" name="CuadroTexto 227"/>
            <p:cNvSpPr txBox="1"/>
            <p:nvPr/>
          </p:nvSpPr>
          <p:spPr>
            <a:xfrm>
              <a:off x="1093804" y="1193627"/>
              <a:ext cx="417496" cy="215444"/>
            </a:xfrm>
            <a:prstGeom prst="rect">
              <a:avLst/>
            </a:prstGeom>
            <a:noFill/>
          </p:spPr>
          <p:txBody>
            <a:bodyPr wrap="square" rtlCol="0">
              <a:spAutoFit/>
            </a:bodyPr>
            <a:lstStyle/>
            <a:p>
              <a:r>
                <a:rPr lang="en-GB" sz="800" dirty="0">
                  <a:latin typeface="Century"/>
                  <a:cs typeface="Century"/>
                </a:rPr>
                <a:t>TPC</a:t>
              </a:r>
            </a:p>
          </p:txBody>
        </p:sp>
      </p:grpSp>
      <p:sp>
        <p:nvSpPr>
          <p:cNvPr id="253" name="40 Rectángulo"/>
          <p:cNvSpPr>
            <a:spLocks noChangeArrowheads="1"/>
          </p:cNvSpPr>
          <p:nvPr/>
        </p:nvSpPr>
        <p:spPr bwMode="auto">
          <a:xfrm>
            <a:off x="2340628" y="5111751"/>
            <a:ext cx="3601006" cy="425450"/>
          </a:xfrm>
          <a:prstGeom prst="rect">
            <a:avLst/>
          </a:prstGeom>
          <a:solidFill>
            <a:schemeClr val="accent2">
              <a:lumMod val="75000"/>
            </a:schemeClr>
          </a:soli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r>
              <a:rPr lang="es-ES" sz="1400" kern="0" dirty="0">
                <a:solidFill>
                  <a:sysClr val="window" lastClr="FFFFFF"/>
                </a:solidFill>
                <a:latin typeface="Century"/>
                <a:ea typeface="+mn-ea"/>
                <a:cs typeface="Century"/>
              </a:rPr>
              <a:t>Global </a:t>
            </a:r>
            <a:r>
              <a:rPr lang="es-ES" sz="1400" kern="0" dirty="0" err="1">
                <a:solidFill>
                  <a:sysClr val="window" lastClr="FFFFFF"/>
                </a:solidFill>
                <a:latin typeface="Century"/>
                <a:ea typeface="+mn-ea"/>
                <a:cs typeface="Century"/>
              </a:rPr>
              <a:t>Memory</a:t>
            </a:r>
            <a:endParaRPr lang="es-ES" sz="1400" kern="0" dirty="0">
              <a:solidFill>
                <a:sysClr val="window" lastClr="FFFFFF"/>
              </a:solidFill>
              <a:latin typeface="Century"/>
              <a:ea typeface="+mn-ea"/>
              <a:cs typeface="Century"/>
            </a:endParaRPr>
          </a:p>
        </p:txBody>
      </p:sp>
      <p:grpSp>
        <p:nvGrpSpPr>
          <p:cNvPr id="275" name="Agrupar 274"/>
          <p:cNvGrpSpPr/>
          <p:nvPr/>
        </p:nvGrpSpPr>
        <p:grpSpPr>
          <a:xfrm>
            <a:off x="5167987" y="1104900"/>
            <a:ext cx="3110200" cy="4679950"/>
            <a:chOff x="5167987" y="1104900"/>
            <a:chExt cx="3110200" cy="4679950"/>
          </a:xfrm>
        </p:grpSpPr>
        <p:cxnSp>
          <p:nvCxnSpPr>
            <p:cNvPr id="269" name="Conector recto 268"/>
            <p:cNvCxnSpPr/>
            <p:nvPr/>
          </p:nvCxnSpPr>
          <p:spPr>
            <a:xfrm flipV="1">
              <a:off x="5498619" y="1104900"/>
              <a:ext cx="2779568" cy="792732"/>
            </a:xfrm>
            <a:prstGeom prst="line">
              <a:avLst/>
            </a:prstGeom>
          </p:spPr>
          <p:style>
            <a:lnRef idx="2">
              <a:schemeClr val="accent1"/>
            </a:lnRef>
            <a:fillRef idx="0">
              <a:schemeClr val="accent1"/>
            </a:fillRef>
            <a:effectRef idx="1">
              <a:schemeClr val="accent1"/>
            </a:effectRef>
            <a:fontRef idx="minor">
              <a:schemeClr val="tx1"/>
            </a:fontRef>
          </p:style>
        </p:cxnSp>
        <p:cxnSp>
          <p:nvCxnSpPr>
            <p:cNvPr id="268" name="Conector recto 267"/>
            <p:cNvCxnSpPr/>
            <p:nvPr/>
          </p:nvCxnSpPr>
          <p:spPr>
            <a:xfrm flipV="1">
              <a:off x="5167987" y="1104900"/>
              <a:ext cx="1714788" cy="792732"/>
            </a:xfrm>
            <a:prstGeom prst="line">
              <a:avLst/>
            </a:prstGeom>
          </p:spPr>
          <p:style>
            <a:lnRef idx="2">
              <a:schemeClr val="accent1"/>
            </a:lnRef>
            <a:fillRef idx="0">
              <a:schemeClr val="accent1"/>
            </a:fillRef>
            <a:effectRef idx="1">
              <a:schemeClr val="accent1"/>
            </a:effectRef>
            <a:fontRef idx="minor">
              <a:schemeClr val="tx1"/>
            </a:fontRef>
          </p:style>
        </p:cxnSp>
        <p:cxnSp>
          <p:nvCxnSpPr>
            <p:cNvPr id="271" name="Conector recto 270"/>
            <p:cNvCxnSpPr/>
            <p:nvPr/>
          </p:nvCxnSpPr>
          <p:spPr>
            <a:xfrm>
              <a:off x="5492991" y="3225223"/>
              <a:ext cx="2785196" cy="2559627"/>
            </a:xfrm>
            <a:prstGeom prst="line">
              <a:avLst/>
            </a:prstGeom>
          </p:spPr>
          <p:style>
            <a:lnRef idx="2">
              <a:schemeClr val="accent1"/>
            </a:lnRef>
            <a:fillRef idx="0">
              <a:schemeClr val="accent1"/>
            </a:fillRef>
            <a:effectRef idx="1">
              <a:schemeClr val="accent1"/>
            </a:effectRef>
            <a:fontRef idx="minor">
              <a:schemeClr val="tx1"/>
            </a:fontRef>
          </p:style>
        </p:cxnSp>
        <p:cxnSp>
          <p:nvCxnSpPr>
            <p:cNvPr id="273" name="Conector recto 272"/>
            <p:cNvCxnSpPr/>
            <p:nvPr/>
          </p:nvCxnSpPr>
          <p:spPr>
            <a:xfrm>
              <a:off x="5176454" y="3225223"/>
              <a:ext cx="1706321" cy="2559627"/>
            </a:xfrm>
            <a:prstGeom prst="line">
              <a:avLst/>
            </a:prstGeom>
          </p:spPr>
          <p:style>
            <a:lnRef idx="2">
              <a:schemeClr val="accent1"/>
            </a:lnRef>
            <a:fillRef idx="0">
              <a:schemeClr val="accent1"/>
            </a:fillRef>
            <a:effectRef idx="1">
              <a:schemeClr val="accent1"/>
            </a:effectRef>
            <a:fontRef idx="minor">
              <a:schemeClr val="tx1"/>
            </a:fontRef>
          </p:style>
        </p:cxnSp>
        <p:grpSp>
          <p:nvGrpSpPr>
            <p:cNvPr id="266" name="Agrupar 265"/>
            <p:cNvGrpSpPr/>
            <p:nvPr/>
          </p:nvGrpSpPr>
          <p:grpSpPr>
            <a:xfrm>
              <a:off x="6882775" y="1104900"/>
              <a:ext cx="1395412" cy="4679950"/>
              <a:chOff x="922242" y="1412875"/>
              <a:chExt cx="1395412" cy="4679950"/>
            </a:xfrm>
          </p:grpSpPr>
          <p:sp>
            <p:nvSpPr>
              <p:cNvPr id="254" name="39 Rectángulo"/>
              <p:cNvSpPr>
                <a:spLocks noChangeArrowheads="1"/>
              </p:cNvSpPr>
              <p:nvPr/>
            </p:nvSpPr>
            <p:spPr bwMode="auto">
              <a:xfrm>
                <a:off x="922242" y="1412875"/>
                <a:ext cx="1395412" cy="4679950"/>
              </a:xfrm>
              <a:prstGeom prst="rect">
                <a:avLst/>
              </a:prstGeom>
              <a:gradFill rotWithShape="1">
                <a:gsLst>
                  <a:gs pos="0">
                    <a:srgbClr val="5D417E"/>
                  </a:gs>
                  <a:gs pos="80000">
                    <a:srgbClr val="7B58A6"/>
                  </a:gs>
                  <a:gs pos="100000">
                    <a:srgbClr val="7B57A8"/>
                  </a:gs>
                </a:gsLst>
                <a:lin ang="16200000"/>
              </a:gradFill>
              <a:ln w="9525">
                <a:solidFill>
                  <a:srgbClr val="7D60A0"/>
                </a:solidFill>
                <a:miter lim="800000"/>
                <a:headEnd/>
                <a:tailEnd/>
              </a:ln>
              <a:effectLst>
                <a:outerShdw blurRad="40000" dist="23000" dir="5400000" rotWithShape="0">
                  <a:srgbClr val="000000">
                    <a:alpha val="34999"/>
                  </a:srgbClr>
                </a:outerShdw>
              </a:effectLst>
            </p:spPr>
            <p:txBody>
              <a:bodyP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SM</a:t>
                </a:r>
              </a:p>
            </p:txBody>
          </p:sp>
          <p:sp>
            <p:nvSpPr>
              <p:cNvPr id="255" name="40 Rectángulo"/>
              <p:cNvSpPr>
                <a:spLocks noChangeArrowheads="1"/>
              </p:cNvSpPr>
              <p:nvPr/>
            </p:nvSpPr>
            <p:spPr bwMode="auto">
              <a:xfrm>
                <a:off x="1077817" y="5238750"/>
                <a:ext cx="1084262" cy="638175"/>
              </a:xfrm>
              <a:prstGeom prst="rect">
                <a:avLst/>
              </a:prstGeom>
              <a:gradFill rotWithShape="1">
                <a:gsLst>
                  <a:gs pos="0">
                    <a:srgbClr val="9B2D2A"/>
                  </a:gs>
                  <a:gs pos="80000">
                    <a:srgbClr val="CB3D3A"/>
                  </a:gs>
                  <a:gs pos="100000">
                    <a:srgbClr val="CE3B37"/>
                  </a:gs>
                </a:gsLst>
                <a:lin ang="16200000"/>
              </a:gradFill>
              <a:ln w="9525">
                <a:solidFill>
                  <a:srgbClr val="BE4B48"/>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r>
                  <a:rPr lang="es-ES" sz="1400" kern="0" dirty="0" err="1">
                    <a:solidFill>
                      <a:sysClr val="window" lastClr="FFFFFF"/>
                    </a:solidFill>
                    <a:latin typeface="Century"/>
                    <a:ea typeface="+mn-ea"/>
                    <a:cs typeface="Century"/>
                  </a:rPr>
                  <a:t>Shared</a:t>
                </a:r>
                <a:r>
                  <a:rPr lang="es-ES" sz="1400" kern="0" dirty="0">
                    <a:solidFill>
                      <a:sysClr val="window" lastClr="FFFFFF"/>
                    </a:solidFill>
                    <a:latin typeface="Century"/>
                    <a:ea typeface="+mn-ea"/>
                    <a:cs typeface="Century"/>
                  </a:rPr>
                  <a:t> </a:t>
                </a:r>
                <a:r>
                  <a:rPr lang="es-ES" sz="1400" kern="0" dirty="0" err="1">
                    <a:solidFill>
                      <a:sysClr val="window" lastClr="FFFFFF"/>
                    </a:solidFill>
                    <a:latin typeface="Century"/>
                    <a:ea typeface="+mn-ea"/>
                    <a:cs typeface="Century"/>
                  </a:rPr>
                  <a:t>Memory</a:t>
                </a:r>
                <a:endParaRPr lang="es-ES" sz="1400" kern="0" dirty="0">
                  <a:solidFill>
                    <a:sysClr val="window" lastClr="FFFFFF"/>
                  </a:solidFill>
                  <a:latin typeface="Century"/>
                  <a:ea typeface="+mn-ea"/>
                  <a:cs typeface="Century"/>
                </a:endParaRPr>
              </a:p>
            </p:txBody>
          </p:sp>
          <p:sp>
            <p:nvSpPr>
              <p:cNvPr id="256" name="41 Rectángulo"/>
              <p:cNvSpPr>
                <a:spLocks noChangeArrowheads="1"/>
              </p:cNvSpPr>
              <p:nvPr/>
            </p:nvSpPr>
            <p:spPr bwMode="auto">
              <a:xfrm>
                <a:off x="1077817" y="4656138"/>
                <a:ext cx="1084262" cy="511175"/>
              </a:xfrm>
              <a:prstGeom prst="rect">
                <a:avLst/>
              </a:prstGeom>
              <a:gradFill rotWithShape="1">
                <a:gsLst>
                  <a:gs pos="0">
                    <a:srgbClr val="769535"/>
                  </a:gs>
                  <a:gs pos="80000">
                    <a:srgbClr val="9BC348"/>
                  </a:gs>
                  <a:gs pos="100000">
                    <a:srgbClr val="9CC746"/>
                  </a:gs>
                </a:gsLst>
                <a:lin ang="16200000"/>
              </a:gradFill>
              <a:ln w="9525">
                <a:solidFill>
                  <a:srgbClr val="98B954"/>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400" kern="0" dirty="0" err="1">
                    <a:solidFill>
                      <a:sysClr val="window" lastClr="FFFFFF"/>
                    </a:solidFill>
                    <a:latin typeface="Century"/>
                    <a:ea typeface="+mn-ea"/>
                    <a:cs typeface="Century"/>
                  </a:rPr>
                  <a:t>Double</a:t>
                </a:r>
                <a:r>
                  <a:rPr lang="es-ES" sz="1400" kern="0" dirty="0">
                    <a:solidFill>
                      <a:sysClr val="window" lastClr="FFFFFF"/>
                    </a:solidFill>
                    <a:latin typeface="Century"/>
                    <a:ea typeface="+mn-ea"/>
                    <a:cs typeface="Century"/>
                  </a:rPr>
                  <a:t> </a:t>
                </a:r>
                <a:r>
                  <a:rPr lang="es-ES" sz="1400" kern="0" dirty="0" err="1">
                    <a:solidFill>
                      <a:sysClr val="window" lastClr="FFFFFF"/>
                    </a:solidFill>
                    <a:latin typeface="Century"/>
                    <a:ea typeface="+mn-ea"/>
                    <a:cs typeface="Century"/>
                  </a:rPr>
                  <a:t>prec</a:t>
                </a:r>
                <a:r>
                  <a:rPr lang="es-ES" sz="1400" kern="0" dirty="0">
                    <a:solidFill>
                      <a:sysClr val="window" lastClr="FFFFFF"/>
                    </a:solidFill>
                    <a:latin typeface="Century"/>
                    <a:ea typeface="+mn-ea"/>
                    <a:cs typeface="Century"/>
                  </a:rPr>
                  <a:t>. </a:t>
                </a:r>
                <a:r>
                  <a:rPr lang="es-ES" sz="1400" kern="0" dirty="0" err="1">
                    <a:solidFill>
                      <a:sysClr val="window" lastClr="FFFFFF"/>
                    </a:solidFill>
                    <a:latin typeface="Century"/>
                    <a:ea typeface="+mn-ea"/>
                    <a:cs typeface="Century"/>
                  </a:rPr>
                  <a:t>Unit</a:t>
                </a:r>
                <a:endParaRPr lang="es-ES" sz="1400" kern="0" dirty="0">
                  <a:solidFill>
                    <a:sysClr val="window" lastClr="FFFFFF"/>
                  </a:solidFill>
                  <a:latin typeface="Century"/>
                  <a:ea typeface="+mn-ea"/>
                  <a:cs typeface="Century"/>
                </a:endParaRPr>
              </a:p>
            </p:txBody>
          </p:sp>
          <p:sp>
            <p:nvSpPr>
              <p:cNvPr id="257" name="42 Rectángulo"/>
              <p:cNvSpPr>
                <a:spLocks noChangeArrowheads="1"/>
              </p:cNvSpPr>
              <p:nvPr/>
            </p:nvSpPr>
            <p:spPr bwMode="auto">
              <a:xfrm>
                <a:off x="107781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258" name="43 Rectángulo"/>
              <p:cNvSpPr>
                <a:spLocks noChangeArrowheads="1"/>
              </p:cNvSpPr>
              <p:nvPr/>
            </p:nvSpPr>
            <p:spPr bwMode="auto">
              <a:xfrm>
                <a:off x="1681067" y="4052888"/>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259" name="44 Rectángulo"/>
              <p:cNvSpPr>
                <a:spLocks noChangeArrowheads="1"/>
              </p:cNvSpPr>
              <p:nvPr/>
            </p:nvSpPr>
            <p:spPr bwMode="auto">
              <a:xfrm>
                <a:off x="107781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260" name="45 Rectángulo"/>
              <p:cNvSpPr>
                <a:spLocks noChangeArrowheads="1"/>
              </p:cNvSpPr>
              <p:nvPr/>
            </p:nvSpPr>
            <p:spPr bwMode="auto">
              <a:xfrm>
                <a:off x="1681067" y="3444875"/>
                <a:ext cx="484187" cy="481013"/>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261" name="46 Rectángulo"/>
              <p:cNvSpPr>
                <a:spLocks noChangeArrowheads="1"/>
              </p:cNvSpPr>
              <p:nvPr/>
            </p:nvSpPr>
            <p:spPr bwMode="auto">
              <a:xfrm>
                <a:off x="107781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262" name="47 Rectángulo"/>
              <p:cNvSpPr>
                <a:spLocks noChangeArrowheads="1"/>
              </p:cNvSpPr>
              <p:nvPr/>
            </p:nvSpPr>
            <p:spPr bwMode="auto">
              <a:xfrm>
                <a:off x="1681067" y="28352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263" name="48 Rectángulo"/>
              <p:cNvSpPr>
                <a:spLocks noChangeArrowheads="1"/>
              </p:cNvSpPr>
              <p:nvPr/>
            </p:nvSpPr>
            <p:spPr bwMode="auto">
              <a:xfrm>
                <a:off x="107781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264" name="49 Rectángulo"/>
              <p:cNvSpPr>
                <a:spLocks noChangeArrowheads="1"/>
              </p:cNvSpPr>
              <p:nvPr/>
            </p:nvSpPr>
            <p:spPr bwMode="auto">
              <a:xfrm>
                <a:off x="1681067" y="2225675"/>
                <a:ext cx="484187" cy="482600"/>
              </a:xfrm>
              <a:prstGeom prst="rect">
                <a:avLst/>
              </a:prstGeom>
              <a:gradFill rotWithShape="1">
                <a:gsLst>
                  <a:gs pos="0">
                    <a:srgbClr val="CB6C1D"/>
                  </a:gs>
                  <a:gs pos="80000">
                    <a:srgbClr val="FF8F2A"/>
                  </a:gs>
                  <a:gs pos="100000">
                    <a:srgbClr val="FF8F26"/>
                  </a:gs>
                </a:gsLst>
                <a:lin ang="16200000"/>
              </a:gradFill>
              <a:ln w="9525">
                <a:solidFill>
                  <a:srgbClr val="F69240"/>
                </a:solidFill>
                <a:miter lim="800000"/>
                <a:headEnd/>
                <a:tailEnd/>
              </a:ln>
              <a:effectLst>
                <a:outerShdw blurRad="40000" dist="23000" dir="5400000" rotWithShape="0">
                  <a:srgbClr val="000000">
                    <a:alpha val="34999"/>
                  </a:srgbClr>
                </a:outerShdw>
              </a:effectLst>
              <a:scene3d>
                <a:camera prst="orthographicFront"/>
                <a:lightRig rig="threePt" dir="t"/>
              </a:scene3d>
              <a:sp3d>
                <a:bevelT/>
                <a:bevelB/>
              </a:sp3d>
            </p:spPr>
            <p:txBody>
              <a:bodyPr anchor="ctr"/>
              <a:lstStyle/>
              <a:p>
                <a:pPr algn="ctr" eaLnBrk="1" fontAlgn="auto" hangingPunct="1">
                  <a:spcBef>
                    <a:spcPts val="0"/>
                  </a:spcBef>
                  <a:spcAft>
                    <a:spcPts val="0"/>
                  </a:spcAft>
                  <a:defRPr/>
                </a:pPr>
                <a:r>
                  <a:rPr lang="es-ES" sz="1800" kern="0" dirty="0">
                    <a:solidFill>
                      <a:sysClr val="window" lastClr="FFFFFF"/>
                    </a:solidFill>
                    <a:latin typeface="Century"/>
                    <a:ea typeface="+mn-ea"/>
                    <a:cs typeface="Century"/>
                  </a:rPr>
                  <a:t>SP</a:t>
                </a:r>
              </a:p>
            </p:txBody>
          </p:sp>
          <p:sp>
            <p:nvSpPr>
              <p:cNvPr id="265" name="50 Rectángulo"/>
              <p:cNvSpPr>
                <a:spLocks noChangeArrowheads="1"/>
              </p:cNvSpPr>
              <p:nvPr/>
            </p:nvSpPr>
            <p:spPr bwMode="auto">
              <a:xfrm>
                <a:off x="1082579" y="1773238"/>
                <a:ext cx="1082675" cy="319087"/>
              </a:xfrm>
              <a:prstGeom prst="rect">
                <a:avLst/>
              </a:prstGeom>
              <a:gradFill rotWithShape="1">
                <a:gsLst>
                  <a:gs pos="0">
                    <a:srgbClr val="2C5D98"/>
                  </a:gs>
                  <a:gs pos="80000">
                    <a:srgbClr val="3C7BC7"/>
                  </a:gs>
                  <a:gs pos="100000">
                    <a:srgbClr val="3A7CCB"/>
                  </a:gs>
                </a:gsLst>
                <a:lin ang="16200000"/>
              </a:gradFill>
              <a:ln w="9525">
                <a:solidFill>
                  <a:srgbClr val="4A7EBB"/>
                </a:solidFill>
                <a:miter lim="800000"/>
                <a:headEnd/>
                <a:tailEnd/>
              </a:ln>
              <a:effectLst>
                <a:outerShdw blurRad="40000" dist="23000" dir="5400000" rotWithShape="0">
                  <a:srgbClr val="000000">
                    <a:alpha val="34999"/>
                  </a:srgbClr>
                </a:outerShdw>
              </a:effectLst>
              <a:scene3d>
                <a:camera prst="orthographicFront"/>
                <a:lightRig rig="threePt" dir="t"/>
              </a:scene3d>
              <a:sp3d>
                <a:bevelT w="139700" prst="cross"/>
                <a:bevelB w="139700" prst="cross"/>
              </a:sp3d>
            </p:spPr>
            <p:txBody>
              <a:bodyPr anchor="ctr"/>
              <a:lstStyle/>
              <a:p>
                <a:pPr algn="ctr" eaLnBrk="1" fontAlgn="auto" hangingPunct="1">
                  <a:spcBef>
                    <a:spcPts val="0"/>
                  </a:spcBef>
                  <a:spcAft>
                    <a:spcPts val="0"/>
                  </a:spcAft>
                  <a:defRPr/>
                </a:pPr>
                <a:r>
                  <a:rPr lang="es-ES" sz="1400" kern="0" dirty="0">
                    <a:solidFill>
                      <a:sysClr val="window" lastClr="FFFFFF"/>
                    </a:solidFill>
                    <a:latin typeface="Century"/>
                    <a:ea typeface="+mn-ea"/>
                    <a:cs typeface="Century"/>
                  </a:rPr>
                  <a:t>Cache</a:t>
                </a:r>
              </a:p>
            </p:txBody>
          </p:sp>
        </p:grpSp>
      </p:grpSp>
    </p:spTree>
    <p:extLst>
      <p:ext uri="{BB962C8B-B14F-4D97-AF65-F5344CB8AC3E}">
        <p14:creationId xmlns:p14="http://schemas.microsoft.com/office/powerpoint/2010/main" val="19468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animEffect transition="in" filter="wipe(left)">
                                      <p:cBhvr>
                                        <p:cTn id="7" dur="10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b="1" noProof="0">
                <a:latin typeface="Courier New"/>
                <a:cs typeface="Courier New"/>
              </a:rPr>
              <a:t>deviceQuery</a:t>
            </a:r>
          </a:p>
        </p:txBody>
      </p:sp>
      <p:sp>
        <p:nvSpPr>
          <p:cNvPr id="3" name="Marcador de contenido 2"/>
          <p:cNvSpPr>
            <a:spLocks noGrp="1"/>
          </p:cNvSpPr>
          <p:nvPr>
            <p:ph idx="1"/>
          </p:nvPr>
        </p:nvSpPr>
        <p:spPr/>
        <p:txBody>
          <a:bodyPr>
            <a:normAutofit fontScale="55000" lnSpcReduction="20000"/>
          </a:bodyPr>
          <a:lstStyle/>
          <a:p>
            <a:pPr marL="0" indent="0">
              <a:buNone/>
            </a:pPr>
            <a:r>
              <a:rPr lang="en-GB" noProof="0" dirty="0">
                <a:latin typeface="Courier New"/>
                <a:cs typeface="Courier New"/>
              </a:rPr>
              <a:t>Device 0: "Tesla C2070"</a:t>
            </a:r>
          </a:p>
          <a:p>
            <a:pPr marL="0" indent="0">
              <a:buNone/>
            </a:pPr>
            <a:r>
              <a:rPr lang="en-GB" noProof="0" dirty="0">
                <a:latin typeface="Courier New"/>
                <a:cs typeface="Courier New"/>
              </a:rPr>
              <a:t>  CUDA Driver Version:                           4.0</a:t>
            </a:r>
          </a:p>
          <a:p>
            <a:pPr marL="0" indent="0">
              <a:buNone/>
            </a:pPr>
            <a:r>
              <a:rPr lang="en-GB" noProof="0" dirty="0">
                <a:latin typeface="Courier New"/>
                <a:cs typeface="Courier New"/>
              </a:rPr>
              <a:t>  CUDA Runtime Version:                          4.0</a:t>
            </a:r>
          </a:p>
          <a:p>
            <a:pPr marL="0" indent="0">
              <a:buNone/>
            </a:pPr>
            <a:r>
              <a:rPr lang="en-GB" noProof="0" dirty="0">
                <a:latin typeface="Courier New"/>
                <a:cs typeface="Courier New"/>
              </a:rPr>
              <a:t>  CUDA Capability Major/Minor version number:    2.0</a:t>
            </a:r>
          </a:p>
          <a:p>
            <a:pPr marL="0" indent="0">
              <a:buNone/>
            </a:pPr>
            <a:r>
              <a:rPr lang="en-GB" noProof="0" dirty="0">
                <a:latin typeface="Courier New"/>
                <a:cs typeface="Courier New"/>
              </a:rPr>
              <a:t>  Total amount of global memory:                 5636554752 bytes</a:t>
            </a:r>
          </a:p>
          <a:p>
            <a:pPr marL="0" indent="0">
              <a:buNone/>
            </a:pPr>
            <a:r>
              <a:rPr lang="en-GB" noProof="0" dirty="0">
                <a:latin typeface="Courier New"/>
                <a:cs typeface="Courier New"/>
              </a:rPr>
              <a:t>  Multiprocessors x Cores/MP = Cores:            14 (MP) x 32 (Cores/MP) = 448 (Cores)</a:t>
            </a:r>
          </a:p>
          <a:p>
            <a:pPr marL="0" indent="0">
              <a:buNone/>
            </a:pPr>
            <a:r>
              <a:rPr lang="en-GB" noProof="0" dirty="0">
                <a:latin typeface="Courier New"/>
                <a:cs typeface="Courier New"/>
              </a:rPr>
              <a:t>  Total amount of constant memory:               65536 bytes</a:t>
            </a:r>
          </a:p>
          <a:p>
            <a:pPr marL="0" indent="0">
              <a:buNone/>
            </a:pPr>
            <a:r>
              <a:rPr lang="en-GB" noProof="0" dirty="0">
                <a:latin typeface="Courier New"/>
                <a:cs typeface="Courier New"/>
              </a:rPr>
              <a:t>  Total amount of shared memory per block:       49152 bytes</a:t>
            </a:r>
          </a:p>
          <a:p>
            <a:pPr marL="0" indent="0">
              <a:buNone/>
            </a:pPr>
            <a:r>
              <a:rPr lang="en-GB" noProof="0" dirty="0">
                <a:latin typeface="Courier New"/>
                <a:cs typeface="Courier New"/>
              </a:rPr>
              <a:t>  Total number of registers available per block: 32768</a:t>
            </a:r>
          </a:p>
          <a:p>
            <a:pPr marL="0" indent="0">
              <a:buNone/>
            </a:pPr>
            <a:r>
              <a:rPr lang="en-GB" noProof="0" dirty="0">
                <a:latin typeface="Courier New"/>
                <a:cs typeface="Courier New"/>
              </a:rPr>
              <a:t>  Warp size:                                     32</a:t>
            </a:r>
          </a:p>
          <a:p>
            <a:pPr marL="0" indent="0">
              <a:buNone/>
            </a:pPr>
            <a:r>
              <a:rPr lang="en-GB" noProof="0" dirty="0">
                <a:latin typeface="Courier New"/>
                <a:cs typeface="Courier New"/>
              </a:rPr>
              <a:t>  Maximum number of threads per block:           1024</a:t>
            </a:r>
          </a:p>
          <a:p>
            <a:pPr marL="0" indent="0">
              <a:buNone/>
            </a:pPr>
            <a:r>
              <a:rPr lang="en-GB" noProof="0" dirty="0">
                <a:latin typeface="Courier New"/>
                <a:cs typeface="Courier New"/>
              </a:rPr>
              <a:t>  Maximum sizes of each dimension of a block:    1024 x 1024 x 64</a:t>
            </a:r>
          </a:p>
          <a:p>
            <a:pPr marL="0" indent="0">
              <a:buNone/>
            </a:pPr>
            <a:r>
              <a:rPr lang="en-GB" noProof="0" dirty="0">
                <a:latin typeface="Courier New"/>
                <a:cs typeface="Courier New"/>
              </a:rPr>
              <a:t>  Maximum sizes of each dimension of a grid:     65535 x 65535 x 65535</a:t>
            </a:r>
          </a:p>
          <a:p>
            <a:pPr marL="0" indent="0">
              <a:buNone/>
            </a:pPr>
            <a:r>
              <a:rPr lang="en-GB" noProof="0" dirty="0">
                <a:latin typeface="Courier New"/>
                <a:cs typeface="Courier New"/>
              </a:rPr>
              <a:t>  Maximum memory pitch:                          2147483647 bytes</a:t>
            </a:r>
          </a:p>
          <a:p>
            <a:pPr marL="0" indent="0">
              <a:buNone/>
            </a:pPr>
            <a:r>
              <a:rPr lang="en-GB" noProof="0" dirty="0">
                <a:latin typeface="Courier New"/>
                <a:cs typeface="Courier New"/>
              </a:rPr>
              <a:t>  Texture alignment:                             512 bytes</a:t>
            </a:r>
          </a:p>
          <a:p>
            <a:pPr marL="0" indent="0">
              <a:buNone/>
            </a:pPr>
            <a:r>
              <a:rPr lang="en-GB" noProof="0" dirty="0">
                <a:latin typeface="Courier New"/>
                <a:cs typeface="Courier New"/>
              </a:rPr>
              <a:t>  Clock rate:                                    1.15 GHz</a:t>
            </a:r>
          </a:p>
          <a:p>
            <a:pPr marL="0" indent="0">
              <a:buNone/>
            </a:pPr>
            <a:r>
              <a:rPr lang="en-GB" noProof="0" dirty="0">
                <a:latin typeface="Courier New"/>
                <a:cs typeface="Courier New"/>
              </a:rPr>
              <a:t>  Concurrent copy and execution:                 Yes</a:t>
            </a:r>
          </a:p>
          <a:p>
            <a:pPr marL="0" indent="0">
              <a:buNone/>
            </a:pPr>
            <a:r>
              <a:rPr lang="en-GB" noProof="0" dirty="0">
                <a:latin typeface="Courier New"/>
                <a:cs typeface="Courier New"/>
              </a:rPr>
              <a:t>  Run time limit on kernels:                     No</a:t>
            </a:r>
          </a:p>
          <a:p>
            <a:pPr marL="0" indent="0">
              <a:buNone/>
            </a:pPr>
            <a:r>
              <a:rPr lang="en-GB" noProof="0" dirty="0">
                <a:latin typeface="Courier New"/>
                <a:cs typeface="Courier New"/>
              </a:rPr>
              <a:t>  Integrated:                                    No</a:t>
            </a:r>
          </a:p>
          <a:p>
            <a:pPr marL="0" indent="0">
              <a:buNone/>
            </a:pPr>
            <a:r>
              <a:rPr lang="en-GB" noProof="0" dirty="0">
                <a:latin typeface="Courier New"/>
                <a:cs typeface="Courier New"/>
              </a:rPr>
              <a:t>  Support host page-locked memory mapping:       Yes</a:t>
            </a:r>
          </a:p>
          <a:p>
            <a:pPr marL="0" indent="0">
              <a:buNone/>
            </a:pPr>
            <a:r>
              <a:rPr lang="en-GB" noProof="0" dirty="0">
                <a:latin typeface="Courier New"/>
                <a:cs typeface="Courier New"/>
              </a:rPr>
              <a:t>  Compute mode:                                  Default (multiple host threads can use this 										    device simultaneously)</a:t>
            </a:r>
          </a:p>
          <a:p>
            <a:pPr marL="0" indent="0">
              <a:buNone/>
            </a:pPr>
            <a:r>
              <a:rPr lang="en-GB" noProof="0" dirty="0">
                <a:latin typeface="Courier New"/>
                <a:cs typeface="Courier New"/>
              </a:rPr>
              <a:t>  Concurrent kernel execution:                   Yes</a:t>
            </a:r>
          </a:p>
          <a:p>
            <a:pPr marL="0" indent="0">
              <a:buNone/>
            </a:pPr>
            <a:r>
              <a:rPr lang="en-GB" noProof="0" dirty="0">
                <a:latin typeface="Courier New"/>
                <a:cs typeface="Courier New"/>
              </a:rPr>
              <a:t>  Device has ECC support enabled:                No</a:t>
            </a:r>
          </a:p>
          <a:p>
            <a:pPr marL="0" indent="0">
              <a:buNone/>
            </a:pPr>
            <a:r>
              <a:rPr lang="en-GB" noProof="0" dirty="0">
                <a:latin typeface="Courier New"/>
                <a:cs typeface="Courier New"/>
              </a:rPr>
              <a:t>  Device is using TCC driver mode:               Yes</a:t>
            </a:r>
          </a:p>
        </p:txBody>
      </p:sp>
    </p:spTree>
    <p:extLst>
      <p:ext uri="{BB962C8B-B14F-4D97-AF65-F5344CB8AC3E}">
        <p14:creationId xmlns:p14="http://schemas.microsoft.com/office/powerpoint/2010/main" val="203720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0" end="0"/>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5" presetClass="emph" presetSubtype="0" nodeType="clickEffect">
                                  <p:stCondLst>
                                    <p:cond delay="0"/>
                                  </p:stCondLst>
                                  <p:iterate type="lt">
                                    <p:tmAbs val="25"/>
                                  </p:iterate>
                                  <p:childTnLst>
                                    <p:set>
                                      <p:cBhvr override="childStyle">
                                        <p:cTn id="10" dur="indefinite"/>
                                        <p:tgtEl>
                                          <p:spTgt spid="3">
                                            <p:txEl>
                                              <p:pRg st="4" end="4"/>
                                            </p:txEl>
                                          </p:spTgt>
                                        </p:tgtEl>
                                        <p:attrNameLst>
                                          <p:attrName>style.fontWeight</p:attrName>
                                        </p:attrNameLst>
                                      </p:cBhvr>
                                      <p:to>
                                        <p:strVal val="bold"/>
                                      </p:to>
                                    </p:set>
                                  </p:childTnLst>
                                </p:cTn>
                              </p:par>
                            </p:childTnLst>
                          </p:cTn>
                        </p:par>
                      </p:childTnLst>
                    </p:cTn>
                  </p:par>
                  <p:par>
                    <p:cTn id="11" fill="hold">
                      <p:stCondLst>
                        <p:cond delay="indefinite"/>
                      </p:stCondLst>
                      <p:childTnLst>
                        <p:par>
                          <p:cTn id="12" fill="hold">
                            <p:stCondLst>
                              <p:cond delay="0"/>
                            </p:stCondLst>
                            <p:childTnLst>
                              <p:par>
                                <p:cTn id="13" presetID="15" presetClass="emph" presetSubtype="0" nodeType="clickEffect">
                                  <p:stCondLst>
                                    <p:cond delay="0"/>
                                  </p:stCondLst>
                                  <p:iterate type="lt">
                                    <p:tmAbs val="25"/>
                                  </p:iterate>
                                  <p:childTnLst>
                                    <p:set>
                                      <p:cBhvr override="childStyle">
                                        <p:cTn id="14" dur="indefinite"/>
                                        <p:tgtEl>
                                          <p:spTgt spid="3">
                                            <p:txEl>
                                              <p:pRg st="5" end="5"/>
                                            </p:txEl>
                                          </p:spTgt>
                                        </p:tgtEl>
                                        <p:attrNameLst>
                                          <p:attrName>style.fontWeight</p:attrName>
                                        </p:attrNameLst>
                                      </p:cBhvr>
                                      <p:to>
                                        <p:strVal val="bold"/>
                                      </p:to>
                                    </p:set>
                                  </p:childTnLst>
                                </p:cTn>
                              </p:par>
                            </p:childTnLst>
                          </p:cTn>
                        </p:par>
                      </p:childTnLst>
                    </p:cTn>
                  </p:par>
                  <p:par>
                    <p:cTn id="15" fill="hold">
                      <p:stCondLst>
                        <p:cond delay="indefinite"/>
                      </p:stCondLst>
                      <p:childTnLst>
                        <p:par>
                          <p:cTn id="16" fill="hold">
                            <p:stCondLst>
                              <p:cond delay="0"/>
                            </p:stCondLst>
                            <p:childTnLst>
                              <p:par>
                                <p:cTn id="17" presetID="15" presetClass="emph" presetSubtype="0" nodeType="clickEffect">
                                  <p:stCondLst>
                                    <p:cond delay="0"/>
                                  </p:stCondLst>
                                  <p:iterate type="lt">
                                    <p:tmAbs val="25"/>
                                  </p:iterate>
                                  <p:childTnLst>
                                    <p:set>
                                      <p:cBhvr override="childStyle">
                                        <p:cTn id="18" dur="indefinite"/>
                                        <p:tgtEl>
                                          <p:spTgt spid="3">
                                            <p:txEl>
                                              <p:pRg st="7" end="7"/>
                                            </p:txEl>
                                          </p:spTgt>
                                        </p:tgtEl>
                                        <p:attrNameLst>
                                          <p:attrName>style.fontWeight</p:attrName>
                                        </p:attrNameLst>
                                      </p:cBhvr>
                                      <p:to>
                                        <p:strVal val="bold"/>
                                      </p:to>
                                    </p:set>
                                  </p:childTnLst>
                                </p:cTn>
                              </p:par>
                            </p:childTnLst>
                          </p:cTn>
                        </p:par>
                      </p:childTnLst>
                    </p:cTn>
                  </p:par>
                  <p:par>
                    <p:cTn id="19" fill="hold">
                      <p:stCondLst>
                        <p:cond delay="indefinite"/>
                      </p:stCondLst>
                      <p:childTnLst>
                        <p:par>
                          <p:cTn id="20" fill="hold">
                            <p:stCondLst>
                              <p:cond delay="0"/>
                            </p:stCondLst>
                            <p:childTnLst>
                              <p:par>
                                <p:cTn id="21" presetID="15" presetClass="emph" presetSubtype="0" nodeType="clickEffect">
                                  <p:stCondLst>
                                    <p:cond delay="0"/>
                                  </p:stCondLst>
                                  <p:iterate type="lt">
                                    <p:tmAbs val="25"/>
                                  </p:iterate>
                                  <p:childTnLst>
                                    <p:set>
                                      <p:cBhvr override="childStyle">
                                        <p:cTn id="22" dur="indefinite"/>
                                        <p:tgtEl>
                                          <p:spTgt spid="3">
                                            <p:txEl>
                                              <p:pRg st="8" end="8"/>
                                            </p:txEl>
                                          </p:spTgt>
                                        </p:tgtEl>
                                        <p:attrNameLst>
                                          <p:attrName>style.fontWeight</p:attrName>
                                        </p:attrNameLst>
                                      </p:cBhvr>
                                      <p:to>
                                        <p:strVal val="bold"/>
                                      </p:to>
                                    </p:set>
                                  </p:childTnLst>
                                </p:cTn>
                              </p:par>
                            </p:childTnLst>
                          </p:cTn>
                        </p:par>
                      </p:childTnLst>
                    </p:cTn>
                  </p:par>
                  <p:par>
                    <p:cTn id="23" fill="hold">
                      <p:stCondLst>
                        <p:cond delay="indefinite"/>
                      </p:stCondLst>
                      <p:childTnLst>
                        <p:par>
                          <p:cTn id="24" fill="hold">
                            <p:stCondLst>
                              <p:cond delay="0"/>
                            </p:stCondLst>
                            <p:childTnLst>
                              <p:par>
                                <p:cTn id="25" presetID="15" presetClass="emph" presetSubtype="0" nodeType="clickEffect">
                                  <p:stCondLst>
                                    <p:cond delay="0"/>
                                  </p:stCondLst>
                                  <p:iterate type="lt">
                                    <p:tmAbs val="25"/>
                                  </p:iterate>
                                  <p:childTnLst>
                                    <p:set>
                                      <p:cBhvr override="childStyle">
                                        <p:cTn id="26" dur="indefinite"/>
                                        <p:tgtEl>
                                          <p:spTgt spid="3">
                                            <p:txEl>
                                              <p:pRg st="9" end="9"/>
                                            </p:txEl>
                                          </p:spTgt>
                                        </p:tgtEl>
                                        <p:attrNameLst>
                                          <p:attrName>style.fontWeight</p:attrName>
                                        </p:attrNameLst>
                                      </p:cBhvr>
                                      <p:to>
                                        <p:strVal val="bold"/>
                                      </p:to>
                                    </p:set>
                                  </p:childTnLst>
                                </p:cTn>
                              </p:par>
                            </p:childTnLst>
                          </p:cTn>
                        </p:par>
                      </p:childTnLst>
                    </p:cTn>
                  </p:par>
                  <p:par>
                    <p:cTn id="27" fill="hold">
                      <p:stCondLst>
                        <p:cond delay="indefinite"/>
                      </p:stCondLst>
                      <p:childTnLst>
                        <p:par>
                          <p:cTn id="28" fill="hold">
                            <p:stCondLst>
                              <p:cond delay="0"/>
                            </p:stCondLst>
                            <p:childTnLst>
                              <p:par>
                                <p:cTn id="29" presetID="15" presetClass="emph" presetSubtype="0" nodeType="clickEffect">
                                  <p:stCondLst>
                                    <p:cond delay="0"/>
                                  </p:stCondLst>
                                  <p:iterate type="lt">
                                    <p:tmAbs val="25"/>
                                  </p:iterate>
                                  <p:childTnLst>
                                    <p:set>
                                      <p:cBhvr override="childStyle">
                                        <p:cTn id="30" dur="indefinite"/>
                                        <p:tgtEl>
                                          <p:spTgt spid="3">
                                            <p:txEl>
                                              <p:pRg st="10" end="10"/>
                                            </p:txEl>
                                          </p:spTgt>
                                        </p:tgtEl>
                                        <p:attrNameLst>
                                          <p:attrName>style.fontWeight</p:attrName>
                                        </p:attrNameLst>
                                      </p:cBhvr>
                                      <p:to>
                                        <p:strVal val="bold"/>
                                      </p:to>
                                    </p:set>
                                  </p:childTnLst>
                                </p:cTn>
                              </p:par>
                            </p:childTnLst>
                          </p:cTn>
                        </p:par>
                      </p:childTnLst>
                    </p:cTn>
                  </p:par>
                  <p:par>
                    <p:cTn id="31" fill="hold">
                      <p:stCondLst>
                        <p:cond delay="indefinite"/>
                      </p:stCondLst>
                      <p:childTnLst>
                        <p:par>
                          <p:cTn id="32" fill="hold">
                            <p:stCondLst>
                              <p:cond delay="0"/>
                            </p:stCondLst>
                            <p:childTnLst>
                              <p:par>
                                <p:cTn id="33" presetID="15" presetClass="emph" presetSubtype="0" nodeType="clickEffect">
                                  <p:stCondLst>
                                    <p:cond delay="0"/>
                                  </p:stCondLst>
                                  <p:iterate type="lt">
                                    <p:tmAbs val="25"/>
                                  </p:iterate>
                                  <p:childTnLst>
                                    <p:set>
                                      <p:cBhvr override="childStyle">
                                        <p:cTn id="34" dur="indefinite"/>
                                        <p:tgtEl>
                                          <p:spTgt spid="3">
                                            <p:txEl>
                                              <p:pRg st="11" end="11"/>
                                            </p:txEl>
                                          </p:spTgt>
                                        </p:tgtEl>
                                        <p:attrNameLst>
                                          <p:attrName>style.fontWeight</p:attrName>
                                        </p:attrNameLst>
                                      </p:cBhvr>
                                      <p:to>
                                        <p:strVal val="bold"/>
                                      </p:to>
                                    </p:set>
                                  </p:childTnLst>
                                </p:cTn>
                              </p:par>
                            </p:childTnLst>
                          </p:cTn>
                        </p:par>
                      </p:childTnLst>
                    </p:cTn>
                  </p:par>
                  <p:par>
                    <p:cTn id="35" fill="hold">
                      <p:stCondLst>
                        <p:cond delay="indefinite"/>
                      </p:stCondLst>
                      <p:childTnLst>
                        <p:par>
                          <p:cTn id="36" fill="hold">
                            <p:stCondLst>
                              <p:cond delay="0"/>
                            </p:stCondLst>
                            <p:childTnLst>
                              <p:par>
                                <p:cTn id="37" presetID="15" presetClass="emph" presetSubtype="0" nodeType="clickEffect">
                                  <p:stCondLst>
                                    <p:cond delay="0"/>
                                  </p:stCondLst>
                                  <p:iterate type="lt">
                                    <p:tmAbs val="25"/>
                                  </p:iterate>
                                  <p:childTnLst>
                                    <p:set>
                                      <p:cBhvr override="childStyle">
                                        <p:cTn id="38" dur="indefinite"/>
                                        <p:tgtEl>
                                          <p:spTgt spid="3">
                                            <p:txEl>
                                              <p:pRg st="12" end="12"/>
                                            </p:txEl>
                                          </p:spTgt>
                                        </p:tgtEl>
                                        <p:attrNameLst>
                                          <p:attrName>style.fontWeight</p:attrName>
                                        </p:attrNameLst>
                                      </p:cBhvr>
                                      <p:to>
                                        <p:strVal val="bold"/>
                                      </p:to>
                                    </p:set>
                                  </p:childTnLst>
                                </p:cTn>
                              </p:par>
                            </p:childTnLst>
                          </p:cTn>
                        </p:par>
                      </p:childTnLst>
                    </p:cTn>
                  </p:par>
                  <p:par>
                    <p:cTn id="39" fill="hold">
                      <p:stCondLst>
                        <p:cond delay="indefinite"/>
                      </p:stCondLst>
                      <p:childTnLst>
                        <p:par>
                          <p:cTn id="40" fill="hold">
                            <p:stCondLst>
                              <p:cond delay="0"/>
                            </p:stCondLst>
                            <p:childTnLst>
                              <p:par>
                                <p:cTn id="41" presetID="15" presetClass="emph" presetSubtype="0" nodeType="clickEffect">
                                  <p:stCondLst>
                                    <p:cond delay="0"/>
                                  </p:stCondLst>
                                  <p:iterate type="lt">
                                    <p:tmAbs val="25"/>
                                  </p:iterate>
                                  <p:childTnLst>
                                    <p:set>
                                      <p:cBhvr override="childStyle">
                                        <p:cTn id="42" dur="indefinite"/>
                                        <p:tgtEl>
                                          <p:spTgt spid="3">
                                            <p:txEl>
                                              <p:pRg st="21" end="2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Fermi Architecture (GF100)</a:t>
            </a:r>
          </a:p>
        </p:txBody>
      </p:sp>
      <p:pic>
        <p:nvPicPr>
          <p:cNvPr id="6" name="Imagen 5" descr="imagen.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955" y="1242483"/>
            <a:ext cx="6537144" cy="5113867"/>
          </a:xfrm>
          <a:prstGeom prst="rect">
            <a:avLst/>
          </a:prstGeom>
        </p:spPr>
      </p:pic>
    </p:spTree>
    <p:extLst>
      <p:ext uri="{BB962C8B-B14F-4D97-AF65-F5344CB8AC3E}">
        <p14:creationId xmlns:p14="http://schemas.microsoft.com/office/powerpoint/2010/main" val="4023931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Fermi Architecture</a:t>
            </a:r>
          </a:p>
        </p:txBody>
      </p:sp>
      <p:sp>
        <p:nvSpPr>
          <p:cNvPr id="3" name="Marcador de contenido 2"/>
          <p:cNvSpPr>
            <a:spLocks noGrp="1"/>
          </p:cNvSpPr>
          <p:nvPr>
            <p:ph idx="1"/>
          </p:nvPr>
        </p:nvSpPr>
        <p:spPr/>
        <p:txBody>
          <a:bodyPr>
            <a:normAutofit/>
          </a:bodyPr>
          <a:lstStyle/>
          <a:p>
            <a:r>
              <a:rPr lang="en-GB" dirty="0"/>
              <a:t>The first Fermi based GPU, implemented with 3.0 billion transistors, features up to 512 CUDA cores.</a:t>
            </a:r>
          </a:p>
          <a:p>
            <a:r>
              <a:rPr lang="en-GB" dirty="0"/>
              <a:t>A CUDA core executes a </a:t>
            </a:r>
            <a:r>
              <a:rPr lang="en-GB" dirty="0">
                <a:solidFill>
                  <a:schemeClr val="accent6"/>
                </a:solidFill>
              </a:rPr>
              <a:t>floating point</a:t>
            </a:r>
            <a:r>
              <a:rPr lang="en-GB" dirty="0"/>
              <a:t> or </a:t>
            </a:r>
            <a:r>
              <a:rPr lang="en-GB" dirty="0">
                <a:solidFill>
                  <a:srgbClr val="F79646"/>
                </a:solidFill>
              </a:rPr>
              <a:t>integer</a:t>
            </a:r>
            <a:r>
              <a:rPr lang="en-GB" dirty="0"/>
              <a:t> instruction </a:t>
            </a:r>
            <a:r>
              <a:rPr lang="en-GB" dirty="0">
                <a:solidFill>
                  <a:srgbClr val="F79646"/>
                </a:solidFill>
              </a:rPr>
              <a:t>per clock</a:t>
            </a:r>
            <a:r>
              <a:rPr lang="en-GB" dirty="0"/>
              <a:t> for a thread. </a:t>
            </a:r>
          </a:p>
          <a:p>
            <a:r>
              <a:rPr lang="en-GB" dirty="0"/>
              <a:t>The 512 CUDA cores are organized in 16 SMs of 32 cores each. </a:t>
            </a:r>
          </a:p>
          <a:p>
            <a:r>
              <a:rPr lang="en-GB" dirty="0"/>
              <a:t>The GPU has six 64-bit memory partitions, for a 384-bit memory interface, supporting up to a total of 6 GB of GDDR5 DRAM memory. </a:t>
            </a:r>
          </a:p>
          <a:p>
            <a:r>
              <a:rPr lang="en-GB" dirty="0"/>
              <a:t>A host interface connects the GPU to the CPU via PCI-Express. The </a:t>
            </a:r>
            <a:r>
              <a:rPr lang="en-GB" dirty="0" err="1">
                <a:solidFill>
                  <a:srgbClr val="F79646"/>
                </a:solidFill>
              </a:rPr>
              <a:t>GigaThread</a:t>
            </a:r>
            <a:r>
              <a:rPr lang="en-GB" dirty="0"/>
              <a:t> global scheduler distributes thread blocks to SM thread schedulers.</a:t>
            </a:r>
          </a:p>
          <a:p>
            <a:endParaRPr lang="en-GB" dirty="0"/>
          </a:p>
        </p:txBody>
      </p:sp>
    </p:spTree>
    <p:extLst>
      <p:ext uri="{BB962C8B-B14F-4D97-AF65-F5344CB8AC3E}">
        <p14:creationId xmlns:p14="http://schemas.microsoft.com/office/powerpoint/2010/main" val="3373623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Fermi SM</a:t>
            </a:r>
          </a:p>
        </p:txBody>
      </p:sp>
      <p:pic>
        <p:nvPicPr>
          <p:cNvPr id="6" name="Imagen 5" descr="imagen.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2620" y="1285231"/>
            <a:ext cx="2987338" cy="4961466"/>
          </a:xfrm>
          <a:prstGeom prst="rect">
            <a:avLst/>
          </a:prstGeom>
        </p:spPr>
      </p:pic>
      <p:pic>
        <p:nvPicPr>
          <p:cNvPr id="7" name="Imagen 6" descr="imagen.tif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6653" y="3154243"/>
            <a:ext cx="1595967" cy="1376339"/>
          </a:xfrm>
          <a:prstGeom prst="rect">
            <a:avLst/>
          </a:prstGeom>
        </p:spPr>
      </p:pic>
    </p:spTree>
    <p:extLst>
      <p:ext uri="{BB962C8B-B14F-4D97-AF65-F5344CB8AC3E}">
        <p14:creationId xmlns:p14="http://schemas.microsoft.com/office/powerpoint/2010/main" val="1616523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edg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Fermi SM</a:t>
            </a:r>
          </a:p>
        </p:txBody>
      </p:sp>
      <p:sp>
        <p:nvSpPr>
          <p:cNvPr id="3" name="Marcador de contenido 2"/>
          <p:cNvSpPr>
            <a:spLocks noGrp="1"/>
          </p:cNvSpPr>
          <p:nvPr>
            <p:ph idx="1"/>
          </p:nvPr>
        </p:nvSpPr>
        <p:spPr/>
        <p:txBody>
          <a:bodyPr>
            <a:normAutofit/>
          </a:bodyPr>
          <a:lstStyle/>
          <a:p>
            <a:r>
              <a:rPr lang="en-GB" dirty="0"/>
              <a:t>Each CUDA processor has a </a:t>
            </a:r>
            <a:r>
              <a:rPr lang="en-GB" dirty="0">
                <a:solidFill>
                  <a:srgbClr val="F79646"/>
                </a:solidFill>
              </a:rPr>
              <a:t>fully pipelined </a:t>
            </a:r>
            <a:r>
              <a:rPr lang="en-GB" dirty="0"/>
              <a:t>integer arithmetic logic unit (ALU) and floating point unit (FPU). </a:t>
            </a:r>
          </a:p>
          <a:p>
            <a:r>
              <a:rPr lang="en-GB" dirty="0"/>
              <a:t>Prior GPUs used IEEE 754-1985 floating point arithmetic. The Fermi architecture implements the new </a:t>
            </a:r>
            <a:r>
              <a:rPr lang="en-GB" dirty="0">
                <a:solidFill>
                  <a:srgbClr val="F79646"/>
                </a:solidFill>
              </a:rPr>
              <a:t>IEEE 754-2008 </a:t>
            </a:r>
            <a:r>
              <a:rPr lang="en-GB" dirty="0"/>
              <a:t>floating-point standard. </a:t>
            </a:r>
          </a:p>
          <a:p>
            <a:r>
              <a:rPr lang="en-GB" dirty="0"/>
              <a:t>Fermi architecture provides the </a:t>
            </a:r>
            <a:r>
              <a:rPr lang="en-GB" dirty="0">
                <a:solidFill>
                  <a:srgbClr val="F79646"/>
                </a:solidFill>
              </a:rPr>
              <a:t>fused multiply-add </a:t>
            </a:r>
            <a:r>
              <a:rPr lang="en-GB" dirty="0"/>
              <a:t>(</a:t>
            </a:r>
            <a:r>
              <a:rPr lang="en-GB" dirty="0">
                <a:solidFill>
                  <a:srgbClr val="F79646"/>
                </a:solidFill>
              </a:rPr>
              <a:t>FMA</a:t>
            </a:r>
            <a:r>
              <a:rPr lang="en-GB" dirty="0"/>
              <a:t>) instruction for both single and double precision arithmetic. </a:t>
            </a:r>
          </a:p>
          <a:p>
            <a:pPr lvl="1"/>
            <a:r>
              <a:rPr lang="en-GB" dirty="0"/>
              <a:t>FMA improves over a multiply-add (MAD) instruction by doing the multiplication and addition with a single final rounding step, with no loss of precision in the addition. </a:t>
            </a:r>
          </a:p>
          <a:p>
            <a:pPr lvl="1"/>
            <a:r>
              <a:rPr lang="en-GB" dirty="0"/>
              <a:t>FMA is more accurate than performing the operations separately.</a:t>
            </a:r>
          </a:p>
          <a:p>
            <a:r>
              <a:rPr lang="en-GB" dirty="0"/>
              <a:t>Each SM has 16 </a:t>
            </a:r>
            <a:r>
              <a:rPr lang="en-GB" dirty="0">
                <a:solidFill>
                  <a:srgbClr val="F79646"/>
                </a:solidFill>
              </a:rPr>
              <a:t>load/store units</a:t>
            </a:r>
            <a:r>
              <a:rPr lang="en-GB" dirty="0"/>
              <a:t>, allowing source and destination addresses to be calculated for sixteen threads per clock.</a:t>
            </a:r>
          </a:p>
        </p:txBody>
      </p:sp>
    </p:spTree>
    <p:extLst>
      <p:ext uri="{BB962C8B-B14F-4D97-AF65-F5344CB8AC3E}">
        <p14:creationId xmlns:p14="http://schemas.microsoft.com/office/powerpoint/2010/main" val="2177292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Fermi SM</a:t>
            </a:r>
          </a:p>
        </p:txBody>
      </p:sp>
      <p:sp>
        <p:nvSpPr>
          <p:cNvPr id="3" name="Marcador de contenido 2"/>
          <p:cNvSpPr>
            <a:spLocks noGrp="1"/>
          </p:cNvSpPr>
          <p:nvPr>
            <p:ph idx="1"/>
          </p:nvPr>
        </p:nvSpPr>
        <p:spPr/>
        <p:txBody>
          <a:bodyPr>
            <a:normAutofit lnSpcReduction="10000"/>
          </a:bodyPr>
          <a:lstStyle/>
          <a:p>
            <a:r>
              <a:rPr lang="en-GB" dirty="0"/>
              <a:t>Special Function Units (</a:t>
            </a:r>
            <a:r>
              <a:rPr lang="en-GB" dirty="0">
                <a:solidFill>
                  <a:srgbClr val="F79646"/>
                </a:solidFill>
              </a:rPr>
              <a:t>SFUs</a:t>
            </a:r>
            <a:r>
              <a:rPr lang="en-GB" dirty="0"/>
              <a:t>) execute transcendental instructions such as sin, cosine, reciprocal, and square root. </a:t>
            </a:r>
          </a:p>
          <a:p>
            <a:pPr lvl="1"/>
            <a:r>
              <a:rPr lang="en-GB" dirty="0"/>
              <a:t>Each SFU executes one instruction per thread, per clock; </a:t>
            </a:r>
          </a:p>
          <a:p>
            <a:pPr lvl="1"/>
            <a:r>
              <a:rPr lang="en-GB" dirty="0"/>
              <a:t>a warp executes over eight clocks. </a:t>
            </a:r>
          </a:p>
          <a:p>
            <a:pPr lvl="1"/>
            <a:r>
              <a:rPr lang="en-GB" dirty="0"/>
              <a:t>The SFU pipeline is decoupled from the dispatch unit, allowing the dispatch unit to issue to other execution units while the SFU is occupied. </a:t>
            </a:r>
          </a:p>
          <a:p>
            <a:r>
              <a:rPr lang="en-GB" dirty="0"/>
              <a:t>The SM schedules threads in groups of 32 parallel threads (warps). </a:t>
            </a:r>
          </a:p>
          <a:p>
            <a:pPr lvl="1"/>
            <a:r>
              <a:rPr lang="en-GB" dirty="0"/>
              <a:t>Each SM features </a:t>
            </a:r>
            <a:r>
              <a:rPr lang="en-GB" dirty="0">
                <a:solidFill>
                  <a:srgbClr val="F79646"/>
                </a:solidFill>
              </a:rPr>
              <a:t>two warp schedulers </a:t>
            </a:r>
            <a:r>
              <a:rPr lang="en-GB" dirty="0"/>
              <a:t>and two instruction dispatch units, allowing two warps to be issued and executed concurrently. </a:t>
            </a:r>
          </a:p>
          <a:p>
            <a:pPr lvl="1"/>
            <a:r>
              <a:rPr lang="en-GB" dirty="0"/>
              <a:t>Fermi’s dual warp scheduler selects two warps, and issues one instruction from each warp to a group of sixteen cores, sixteen load/store units, or four SFUs. </a:t>
            </a:r>
          </a:p>
          <a:p>
            <a:r>
              <a:rPr lang="en-GB" dirty="0"/>
              <a:t>Each SM has </a:t>
            </a:r>
            <a:r>
              <a:rPr lang="en-GB" dirty="0">
                <a:solidFill>
                  <a:srgbClr val="F79646"/>
                </a:solidFill>
              </a:rPr>
              <a:t>64 KB </a:t>
            </a:r>
            <a:r>
              <a:rPr lang="en-GB" dirty="0"/>
              <a:t>of on-chip memory that can be configured as 48 KB of Shared memory with 16 KB of L1 cache or as 16 KB of Shared memory with 48 KB of L1 cache. </a:t>
            </a:r>
          </a:p>
          <a:p>
            <a:endParaRPr lang="en-GB" dirty="0"/>
          </a:p>
        </p:txBody>
      </p:sp>
    </p:spTree>
    <p:extLst>
      <p:ext uri="{BB962C8B-B14F-4D97-AF65-F5344CB8AC3E}">
        <p14:creationId xmlns:p14="http://schemas.microsoft.com/office/powerpoint/2010/main" val="407242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Concurrent kernel execution</a:t>
            </a:r>
          </a:p>
        </p:txBody>
      </p:sp>
      <p:sp>
        <p:nvSpPr>
          <p:cNvPr id="3" name="Marcador de contenido 2"/>
          <p:cNvSpPr>
            <a:spLocks noGrp="1"/>
          </p:cNvSpPr>
          <p:nvPr>
            <p:ph idx="1"/>
          </p:nvPr>
        </p:nvSpPr>
        <p:spPr/>
        <p:txBody>
          <a:bodyPr>
            <a:normAutofit/>
          </a:bodyPr>
          <a:lstStyle/>
          <a:p>
            <a:r>
              <a:rPr lang="en-GB" dirty="0"/>
              <a:t>Concurrent kernel execution allows programs that execute a number of small kernels to utilize the whole GPU.</a:t>
            </a:r>
          </a:p>
        </p:txBody>
      </p:sp>
      <p:pic>
        <p:nvPicPr>
          <p:cNvPr id="6" name="Imagen 5" descr="imagen.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2545" y="2733508"/>
            <a:ext cx="6042090" cy="2891571"/>
          </a:xfrm>
          <a:prstGeom prst="rect">
            <a:avLst/>
          </a:prstGeom>
        </p:spPr>
      </p:pic>
    </p:spTree>
    <p:extLst>
      <p:ext uri="{BB962C8B-B14F-4D97-AF65-F5344CB8AC3E}">
        <p14:creationId xmlns:p14="http://schemas.microsoft.com/office/powerpoint/2010/main" val="970492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err="1"/>
              <a:t>Kepler</a:t>
            </a:r>
            <a:r>
              <a:rPr lang="en-GB" dirty="0"/>
              <a:t>	GK110</a:t>
            </a:r>
          </a:p>
        </p:txBody>
      </p:sp>
      <p:sp>
        <p:nvSpPr>
          <p:cNvPr id="3" name="Marcador de contenido 2"/>
          <p:cNvSpPr>
            <a:spLocks noGrp="1"/>
          </p:cNvSpPr>
          <p:nvPr>
            <p:ph idx="1"/>
          </p:nvPr>
        </p:nvSpPr>
        <p:spPr/>
        <p:txBody>
          <a:bodyPr>
            <a:normAutofit/>
          </a:bodyPr>
          <a:lstStyle/>
          <a:p>
            <a:r>
              <a:rPr lang="en-GB" dirty="0"/>
              <a:t>7.1 billion transistors.</a:t>
            </a:r>
          </a:p>
          <a:p>
            <a:r>
              <a:rPr lang="en-GB" dirty="0"/>
              <a:t>GK110 was designed to be a parallel processing powerhouse for Tesla® and the HPC market.</a:t>
            </a:r>
          </a:p>
          <a:p>
            <a:r>
              <a:rPr lang="en-GB" dirty="0"/>
              <a:t>1 </a:t>
            </a:r>
            <a:r>
              <a:rPr lang="en-GB" dirty="0" err="1"/>
              <a:t>TFlop</a:t>
            </a:r>
            <a:r>
              <a:rPr lang="en-GB" dirty="0"/>
              <a:t> of double precision throughput with greater than 80% </a:t>
            </a:r>
            <a:br>
              <a:rPr lang="en-GB" dirty="0"/>
            </a:br>
            <a:r>
              <a:rPr lang="en-GB" dirty="0"/>
              <a:t>DGEMM efficiency versus 60-65% on the prior Fermi architecture. </a:t>
            </a:r>
          </a:p>
          <a:p>
            <a:r>
              <a:rPr lang="en-GB" dirty="0"/>
              <a:t>Up to 3x the </a:t>
            </a:r>
            <a:r>
              <a:rPr lang="en-GB" dirty="0">
                <a:solidFill>
                  <a:srgbClr val="F79646"/>
                </a:solidFill>
              </a:rPr>
              <a:t>performance per watt</a:t>
            </a:r>
            <a:r>
              <a:rPr lang="en-GB" dirty="0"/>
              <a:t> of Fermi.</a:t>
            </a:r>
          </a:p>
          <a:p>
            <a:r>
              <a:rPr lang="en-GB" dirty="0"/>
              <a:t>New features:</a:t>
            </a:r>
          </a:p>
          <a:p>
            <a:pPr lvl="1"/>
            <a:r>
              <a:rPr lang="en-GB" dirty="0">
                <a:solidFill>
                  <a:schemeClr val="accent6"/>
                </a:solidFill>
              </a:rPr>
              <a:t>Dynamic Parallelism</a:t>
            </a:r>
            <a:r>
              <a:rPr lang="en-GB" dirty="0"/>
              <a:t>: kernels launching kernels.</a:t>
            </a:r>
          </a:p>
          <a:p>
            <a:pPr lvl="1"/>
            <a:r>
              <a:rPr lang="en-GB" dirty="0"/>
              <a:t>Hyper-Q: enables multiple CPU threads or processes to launch work on a single GPU simultaneously.</a:t>
            </a:r>
          </a:p>
          <a:p>
            <a:pPr lvl="1"/>
            <a:r>
              <a:rPr lang="en-GB" dirty="0"/>
              <a:t>Grid Management Unit: Stops-resumes grid execution. </a:t>
            </a:r>
          </a:p>
          <a:p>
            <a:pPr lvl="1"/>
            <a:r>
              <a:rPr lang="en-GB" dirty="0"/>
              <a:t>NVIDIA </a:t>
            </a:r>
            <a:r>
              <a:rPr lang="en-GB" dirty="0" err="1"/>
              <a:t>GPUDirect</a:t>
            </a:r>
            <a:r>
              <a:rPr lang="en-GB" dirty="0"/>
              <a:t>™: Family of technologies that enhance data movement. </a:t>
            </a:r>
          </a:p>
          <a:p>
            <a:endParaRPr lang="en-GB" dirty="0"/>
          </a:p>
          <a:p>
            <a:pPr marL="0" indent="0">
              <a:buNone/>
            </a:pPr>
            <a:endParaRPr lang="en-GB" dirty="0"/>
          </a:p>
        </p:txBody>
      </p:sp>
    </p:spTree>
    <p:extLst>
      <p:ext uri="{BB962C8B-B14F-4D97-AF65-F5344CB8AC3E}">
        <p14:creationId xmlns:p14="http://schemas.microsoft.com/office/powerpoint/2010/main" val="3868970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descr="imagen.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1401"/>
            <a:ext cx="9144000" cy="6449712"/>
          </a:xfrm>
          <a:prstGeom prst="rect">
            <a:avLst/>
          </a:prstGeom>
        </p:spPr>
      </p:pic>
    </p:spTree>
    <p:extLst>
      <p:ext uri="{BB962C8B-B14F-4D97-AF65-F5344CB8AC3E}">
        <p14:creationId xmlns:p14="http://schemas.microsoft.com/office/powerpoint/2010/main" val="2472619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Streaming Multiprocessor (SMX) </a:t>
            </a:r>
          </a:p>
        </p:txBody>
      </p:sp>
      <p:pic>
        <p:nvPicPr>
          <p:cNvPr id="6" name="Imagen 5" descr="imagen.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598" y="0"/>
            <a:ext cx="6143134" cy="6858000"/>
          </a:xfrm>
          <a:prstGeom prst="rect">
            <a:avLst/>
          </a:prstGeom>
        </p:spPr>
      </p:pic>
    </p:spTree>
    <p:extLst>
      <p:ext uri="{BB962C8B-B14F-4D97-AF65-F5344CB8AC3E}">
        <p14:creationId xmlns:p14="http://schemas.microsoft.com/office/powerpoint/2010/main" val="3550140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n-GB"/>
          </a:p>
        </p:txBody>
      </p:sp>
      <p:sp>
        <p:nvSpPr>
          <p:cNvPr id="3" name="Marcador de contenido 2"/>
          <p:cNvSpPr>
            <a:spLocks noGrp="1"/>
          </p:cNvSpPr>
          <p:nvPr>
            <p:ph idx="1"/>
          </p:nvPr>
        </p:nvSpPr>
        <p:spPr/>
        <p:txBody>
          <a:bodyPr>
            <a:normAutofit/>
          </a:bodyPr>
          <a:lstStyle/>
          <a:p>
            <a:r>
              <a:rPr lang="en-GB" dirty="0"/>
              <a:t>The SMX schedules threads in groups of 32 parallel threads (</a:t>
            </a:r>
            <a:r>
              <a:rPr lang="en-GB" dirty="0">
                <a:solidFill>
                  <a:srgbClr val="F79646"/>
                </a:solidFill>
              </a:rPr>
              <a:t>warps</a:t>
            </a:r>
            <a:r>
              <a:rPr lang="en-GB" dirty="0"/>
              <a:t>). </a:t>
            </a:r>
          </a:p>
          <a:p>
            <a:pPr lvl="1"/>
            <a:r>
              <a:rPr lang="en-GB" dirty="0"/>
              <a:t>Each SMX features </a:t>
            </a:r>
            <a:r>
              <a:rPr lang="en-GB" dirty="0">
                <a:solidFill>
                  <a:srgbClr val="F79646"/>
                </a:solidFill>
              </a:rPr>
              <a:t>four warp schedulers </a:t>
            </a:r>
            <a:r>
              <a:rPr lang="en-GB" dirty="0"/>
              <a:t>and </a:t>
            </a:r>
            <a:r>
              <a:rPr lang="en-GB" dirty="0">
                <a:solidFill>
                  <a:srgbClr val="F79646"/>
                </a:solidFill>
              </a:rPr>
              <a:t>eight instruction dispatch units</a:t>
            </a:r>
            <a:r>
              <a:rPr lang="en-GB" dirty="0"/>
              <a:t>, allowing four warps to be issued and executed concurrently. </a:t>
            </a:r>
          </a:p>
          <a:p>
            <a:pPr lvl="1"/>
            <a:r>
              <a:rPr lang="en-GB" dirty="0" err="1"/>
              <a:t>Kepler’s</a:t>
            </a:r>
            <a:r>
              <a:rPr lang="en-GB" dirty="0"/>
              <a:t> quad warp scheduler selects four warps, and </a:t>
            </a:r>
            <a:r>
              <a:rPr lang="en-GB" u="sng" dirty="0"/>
              <a:t>two independent instructions per warp can be dispatched each cycle</a:t>
            </a:r>
            <a:r>
              <a:rPr lang="en-GB" dirty="0"/>
              <a:t>.</a:t>
            </a:r>
          </a:p>
          <a:p>
            <a:r>
              <a:rPr lang="en-GB" dirty="0"/>
              <a:t>Unlike Fermi, which did not permit double precision instructions to be paired with other instructions, </a:t>
            </a:r>
            <a:r>
              <a:rPr lang="en-GB" dirty="0" err="1"/>
              <a:t>Kepler</a:t>
            </a:r>
            <a:r>
              <a:rPr lang="en-GB" dirty="0"/>
              <a:t> GK110 allows double precision instructions to be paired with other instructions.</a:t>
            </a:r>
          </a:p>
        </p:txBody>
      </p:sp>
    </p:spTree>
    <p:extLst>
      <p:ext uri="{BB962C8B-B14F-4D97-AF65-F5344CB8AC3E}">
        <p14:creationId xmlns:p14="http://schemas.microsoft.com/office/powerpoint/2010/main" val="1513585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Fermi-</a:t>
            </a:r>
            <a:r>
              <a:rPr lang="en-GB" dirty="0" err="1"/>
              <a:t>Kepler</a:t>
            </a:r>
            <a:r>
              <a:rPr lang="en-GB" dirty="0"/>
              <a:t> comparison</a:t>
            </a:r>
          </a:p>
        </p:txBody>
      </p:sp>
      <p:pic>
        <p:nvPicPr>
          <p:cNvPr id="6" name="Imagen 5" descr="imagen.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4026" y="1617682"/>
            <a:ext cx="7165760" cy="4583929"/>
          </a:xfrm>
          <a:prstGeom prst="rect">
            <a:avLst/>
          </a:prstGeom>
        </p:spPr>
      </p:pic>
    </p:spTree>
    <p:extLst>
      <p:ext uri="{BB962C8B-B14F-4D97-AF65-F5344CB8AC3E}">
        <p14:creationId xmlns:p14="http://schemas.microsoft.com/office/powerpoint/2010/main" val="1214669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Maxwell	GM10x and GM20x</a:t>
            </a:r>
          </a:p>
        </p:txBody>
      </p:sp>
      <p:sp>
        <p:nvSpPr>
          <p:cNvPr id="3" name="Marcador de contenido 2"/>
          <p:cNvSpPr>
            <a:spLocks noGrp="1"/>
          </p:cNvSpPr>
          <p:nvPr>
            <p:ph idx="1"/>
          </p:nvPr>
        </p:nvSpPr>
        <p:spPr/>
        <p:txBody>
          <a:bodyPr/>
          <a:lstStyle/>
          <a:p>
            <a:r>
              <a:rPr lang="en-GB" dirty="0"/>
              <a:t>Maxwell </a:t>
            </a:r>
          </a:p>
          <a:p>
            <a:pPr lvl="1"/>
            <a:r>
              <a:rPr lang="en-GB" dirty="0"/>
              <a:t>First generation GM10x, and second generation GM20x.</a:t>
            </a:r>
          </a:p>
          <a:p>
            <a:pPr lvl="1"/>
            <a:r>
              <a:rPr lang="en-GB" dirty="0"/>
              <a:t>The Streaming Multiprocessor (SMM) up to 128 scalar processors (power of 2).</a:t>
            </a:r>
          </a:p>
          <a:p>
            <a:pPr lvl="1"/>
            <a:r>
              <a:rPr lang="en-GB" dirty="0"/>
              <a:t>Example: GTX Titan X: architecture GM200, 6 Graphics Processing Clusters with 4 SMM each: 3072 scalar processors.</a:t>
            </a:r>
          </a:p>
          <a:p>
            <a:pPr lvl="1"/>
            <a:r>
              <a:rPr lang="en-GB" dirty="0"/>
              <a:t>256KB to 3MB of L2.</a:t>
            </a:r>
          </a:p>
          <a:p>
            <a:pPr lvl="1"/>
            <a:r>
              <a:rPr lang="en-GB" dirty="0"/>
              <a:t>Up 12GB of GDDR5 memory.</a:t>
            </a:r>
          </a:p>
          <a:p>
            <a:pPr lvl="1"/>
            <a:r>
              <a:rPr lang="en-GB" dirty="0"/>
              <a:t>Clock cycle: ~1.0 GHz.</a:t>
            </a:r>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3440997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Pascal GP100 SM</a:t>
            </a:r>
          </a:p>
        </p:txBody>
      </p:sp>
      <p:pic>
        <p:nvPicPr>
          <p:cNvPr id="7" name="Imagen 6" descr="gp100s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2177" y="1601788"/>
            <a:ext cx="5859567" cy="4252912"/>
          </a:xfrm>
          <a:prstGeom prst="rect">
            <a:avLst/>
          </a:prstGeom>
        </p:spPr>
      </p:pic>
    </p:spTree>
    <p:extLst>
      <p:ext uri="{BB962C8B-B14F-4D97-AF65-F5344CB8AC3E}">
        <p14:creationId xmlns:p14="http://schemas.microsoft.com/office/powerpoint/2010/main" val="1301584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Pascal GP100 GPU</a:t>
            </a:r>
          </a:p>
        </p:txBody>
      </p:sp>
      <p:pic>
        <p:nvPicPr>
          <p:cNvPr id="3" name="Imagen 2" descr="pascalblock.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000" y="1417638"/>
            <a:ext cx="7874000" cy="4635500"/>
          </a:xfrm>
          <a:prstGeom prst="rect">
            <a:avLst/>
          </a:prstGeom>
        </p:spPr>
      </p:pic>
    </p:spTree>
    <p:extLst>
      <p:ext uri="{BB962C8B-B14F-4D97-AF65-F5344CB8AC3E}">
        <p14:creationId xmlns:p14="http://schemas.microsoft.com/office/powerpoint/2010/main" val="2543127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Pascal GP100</a:t>
            </a:r>
          </a:p>
        </p:txBody>
      </p:sp>
      <p:sp>
        <p:nvSpPr>
          <p:cNvPr id="4" name="Marcador de contenido 3"/>
          <p:cNvSpPr>
            <a:spLocks noGrp="1"/>
          </p:cNvSpPr>
          <p:nvPr>
            <p:ph idx="1"/>
          </p:nvPr>
        </p:nvSpPr>
        <p:spPr/>
        <p:txBody>
          <a:bodyPr>
            <a:normAutofit/>
          </a:bodyPr>
          <a:lstStyle/>
          <a:p>
            <a:r>
              <a:rPr lang="en-GB" dirty="0" err="1"/>
              <a:t>NVLink</a:t>
            </a:r>
            <a:r>
              <a:rPr lang="en-GB" dirty="0"/>
              <a:t>™</a:t>
            </a:r>
          </a:p>
          <a:p>
            <a:pPr lvl="1"/>
            <a:r>
              <a:rPr lang="en-GB" dirty="0"/>
              <a:t>NVIDIA’s new high speed, high bandwidth interconnect for maximum application scalability</a:t>
            </a:r>
          </a:p>
          <a:p>
            <a:r>
              <a:rPr lang="en-GB" dirty="0"/>
              <a:t>HBM2</a:t>
            </a:r>
          </a:p>
          <a:p>
            <a:pPr lvl="1"/>
            <a:r>
              <a:rPr lang="en-GB" dirty="0"/>
              <a:t>Fast, high capacity, extremely efficient </a:t>
            </a:r>
            <a:r>
              <a:rPr lang="en-GB" dirty="0" err="1"/>
              <a:t>CoWoS</a:t>
            </a:r>
            <a:r>
              <a:rPr lang="en-GB" dirty="0"/>
              <a:t> (Chip-on-Wafer-on-Substrate) stacked memory architecture</a:t>
            </a:r>
          </a:p>
          <a:p>
            <a:r>
              <a:rPr lang="en-GB" dirty="0"/>
              <a:t>Unified Memory</a:t>
            </a:r>
          </a:p>
          <a:p>
            <a:r>
              <a:rPr lang="en-GB" dirty="0"/>
              <a:t>16nm </a:t>
            </a:r>
            <a:r>
              <a:rPr lang="en-GB" dirty="0" err="1"/>
              <a:t>FinFET</a:t>
            </a:r>
            <a:endParaRPr lang="en-GB" dirty="0"/>
          </a:p>
          <a:p>
            <a:pPr lvl="1"/>
            <a:r>
              <a:rPr lang="en-GB" dirty="0"/>
              <a:t>Enables more features, higher performance, and improved power efficiency</a:t>
            </a:r>
          </a:p>
          <a:p>
            <a:r>
              <a:rPr lang="en-GB" dirty="0"/>
              <a:t>Performance</a:t>
            </a:r>
          </a:p>
          <a:p>
            <a:pPr lvl="1"/>
            <a:r>
              <a:rPr lang="en-GB" dirty="0"/>
              <a:t>5.3 TFLOPS of double precision floating point (FP64) performance</a:t>
            </a:r>
          </a:p>
          <a:p>
            <a:pPr lvl="1"/>
            <a:r>
              <a:rPr lang="en-GB" dirty="0"/>
              <a:t>10.6 TFLOPS of single precision (FP32) performance</a:t>
            </a:r>
          </a:p>
          <a:p>
            <a:pPr lvl="1"/>
            <a:r>
              <a:rPr lang="en-GB" dirty="0"/>
              <a:t>21.2 TFLOPS of half-precision (FP16) performance</a:t>
            </a:r>
          </a:p>
        </p:txBody>
      </p:sp>
    </p:spTree>
    <p:extLst>
      <p:ext uri="{BB962C8B-B14F-4D97-AF65-F5344CB8AC3E}">
        <p14:creationId xmlns:p14="http://schemas.microsoft.com/office/powerpoint/2010/main" val="21951458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Volta V100</a:t>
            </a:r>
          </a:p>
        </p:txBody>
      </p:sp>
      <p:sp>
        <p:nvSpPr>
          <p:cNvPr id="4" name="Marcador de contenido 3"/>
          <p:cNvSpPr>
            <a:spLocks noGrp="1"/>
          </p:cNvSpPr>
          <p:nvPr>
            <p:ph idx="1"/>
          </p:nvPr>
        </p:nvSpPr>
        <p:spPr/>
        <p:txBody>
          <a:bodyPr>
            <a:normAutofit/>
          </a:bodyPr>
          <a:lstStyle/>
          <a:p>
            <a:r>
              <a:rPr lang="en-GB" dirty="0"/>
              <a:t>12 GB HBM2</a:t>
            </a:r>
          </a:p>
          <a:p>
            <a:r>
              <a:rPr lang="en-GB" dirty="0"/>
              <a:t>5120 CUDA cores</a:t>
            </a:r>
          </a:p>
          <a:p>
            <a:pPr lvl="1"/>
            <a:r>
              <a:rPr lang="en-GB" dirty="0"/>
              <a:t>6 GPC</a:t>
            </a:r>
          </a:p>
          <a:p>
            <a:pPr lvl="1"/>
            <a:r>
              <a:rPr lang="en-GB" dirty="0"/>
              <a:t>80 SMs</a:t>
            </a:r>
          </a:p>
          <a:p>
            <a:r>
              <a:rPr lang="en-GB"/>
              <a:t>640 </a:t>
            </a:r>
            <a:r>
              <a:rPr lang="en-GB">
                <a:solidFill>
                  <a:srgbClr val="F79646"/>
                </a:solidFill>
                <a:effectLst>
                  <a:outerShdw blurRad="38100" dist="38100" dir="2700000" algn="tl" rotWithShape="0">
                    <a:schemeClr val="bg1">
                      <a:lumMod val="75000"/>
                      <a:alpha val="50000"/>
                    </a:schemeClr>
                  </a:outerShdw>
                </a:effectLst>
              </a:rPr>
              <a:t>Tensor </a:t>
            </a:r>
            <a:r>
              <a:rPr lang="en-GB" dirty="0">
                <a:solidFill>
                  <a:srgbClr val="F79646"/>
                </a:solidFill>
                <a:effectLst>
                  <a:outerShdw blurRad="38100" dist="38100" dir="2700000" algn="tl" rotWithShape="0">
                    <a:schemeClr val="bg1">
                      <a:lumMod val="75000"/>
                      <a:alpha val="50000"/>
                    </a:schemeClr>
                  </a:outerShdw>
                </a:effectLst>
              </a:rPr>
              <a:t>Cores </a:t>
            </a:r>
            <a:r>
              <a:rPr lang="en-GB" dirty="0"/>
              <a:t>(8 per SM).</a:t>
            </a:r>
          </a:p>
          <a:p>
            <a:r>
              <a:rPr lang="en-GB" dirty="0"/>
              <a:t>12nm </a:t>
            </a:r>
          </a:p>
          <a:p>
            <a:r>
              <a:rPr lang="en-GB" dirty="0"/>
              <a:t>Performance: </a:t>
            </a:r>
          </a:p>
          <a:p>
            <a:pPr lvl="1"/>
            <a:r>
              <a:rPr lang="en-GB" dirty="0"/>
              <a:t>7.8 </a:t>
            </a:r>
            <a:r>
              <a:rPr lang="en-GB" dirty="0" err="1"/>
              <a:t>teraFLOPS</a:t>
            </a:r>
            <a:r>
              <a:rPr lang="en-GB" dirty="0"/>
              <a:t> double-precision</a:t>
            </a:r>
          </a:p>
          <a:p>
            <a:pPr lvl="1"/>
            <a:r>
              <a:rPr lang="en-GB" dirty="0"/>
              <a:t>15.7 </a:t>
            </a:r>
            <a:r>
              <a:rPr lang="en-GB" dirty="0" err="1"/>
              <a:t>teraFLOPS</a:t>
            </a:r>
            <a:r>
              <a:rPr lang="en-GB" dirty="0"/>
              <a:t> single-precision</a:t>
            </a:r>
          </a:p>
          <a:p>
            <a:pPr lvl="1"/>
            <a:r>
              <a:rPr lang="en-GB" dirty="0"/>
              <a:t>125 </a:t>
            </a:r>
            <a:r>
              <a:rPr lang="en-GB" dirty="0" err="1"/>
              <a:t>teraFLOPS</a:t>
            </a:r>
            <a:r>
              <a:rPr lang="en-GB" dirty="0"/>
              <a:t> for Deep Learning.</a:t>
            </a:r>
          </a:p>
        </p:txBody>
      </p:sp>
    </p:spTree>
    <p:extLst>
      <p:ext uri="{BB962C8B-B14F-4D97-AF65-F5344CB8AC3E}">
        <p14:creationId xmlns:p14="http://schemas.microsoft.com/office/powerpoint/2010/main" val="2879125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Turing TU102</a:t>
            </a:r>
          </a:p>
        </p:txBody>
      </p:sp>
      <p:sp>
        <p:nvSpPr>
          <p:cNvPr id="4" name="Marcador de contenido 3"/>
          <p:cNvSpPr>
            <a:spLocks noGrp="1"/>
          </p:cNvSpPr>
          <p:nvPr>
            <p:ph idx="1"/>
          </p:nvPr>
        </p:nvSpPr>
        <p:spPr/>
        <p:txBody>
          <a:bodyPr>
            <a:normAutofit fontScale="92500" lnSpcReduction="10000"/>
          </a:bodyPr>
          <a:lstStyle/>
          <a:p>
            <a:r>
              <a:rPr lang="en-GB" dirty="0"/>
              <a:t> CUDA cores (SM, Streaming Multiprocessor)</a:t>
            </a:r>
          </a:p>
          <a:p>
            <a:pPr lvl="1"/>
            <a:r>
              <a:rPr lang="en-GB" dirty="0"/>
              <a:t>        Compute Capability 7.5</a:t>
            </a:r>
          </a:p>
          <a:p>
            <a:pPr lvl="1"/>
            <a:r>
              <a:rPr lang="en-GB" dirty="0"/>
              <a:t>        Traditional rasterized shaders and compute</a:t>
            </a:r>
          </a:p>
          <a:p>
            <a:pPr lvl="1"/>
            <a:r>
              <a:rPr lang="en-GB" dirty="0"/>
              <a:t>        Concurrent execution of integer and floating point operations</a:t>
            </a:r>
          </a:p>
          <a:p>
            <a:r>
              <a:rPr lang="en-GB" dirty="0"/>
              <a:t>    Ray-tracing (RT) cores</a:t>
            </a:r>
          </a:p>
          <a:p>
            <a:pPr lvl="1"/>
            <a:r>
              <a:rPr lang="en-GB" dirty="0"/>
              <a:t>        bounding volume hierarchy acceleration[6]</a:t>
            </a:r>
          </a:p>
          <a:p>
            <a:pPr lvl="1"/>
            <a:r>
              <a:rPr lang="en-GB" dirty="0"/>
              <a:t>        shadows, ambient occlusion, lighting, reflections</a:t>
            </a:r>
          </a:p>
          <a:p>
            <a:r>
              <a:rPr lang="en-GB" dirty="0"/>
              <a:t>    Tensor (AI) cores</a:t>
            </a:r>
          </a:p>
          <a:p>
            <a:pPr lvl="1"/>
            <a:r>
              <a:rPr lang="en-GB" dirty="0"/>
              <a:t>        Artificial intelligence</a:t>
            </a:r>
          </a:p>
          <a:p>
            <a:pPr lvl="1"/>
            <a:r>
              <a:rPr lang="en-GB" dirty="0"/>
              <a:t>        Large matrix operations</a:t>
            </a:r>
          </a:p>
          <a:p>
            <a:pPr lvl="1"/>
            <a:r>
              <a:rPr lang="en-GB" dirty="0"/>
              <a:t>        Deep Learning Super Sampling (DLSS)</a:t>
            </a:r>
          </a:p>
          <a:p>
            <a:r>
              <a:rPr lang="en-GB" dirty="0"/>
              <a:t>    Memory controller with GDDR6/HBM2 support</a:t>
            </a:r>
          </a:p>
          <a:p>
            <a:r>
              <a:rPr lang="en-GB" dirty="0"/>
              <a:t>    DisplayPort 1.4a with Display Stream Compression (DSC) 1.2</a:t>
            </a:r>
          </a:p>
          <a:p>
            <a:r>
              <a:rPr lang="en-GB" dirty="0"/>
              <a:t>    </a:t>
            </a:r>
            <a:r>
              <a:rPr lang="en-GB" dirty="0" err="1"/>
              <a:t>PureVideo</a:t>
            </a:r>
            <a:r>
              <a:rPr lang="en-GB" dirty="0"/>
              <a:t> Feature Set J hardware video decoding</a:t>
            </a:r>
          </a:p>
          <a:p>
            <a:r>
              <a:rPr lang="en-GB" dirty="0"/>
              <a:t>    …</a:t>
            </a:r>
          </a:p>
        </p:txBody>
      </p:sp>
    </p:spTree>
    <p:extLst>
      <p:ext uri="{BB962C8B-B14F-4D97-AF65-F5344CB8AC3E}">
        <p14:creationId xmlns:p14="http://schemas.microsoft.com/office/powerpoint/2010/main" val="3330737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Ampere GA100</a:t>
            </a:r>
          </a:p>
        </p:txBody>
      </p:sp>
      <p:sp>
        <p:nvSpPr>
          <p:cNvPr id="4" name="Marcador de contenido 3"/>
          <p:cNvSpPr>
            <a:spLocks noGrp="1"/>
          </p:cNvSpPr>
          <p:nvPr>
            <p:ph idx="1"/>
          </p:nvPr>
        </p:nvSpPr>
        <p:spPr/>
        <p:txBody>
          <a:bodyPr>
            <a:normAutofit/>
          </a:bodyPr>
          <a:lstStyle/>
          <a:p>
            <a:r>
              <a:rPr lang="en-GB" dirty="0" err="1"/>
              <a:t>Nuevas</a:t>
            </a:r>
            <a:r>
              <a:rPr lang="en-GB" dirty="0"/>
              <a:t> </a:t>
            </a:r>
            <a:r>
              <a:rPr lang="en-GB" dirty="0" err="1"/>
              <a:t>precisiones</a:t>
            </a:r>
            <a:r>
              <a:rPr lang="en-GB" dirty="0"/>
              <a:t> (</a:t>
            </a:r>
            <a:r>
              <a:rPr lang="en-GB" dirty="0">
                <a:hlinkClick r:id="rId2"/>
              </a:rPr>
              <a:t>Tensor Float (TF32)</a:t>
            </a:r>
            <a:r>
              <a:rPr lang="en-GB" dirty="0"/>
              <a:t> y coma </a:t>
            </a:r>
            <a:r>
              <a:rPr lang="en-GB" dirty="0" err="1"/>
              <a:t>flotante</a:t>
            </a:r>
            <a:r>
              <a:rPr lang="en-GB" dirty="0"/>
              <a:t> 64 (FP64)).</a:t>
            </a:r>
          </a:p>
          <a:p>
            <a:r>
              <a:rPr lang="en-GB" dirty="0" err="1"/>
              <a:t>Utilización</a:t>
            </a:r>
            <a:r>
              <a:rPr lang="en-GB" dirty="0"/>
              <a:t> de precision </a:t>
            </a:r>
            <a:r>
              <a:rPr lang="en-GB" dirty="0" err="1"/>
              <a:t>mixta</a:t>
            </a:r>
            <a:r>
              <a:rPr lang="en-GB" dirty="0"/>
              <a:t> y </a:t>
            </a:r>
            <a:r>
              <a:rPr lang="en-GB" dirty="0" err="1"/>
              <a:t>nuevos</a:t>
            </a:r>
            <a:r>
              <a:rPr lang="en-GB" dirty="0"/>
              <a:t> </a:t>
            </a:r>
            <a:r>
              <a:rPr lang="en-GB" dirty="0" err="1"/>
              <a:t>tipos</a:t>
            </a:r>
            <a:r>
              <a:rPr lang="en-GB" dirty="0"/>
              <a:t> de </a:t>
            </a:r>
            <a:r>
              <a:rPr lang="en-GB" dirty="0" err="1"/>
              <a:t>dato</a:t>
            </a:r>
            <a:r>
              <a:rPr lang="en-GB" dirty="0"/>
              <a:t> (FP16, bfloat16, int8 e int4).</a:t>
            </a:r>
          </a:p>
          <a:p>
            <a:r>
              <a:rPr lang="en-GB" dirty="0"/>
              <a:t>GPU </a:t>
            </a:r>
            <a:r>
              <a:rPr lang="en-GB" dirty="0" err="1"/>
              <a:t>multiinstancia</a:t>
            </a:r>
            <a:r>
              <a:rPr lang="en-GB" dirty="0"/>
              <a:t> (MIG).</a:t>
            </a:r>
          </a:p>
          <a:p>
            <a:r>
              <a:rPr lang="en-GB" dirty="0" err="1"/>
              <a:t>Tercera</a:t>
            </a:r>
            <a:r>
              <a:rPr lang="en-GB" dirty="0"/>
              <a:t> </a:t>
            </a:r>
            <a:r>
              <a:rPr lang="en-GB" dirty="0" err="1"/>
              <a:t>generación</a:t>
            </a:r>
            <a:r>
              <a:rPr lang="en-GB" dirty="0"/>
              <a:t> de NVIDIA® </a:t>
            </a:r>
            <a:r>
              <a:rPr lang="en-GB" dirty="0" err="1"/>
              <a:t>NVLink</a:t>
            </a:r>
            <a:r>
              <a:rPr lang="en-GB" dirty="0"/>
              <a:t>®: </a:t>
            </a:r>
            <a:r>
              <a:rPr lang="en-GB" dirty="0" err="1"/>
              <a:t>duplica</a:t>
            </a:r>
            <a:r>
              <a:rPr lang="en-GB" dirty="0"/>
              <a:t> el ancho de </a:t>
            </a:r>
            <a:r>
              <a:rPr lang="en-GB" dirty="0" err="1"/>
              <a:t>banda</a:t>
            </a:r>
            <a:r>
              <a:rPr lang="en-GB" dirty="0"/>
              <a:t> </a:t>
            </a:r>
            <a:r>
              <a:rPr lang="en-GB" dirty="0" err="1"/>
              <a:t>directo</a:t>
            </a:r>
            <a:r>
              <a:rPr lang="en-GB" dirty="0"/>
              <a:t> de GPU a GPU hasta 600 gigabytes por </a:t>
            </a:r>
            <a:r>
              <a:rPr lang="en-GB" dirty="0" err="1"/>
              <a:t>segundo</a:t>
            </a:r>
            <a:r>
              <a:rPr lang="en-GB" dirty="0"/>
              <a:t>.</a:t>
            </a:r>
          </a:p>
          <a:p>
            <a:r>
              <a:rPr lang="en-GB" dirty="0"/>
              <a:t>Ancho de </a:t>
            </a:r>
            <a:r>
              <a:rPr lang="en-GB" dirty="0" err="1"/>
              <a:t>banda</a:t>
            </a:r>
            <a:r>
              <a:rPr lang="en-GB" dirty="0"/>
              <a:t> de </a:t>
            </a:r>
            <a:r>
              <a:rPr lang="en-GB" dirty="0" err="1"/>
              <a:t>memoria</a:t>
            </a:r>
            <a:r>
              <a:rPr lang="en-GB" dirty="0"/>
              <a:t> de 2 terabytes por </a:t>
            </a:r>
            <a:r>
              <a:rPr lang="en-GB"/>
              <a:t>Segundo.</a:t>
            </a:r>
          </a:p>
          <a:p>
            <a:endParaRPr lang="en-GB" dirty="0"/>
          </a:p>
        </p:txBody>
      </p:sp>
    </p:spTree>
    <p:extLst>
      <p:ext uri="{BB962C8B-B14F-4D97-AF65-F5344CB8AC3E}">
        <p14:creationId xmlns:p14="http://schemas.microsoft.com/office/powerpoint/2010/main" val="2544521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A19D3-E5CB-1400-6EDE-3195760DC4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392328-2D5B-86E0-9A57-6B7A102AE9F2}"/>
              </a:ext>
            </a:extLst>
          </p:cNvPr>
          <p:cNvSpPr>
            <a:spLocks noGrp="1"/>
          </p:cNvSpPr>
          <p:nvPr>
            <p:ph type="title"/>
          </p:nvPr>
        </p:nvSpPr>
        <p:spPr/>
        <p:txBody>
          <a:bodyPr/>
          <a:lstStyle/>
          <a:p>
            <a:r>
              <a:rPr lang="en-GB" dirty="0"/>
              <a:t>GPUs </a:t>
            </a:r>
            <a:r>
              <a:rPr lang="en-GB" dirty="0" err="1"/>
              <a:t>actuales</a:t>
            </a:r>
            <a:endParaRPr lang="en-GB" dirty="0"/>
          </a:p>
        </p:txBody>
      </p:sp>
      <p:sp>
        <p:nvSpPr>
          <p:cNvPr id="4" name="Marcador de contenido 3">
            <a:extLst>
              <a:ext uri="{FF2B5EF4-FFF2-40B4-BE49-F238E27FC236}">
                <a16:creationId xmlns:a16="http://schemas.microsoft.com/office/drawing/2014/main" id="{5BBC1214-4E57-B88F-2139-BD3A9FC5AF87}"/>
              </a:ext>
            </a:extLst>
          </p:cNvPr>
          <p:cNvSpPr>
            <a:spLocks noGrp="1"/>
          </p:cNvSpPr>
          <p:nvPr>
            <p:ph idx="1"/>
          </p:nvPr>
        </p:nvSpPr>
        <p:spPr/>
        <p:txBody>
          <a:bodyPr>
            <a:normAutofit/>
          </a:bodyPr>
          <a:lstStyle/>
          <a:p>
            <a:r>
              <a:rPr lang="en-GB" dirty="0"/>
              <a:t>Ada Lovelace:</a:t>
            </a:r>
          </a:p>
          <a:p>
            <a:pPr lvl="1"/>
            <a:r>
              <a:rPr lang="en-GB" dirty="0"/>
              <a:t>Compute capability 8.9.</a:t>
            </a:r>
          </a:p>
          <a:p>
            <a:pPr lvl="1"/>
            <a:r>
              <a:rPr lang="en-GB" dirty="0"/>
              <a:t>4th-generation Tensor Cores with FP8, FP16, bfloat16, TensorFloat-32 (TF32)</a:t>
            </a:r>
          </a:p>
          <a:p>
            <a:r>
              <a:rPr lang="en-GB" dirty="0"/>
              <a:t>Hopper:</a:t>
            </a:r>
          </a:p>
          <a:p>
            <a:pPr lvl="1"/>
            <a:r>
              <a:rPr lang="en-GB" dirty="0"/>
              <a:t>Compute capability 9.</a:t>
            </a:r>
          </a:p>
          <a:p>
            <a:pPr lvl="1"/>
            <a:r>
              <a:rPr lang="en-GB" dirty="0"/>
              <a:t>First to implement the transformer engine. The transformer engine accelerates computations by dynamically reducing them from higher numerical precisions (i.e., FP16) to lower precisions that are faster to perform (i.e., FP8) when the loss in precision is deemed acceptable.</a:t>
            </a:r>
          </a:p>
          <a:p>
            <a:r>
              <a:rPr lang="en-GB" dirty="0"/>
              <a:t>Blackwell:</a:t>
            </a:r>
          </a:p>
          <a:p>
            <a:pPr lvl="1"/>
            <a:r>
              <a:rPr lang="en-GB" dirty="0"/>
              <a:t>CUDA Compute Capability 10.0 and Compute Capability 12.0 are added with Blackwell.</a:t>
            </a:r>
          </a:p>
          <a:p>
            <a:pPr lvl="1"/>
            <a:r>
              <a:rPr lang="en-GB" dirty="0"/>
              <a:t>Fifth-generation Tensor Cores for AI.</a:t>
            </a:r>
          </a:p>
          <a:p>
            <a:pPr lvl="1"/>
            <a:r>
              <a:rPr lang="en-GB" dirty="0"/>
              <a:t>Second-generation Transformer Engine.</a:t>
            </a:r>
          </a:p>
          <a:p>
            <a:pPr lvl="1"/>
            <a:r>
              <a:rPr lang="en-GB" dirty="0"/>
              <a:t>Support for MXFP4 and MXFP6.</a:t>
            </a:r>
          </a:p>
          <a:p>
            <a:endParaRPr lang="en-GB" dirty="0"/>
          </a:p>
        </p:txBody>
      </p:sp>
    </p:spTree>
    <p:extLst>
      <p:ext uri="{BB962C8B-B14F-4D97-AF65-F5344CB8AC3E}">
        <p14:creationId xmlns:p14="http://schemas.microsoft.com/office/powerpoint/2010/main" val="743360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D8E13-9ED2-BCAA-B2EB-B2CB6D1552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880844-0F4E-B423-F2A3-F5AFB456DDB0}"/>
              </a:ext>
            </a:extLst>
          </p:cNvPr>
          <p:cNvSpPr>
            <a:spLocks noGrp="1"/>
          </p:cNvSpPr>
          <p:nvPr>
            <p:ph type="title"/>
          </p:nvPr>
        </p:nvSpPr>
        <p:spPr/>
        <p:txBody>
          <a:bodyPr/>
          <a:lstStyle/>
          <a:p>
            <a:r>
              <a:rPr lang="en-GB" dirty="0" err="1"/>
              <a:t>Listado</a:t>
            </a:r>
            <a:r>
              <a:rPr lang="en-GB" dirty="0"/>
              <a:t> de GPUs y </a:t>
            </a:r>
            <a:r>
              <a:rPr lang="en-GB" dirty="0" err="1"/>
              <a:t>arquitecturas</a:t>
            </a:r>
            <a:endParaRPr lang="en-GB" dirty="0"/>
          </a:p>
        </p:txBody>
      </p:sp>
      <p:sp>
        <p:nvSpPr>
          <p:cNvPr id="4" name="Marcador de contenido 3">
            <a:extLst>
              <a:ext uri="{FF2B5EF4-FFF2-40B4-BE49-F238E27FC236}">
                <a16:creationId xmlns:a16="http://schemas.microsoft.com/office/drawing/2014/main" id="{A53660B6-7BDD-B91A-59B7-908E76C4ADE3}"/>
              </a:ext>
            </a:extLst>
          </p:cNvPr>
          <p:cNvSpPr>
            <a:spLocks noGrp="1"/>
          </p:cNvSpPr>
          <p:nvPr>
            <p:ph idx="1"/>
          </p:nvPr>
        </p:nvSpPr>
        <p:spPr/>
        <p:txBody>
          <a:bodyPr>
            <a:normAutofit/>
          </a:bodyPr>
          <a:lstStyle/>
          <a:p>
            <a:r>
              <a:rPr lang="en-GB" dirty="0">
                <a:hlinkClick r:id="rId2"/>
              </a:rPr>
              <a:t>Listado de GPUs y arquitecturas</a:t>
            </a:r>
            <a:r>
              <a:rPr lang="en-GB" dirty="0"/>
              <a:t> </a:t>
            </a:r>
            <a:r>
              <a:rPr lang="en-GB" dirty="0" err="1"/>
              <a:t>anteriores</a:t>
            </a:r>
            <a:r>
              <a:rPr lang="en-GB" dirty="0"/>
              <a:t>.</a:t>
            </a:r>
          </a:p>
          <a:p>
            <a:r>
              <a:rPr lang="en-GB" dirty="0">
                <a:hlinkClick r:id="rId3"/>
              </a:rPr>
              <a:t>Listado de productos GPU actuales</a:t>
            </a:r>
            <a:r>
              <a:rPr lang="en-GB" dirty="0"/>
              <a:t>.</a:t>
            </a:r>
          </a:p>
          <a:p>
            <a:r>
              <a:rPr lang="en-GB" dirty="0" err="1">
                <a:hlinkClick r:id="rId4"/>
              </a:rPr>
              <a:t>Características</a:t>
            </a:r>
            <a:r>
              <a:rPr lang="en-GB" dirty="0">
                <a:hlinkClick r:id="rId4"/>
              </a:rPr>
              <a:t> </a:t>
            </a:r>
            <a:r>
              <a:rPr lang="en-GB" dirty="0" err="1">
                <a:hlinkClick r:id="rId4"/>
              </a:rPr>
              <a:t>por</a:t>
            </a:r>
            <a:r>
              <a:rPr lang="en-GB" dirty="0">
                <a:hlinkClick r:id="rId4"/>
              </a:rPr>
              <a:t> </a:t>
            </a:r>
            <a:r>
              <a:rPr lang="en-GB" dirty="0" err="1">
                <a:hlinkClick r:id="rId4"/>
              </a:rPr>
              <a:t>capacidad</a:t>
            </a:r>
            <a:r>
              <a:rPr lang="en-GB" dirty="0">
                <a:hlinkClick r:id="rId4"/>
              </a:rPr>
              <a:t> </a:t>
            </a:r>
            <a:r>
              <a:rPr lang="en-GB" dirty="0" err="1">
                <a:hlinkClick r:id="rId4"/>
              </a:rPr>
              <a:t>computacional</a:t>
            </a:r>
            <a:r>
              <a:rPr lang="en-GB" dirty="0"/>
              <a:t>.</a:t>
            </a:r>
          </a:p>
        </p:txBody>
      </p:sp>
    </p:spTree>
    <p:extLst>
      <p:ext uri="{BB962C8B-B14F-4D97-AF65-F5344CB8AC3E}">
        <p14:creationId xmlns:p14="http://schemas.microsoft.com/office/powerpoint/2010/main" val="34711114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dirty="0"/>
              <a:t>Memory Hierarchy</a:t>
            </a:r>
          </a:p>
        </p:txBody>
      </p:sp>
      <p:sp>
        <p:nvSpPr>
          <p:cNvPr id="3" name="Marcador de contenido 2"/>
          <p:cNvSpPr>
            <a:spLocks noGrp="1"/>
          </p:cNvSpPr>
          <p:nvPr>
            <p:ph idx="1"/>
          </p:nvPr>
        </p:nvSpPr>
        <p:spPr/>
        <p:txBody>
          <a:bodyPr/>
          <a:lstStyle/>
          <a:p>
            <a:r>
              <a:rPr lang="en-GB" dirty="0"/>
              <a:t>CUDA threads may access data from multiple memory spaces during their execution.</a:t>
            </a:r>
          </a:p>
          <a:p>
            <a:r>
              <a:rPr lang="en-GB" dirty="0"/>
              <a:t>Each thread has private </a:t>
            </a:r>
            <a:r>
              <a:rPr lang="en-GB" dirty="0">
                <a:solidFill>
                  <a:srgbClr val="F79646"/>
                </a:solidFill>
                <a:effectLst>
                  <a:outerShdw blurRad="50800" dist="38100" dir="2700000" algn="tl" rotWithShape="0">
                    <a:srgbClr val="000000">
                      <a:alpha val="43000"/>
                    </a:srgbClr>
                  </a:outerShdw>
                </a:effectLst>
              </a:rPr>
              <a:t>local memory</a:t>
            </a:r>
            <a:r>
              <a:rPr lang="en-GB" dirty="0"/>
              <a:t>.</a:t>
            </a:r>
          </a:p>
          <a:p>
            <a:r>
              <a:rPr lang="en-GB" dirty="0"/>
              <a:t>Each thread block has </a:t>
            </a:r>
            <a:r>
              <a:rPr lang="en-GB" dirty="0">
                <a:solidFill>
                  <a:srgbClr val="F79646"/>
                </a:solidFill>
                <a:effectLst>
                  <a:outerShdw blurRad="50800" dist="38100" dir="2700000" algn="tl" rotWithShape="0">
                    <a:srgbClr val="000000">
                      <a:alpha val="43000"/>
                    </a:srgbClr>
                  </a:outerShdw>
                </a:effectLst>
              </a:rPr>
              <a:t>shared memory </a:t>
            </a:r>
            <a:r>
              <a:rPr lang="en-GB" dirty="0"/>
              <a:t>visible to all threads of the block and with the same lifetime as the block.</a:t>
            </a:r>
          </a:p>
          <a:p>
            <a:r>
              <a:rPr lang="en-GB" dirty="0"/>
              <a:t>All threads have access to the same </a:t>
            </a:r>
            <a:r>
              <a:rPr lang="en-GB" dirty="0">
                <a:solidFill>
                  <a:srgbClr val="F79646"/>
                </a:solidFill>
                <a:effectLst>
                  <a:outerShdw blurRad="50800" dist="38100" dir="2700000" algn="tl" rotWithShape="0">
                    <a:srgbClr val="000000">
                      <a:alpha val="43000"/>
                    </a:srgbClr>
                  </a:outerShdw>
                </a:effectLst>
              </a:rPr>
              <a:t>global memory</a:t>
            </a:r>
            <a:r>
              <a:rPr lang="en-GB" dirty="0"/>
              <a:t>.</a:t>
            </a:r>
          </a:p>
          <a:p>
            <a:r>
              <a:rPr lang="en-GB" dirty="0"/>
              <a:t>Two additional read-only memory spaces accessible by all threads: the </a:t>
            </a:r>
            <a:r>
              <a:rPr lang="en-GB" dirty="0">
                <a:solidFill>
                  <a:srgbClr val="F79646"/>
                </a:solidFill>
                <a:effectLst>
                  <a:outerShdw blurRad="50800" dist="38100" dir="2700000" algn="tl" rotWithShape="0">
                    <a:srgbClr val="000000">
                      <a:alpha val="43000"/>
                    </a:srgbClr>
                  </a:outerShdw>
                </a:effectLst>
              </a:rPr>
              <a:t>constant </a:t>
            </a:r>
            <a:r>
              <a:rPr lang="en-GB" dirty="0"/>
              <a:t>and </a:t>
            </a:r>
            <a:r>
              <a:rPr lang="en-GB" dirty="0">
                <a:solidFill>
                  <a:srgbClr val="F79646"/>
                </a:solidFill>
                <a:effectLst>
                  <a:outerShdw blurRad="50800" dist="38100" dir="2700000" algn="tl" rotWithShape="0">
                    <a:srgbClr val="000000">
                      <a:alpha val="43000"/>
                    </a:srgbClr>
                  </a:outerShdw>
                </a:effectLst>
              </a:rPr>
              <a:t>texture memory</a:t>
            </a:r>
            <a:r>
              <a:rPr lang="en-GB" dirty="0"/>
              <a:t> spaces.</a:t>
            </a:r>
          </a:p>
          <a:p>
            <a:r>
              <a:rPr lang="en-GB" dirty="0"/>
              <a:t>The global, constant, and texture memory spaces are </a:t>
            </a:r>
            <a:r>
              <a:rPr lang="en-GB" dirty="0">
                <a:solidFill>
                  <a:srgbClr val="F79646"/>
                </a:solidFill>
                <a:effectLst>
                  <a:outerShdw blurRad="50800" dist="38100" dir="2700000" algn="tl" rotWithShape="0">
                    <a:srgbClr val="000000">
                      <a:alpha val="43000"/>
                    </a:srgbClr>
                  </a:outerShdw>
                </a:effectLst>
              </a:rPr>
              <a:t>persistent</a:t>
            </a:r>
            <a:r>
              <a:rPr lang="en-GB" dirty="0">
                <a:effectLst>
                  <a:outerShdw blurRad="50800" dist="38100" dir="2700000" algn="tl" rotWithShape="0">
                    <a:srgbClr val="000000">
                      <a:alpha val="43000"/>
                    </a:srgbClr>
                  </a:outerShdw>
                </a:effectLst>
              </a:rPr>
              <a:t> </a:t>
            </a:r>
            <a:r>
              <a:rPr lang="en-GB" dirty="0"/>
              <a:t>across kernel launches by the same application.</a:t>
            </a:r>
          </a:p>
        </p:txBody>
      </p:sp>
    </p:spTree>
    <p:extLst>
      <p:ext uri="{BB962C8B-B14F-4D97-AF65-F5344CB8AC3E}">
        <p14:creationId xmlns:p14="http://schemas.microsoft.com/office/powerpoint/2010/main" val="3257151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67 Rectángulo"/>
          <p:cNvSpPr/>
          <p:nvPr/>
        </p:nvSpPr>
        <p:spPr>
          <a:xfrm>
            <a:off x="1115616" y="4149080"/>
            <a:ext cx="3955157" cy="857225"/>
          </a:xfrm>
          <a:prstGeom prst="rect">
            <a:avLst/>
          </a:prstGeom>
          <a:solidFill>
            <a:schemeClr val="l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title"/>
          </p:nvPr>
        </p:nvSpPr>
        <p:spPr/>
        <p:txBody>
          <a:bodyPr/>
          <a:lstStyle/>
          <a:p>
            <a:r>
              <a:rPr lang="en-GB" dirty="0"/>
              <a:t>Memory Hierarchy</a:t>
            </a:r>
          </a:p>
        </p:txBody>
      </p:sp>
      <p:sp>
        <p:nvSpPr>
          <p:cNvPr id="9" name="8 Rectángulo redondeado"/>
          <p:cNvSpPr/>
          <p:nvPr/>
        </p:nvSpPr>
        <p:spPr>
          <a:xfrm>
            <a:off x="5940152" y="1700808"/>
            <a:ext cx="2016224" cy="62636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400" dirty="0" err="1">
                <a:latin typeface="Century" pitchFamily="18" charset="0"/>
              </a:rPr>
              <a:t>Thread</a:t>
            </a:r>
            <a:r>
              <a:rPr lang="es-ES" sz="1400" dirty="0">
                <a:latin typeface="Century" pitchFamily="18" charset="0"/>
              </a:rPr>
              <a:t> </a:t>
            </a:r>
            <a:r>
              <a:rPr lang="es-ES" sz="1400" dirty="0" err="1">
                <a:latin typeface="Century" pitchFamily="18" charset="0"/>
              </a:rPr>
              <a:t>memory</a:t>
            </a:r>
            <a:r>
              <a:rPr lang="es-ES" sz="1400" dirty="0">
                <a:latin typeface="Century" pitchFamily="18" charset="0"/>
              </a:rPr>
              <a:t> </a:t>
            </a:r>
          </a:p>
          <a:p>
            <a:pPr algn="ctr"/>
            <a:r>
              <a:rPr lang="es-ES" sz="1400" dirty="0">
                <a:solidFill>
                  <a:srgbClr val="FFC000"/>
                </a:solidFill>
                <a:latin typeface="Century" pitchFamily="18" charset="0"/>
              </a:rPr>
              <a:t>Local </a:t>
            </a:r>
            <a:r>
              <a:rPr lang="es-ES" sz="1400" dirty="0" err="1">
                <a:solidFill>
                  <a:srgbClr val="FFC000"/>
                </a:solidFill>
                <a:latin typeface="Century" pitchFamily="18" charset="0"/>
              </a:rPr>
              <a:t>memory</a:t>
            </a:r>
            <a:endParaRPr lang="es-ES" sz="1400" dirty="0">
              <a:solidFill>
                <a:srgbClr val="FFC000"/>
              </a:solidFill>
              <a:latin typeface="Century" pitchFamily="18" charset="0"/>
            </a:endParaRPr>
          </a:p>
        </p:txBody>
      </p:sp>
      <p:sp>
        <p:nvSpPr>
          <p:cNvPr id="10" name="9 Rectángulo redondeado"/>
          <p:cNvSpPr/>
          <p:nvPr/>
        </p:nvSpPr>
        <p:spPr>
          <a:xfrm>
            <a:off x="5940152" y="2996952"/>
            <a:ext cx="2016224" cy="720080"/>
          </a:xfrm>
          <a:prstGeom prst="roundRect">
            <a:avLst/>
          </a:prstGeom>
          <a:ln w="3175"/>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400" dirty="0">
                <a:latin typeface="Century" pitchFamily="18" charset="0"/>
              </a:rPr>
              <a:t>Block </a:t>
            </a:r>
            <a:r>
              <a:rPr lang="es-ES" sz="1400" dirty="0" err="1">
                <a:latin typeface="Century" pitchFamily="18" charset="0"/>
              </a:rPr>
              <a:t>memory</a:t>
            </a:r>
            <a:endParaRPr lang="es-ES" sz="1400" dirty="0">
              <a:latin typeface="Century" pitchFamily="18" charset="0"/>
            </a:endParaRPr>
          </a:p>
          <a:p>
            <a:pPr algn="ctr"/>
            <a:r>
              <a:rPr lang="es-ES" sz="1400" dirty="0" err="1">
                <a:solidFill>
                  <a:srgbClr val="FFC000"/>
                </a:solidFill>
                <a:latin typeface="Century" pitchFamily="18" charset="0"/>
              </a:rPr>
              <a:t>Shared</a:t>
            </a:r>
            <a:r>
              <a:rPr lang="es-ES" sz="1400" dirty="0">
                <a:solidFill>
                  <a:srgbClr val="FFC000"/>
                </a:solidFill>
                <a:latin typeface="Century" pitchFamily="18" charset="0"/>
              </a:rPr>
              <a:t> </a:t>
            </a:r>
            <a:r>
              <a:rPr lang="es-ES" sz="1400" dirty="0" err="1">
                <a:solidFill>
                  <a:srgbClr val="FFC000"/>
                </a:solidFill>
                <a:latin typeface="Century" pitchFamily="18" charset="0"/>
              </a:rPr>
              <a:t>memory</a:t>
            </a:r>
            <a:endParaRPr lang="es-ES" sz="1400" dirty="0">
              <a:solidFill>
                <a:srgbClr val="FFC000"/>
              </a:solidFill>
              <a:latin typeface="Century" pitchFamily="18" charset="0"/>
            </a:endParaRPr>
          </a:p>
        </p:txBody>
      </p:sp>
      <p:sp>
        <p:nvSpPr>
          <p:cNvPr id="11" name="10 Rectángulo redondeado"/>
          <p:cNvSpPr/>
          <p:nvPr/>
        </p:nvSpPr>
        <p:spPr>
          <a:xfrm>
            <a:off x="5940152" y="4149080"/>
            <a:ext cx="2006104" cy="2016224"/>
          </a:xfrm>
          <a:prstGeom prst="roundRect">
            <a:avLst>
              <a:gd name="adj"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400" dirty="0" err="1">
                <a:latin typeface="Century" pitchFamily="18" charset="0"/>
              </a:rPr>
              <a:t>Device</a:t>
            </a:r>
            <a:r>
              <a:rPr lang="es-ES" sz="1400" dirty="0">
                <a:latin typeface="Century" pitchFamily="18" charset="0"/>
              </a:rPr>
              <a:t> </a:t>
            </a:r>
            <a:r>
              <a:rPr lang="es-ES" sz="1400" dirty="0" err="1">
                <a:latin typeface="Century" pitchFamily="18" charset="0"/>
              </a:rPr>
              <a:t>memory</a:t>
            </a:r>
            <a:endParaRPr lang="es-ES" sz="1400" dirty="0">
              <a:latin typeface="Century" pitchFamily="18" charset="0"/>
            </a:endParaRPr>
          </a:p>
          <a:p>
            <a:pPr algn="ctr"/>
            <a:r>
              <a:rPr lang="es-ES" sz="1400" dirty="0">
                <a:solidFill>
                  <a:srgbClr val="FFC000"/>
                </a:solidFill>
                <a:latin typeface="Century" pitchFamily="18" charset="0"/>
              </a:rPr>
              <a:t>Global </a:t>
            </a:r>
            <a:r>
              <a:rPr lang="es-ES" sz="1400" dirty="0" err="1">
                <a:solidFill>
                  <a:srgbClr val="FFC000"/>
                </a:solidFill>
                <a:latin typeface="Century" pitchFamily="18" charset="0"/>
              </a:rPr>
              <a:t>memory</a:t>
            </a:r>
            <a:endParaRPr lang="es-ES" sz="1400" dirty="0">
              <a:solidFill>
                <a:srgbClr val="FFC000"/>
              </a:solidFill>
              <a:latin typeface="Century" pitchFamily="18" charset="0"/>
            </a:endParaRPr>
          </a:p>
        </p:txBody>
      </p:sp>
      <p:sp>
        <p:nvSpPr>
          <p:cNvPr id="12" name="11 CuadroTexto"/>
          <p:cNvSpPr txBox="1"/>
          <p:nvPr/>
        </p:nvSpPr>
        <p:spPr>
          <a:xfrm>
            <a:off x="4247438" y="1375517"/>
            <a:ext cx="802697" cy="307777"/>
          </a:xfrm>
          <a:prstGeom prst="rect">
            <a:avLst/>
          </a:prstGeom>
          <a:noFill/>
        </p:spPr>
        <p:txBody>
          <a:bodyPr wrap="square" rtlCol="0">
            <a:spAutoFit/>
          </a:bodyPr>
          <a:lstStyle/>
          <a:p>
            <a:r>
              <a:rPr lang="es-ES" sz="1400" dirty="0" err="1">
                <a:latin typeface="Century" pitchFamily="18" charset="0"/>
              </a:rPr>
              <a:t>Thread</a:t>
            </a:r>
            <a:endParaRPr lang="es-ES" sz="1400" dirty="0">
              <a:latin typeface="Century" pitchFamily="18" charset="0"/>
            </a:endParaRPr>
          </a:p>
        </p:txBody>
      </p:sp>
      <p:sp>
        <p:nvSpPr>
          <p:cNvPr id="20" name="19 Forma libre"/>
          <p:cNvSpPr/>
          <p:nvPr/>
        </p:nvSpPr>
        <p:spPr>
          <a:xfrm>
            <a:off x="4601018" y="1731406"/>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grpSp>
        <p:nvGrpSpPr>
          <p:cNvPr id="30" name="29 Grupo"/>
          <p:cNvGrpSpPr/>
          <p:nvPr/>
        </p:nvGrpSpPr>
        <p:grpSpPr>
          <a:xfrm>
            <a:off x="4297660" y="2965327"/>
            <a:ext cx="790575" cy="742950"/>
            <a:chOff x="2857500" y="3181351"/>
            <a:chExt cx="790575" cy="742950"/>
          </a:xfrm>
        </p:grpSpPr>
        <p:sp>
          <p:nvSpPr>
            <p:cNvPr id="28" name="27 Rectángulo"/>
            <p:cNvSpPr/>
            <p:nvPr/>
          </p:nvSpPr>
          <p:spPr>
            <a:xfrm>
              <a:off x="2857500" y="3181351"/>
              <a:ext cx="790575" cy="742950"/>
            </a:xfrm>
            <a:prstGeom prst="rect">
              <a:avLst/>
            </a:prstGeom>
            <a:gradFill>
              <a:gsLst>
                <a:gs pos="35000">
                  <a:schemeClr val="dk1">
                    <a:tint val="37000"/>
                    <a:satMod val="300000"/>
                    <a:alpha val="0"/>
                  </a:schemeClr>
                </a:gs>
                <a:gs pos="100000">
                  <a:schemeClr val="dk1">
                    <a:tint val="15000"/>
                    <a:satMod val="350000"/>
                  </a:schemeClr>
                </a:gs>
              </a:gsLst>
            </a:gra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21" name="20 Forma libre"/>
            <p:cNvSpPr/>
            <p:nvPr/>
          </p:nvSpPr>
          <p:spPr>
            <a:xfrm>
              <a:off x="29374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22" name="21 Forma libre"/>
            <p:cNvSpPr/>
            <p:nvPr/>
          </p:nvSpPr>
          <p:spPr>
            <a:xfrm>
              <a:off x="3020581"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23" name="22 Forma libre"/>
            <p:cNvSpPr/>
            <p:nvPr/>
          </p:nvSpPr>
          <p:spPr>
            <a:xfrm>
              <a:off x="3103708"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24" name="23 Forma libre"/>
            <p:cNvSpPr/>
            <p:nvPr/>
          </p:nvSpPr>
          <p:spPr>
            <a:xfrm>
              <a:off x="319679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25" name="24 Forma libre"/>
            <p:cNvSpPr/>
            <p:nvPr/>
          </p:nvSpPr>
          <p:spPr>
            <a:xfrm>
              <a:off x="32803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26" name="25 Forma libre"/>
            <p:cNvSpPr/>
            <p:nvPr/>
          </p:nvSpPr>
          <p:spPr>
            <a:xfrm>
              <a:off x="336824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27" name="26 Forma libre"/>
            <p:cNvSpPr/>
            <p:nvPr/>
          </p:nvSpPr>
          <p:spPr>
            <a:xfrm>
              <a:off x="3444444" y="3276167"/>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grpSp>
      <p:sp>
        <p:nvSpPr>
          <p:cNvPr id="29" name="28 CuadroTexto"/>
          <p:cNvSpPr txBox="1"/>
          <p:nvPr/>
        </p:nvSpPr>
        <p:spPr>
          <a:xfrm>
            <a:off x="4333163" y="2594717"/>
            <a:ext cx="688397" cy="307777"/>
          </a:xfrm>
          <a:prstGeom prst="rect">
            <a:avLst/>
          </a:prstGeom>
          <a:noFill/>
        </p:spPr>
        <p:txBody>
          <a:bodyPr wrap="square" rtlCol="0">
            <a:spAutoFit/>
          </a:bodyPr>
          <a:lstStyle/>
          <a:p>
            <a:r>
              <a:rPr lang="es-ES" sz="1400" dirty="0">
                <a:latin typeface="Century" pitchFamily="18" charset="0"/>
              </a:rPr>
              <a:t>Block</a:t>
            </a:r>
          </a:p>
        </p:txBody>
      </p:sp>
      <p:grpSp>
        <p:nvGrpSpPr>
          <p:cNvPr id="31" name="30 Grupo"/>
          <p:cNvGrpSpPr/>
          <p:nvPr/>
        </p:nvGrpSpPr>
        <p:grpSpPr>
          <a:xfrm>
            <a:off x="1182341" y="4214217"/>
            <a:ext cx="790575" cy="742950"/>
            <a:chOff x="2857500" y="3181351"/>
            <a:chExt cx="790575" cy="742950"/>
          </a:xfrm>
        </p:grpSpPr>
        <p:sp>
          <p:nvSpPr>
            <p:cNvPr id="32" name="31 Rectángulo"/>
            <p:cNvSpPr/>
            <p:nvPr/>
          </p:nvSpPr>
          <p:spPr>
            <a:xfrm>
              <a:off x="2857500" y="3181351"/>
              <a:ext cx="790575" cy="742950"/>
            </a:xfrm>
            <a:prstGeom prst="rect">
              <a:avLst/>
            </a:prstGeom>
            <a:gradFill>
              <a:gsLst>
                <a:gs pos="35000">
                  <a:schemeClr val="dk1">
                    <a:tint val="37000"/>
                    <a:satMod val="300000"/>
                    <a:alpha val="0"/>
                  </a:schemeClr>
                </a:gs>
                <a:gs pos="100000">
                  <a:schemeClr val="dk1">
                    <a:tint val="15000"/>
                    <a:satMod val="350000"/>
                  </a:schemeClr>
                </a:gs>
              </a:gsLst>
            </a:gra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33" name="32 Forma libre"/>
            <p:cNvSpPr/>
            <p:nvPr/>
          </p:nvSpPr>
          <p:spPr>
            <a:xfrm>
              <a:off x="29374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34" name="33 Forma libre"/>
            <p:cNvSpPr/>
            <p:nvPr/>
          </p:nvSpPr>
          <p:spPr>
            <a:xfrm>
              <a:off x="3020581"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35" name="34 Forma libre"/>
            <p:cNvSpPr/>
            <p:nvPr/>
          </p:nvSpPr>
          <p:spPr>
            <a:xfrm>
              <a:off x="3103708"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36" name="35 Forma libre"/>
            <p:cNvSpPr/>
            <p:nvPr/>
          </p:nvSpPr>
          <p:spPr>
            <a:xfrm>
              <a:off x="319679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37" name="36 Forma libre"/>
            <p:cNvSpPr/>
            <p:nvPr/>
          </p:nvSpPr>
          <p:spPr>
            <a:xfrm>
              <a:off x="32803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38" name="37 Forma libre"/>
            <p:cNvSpPr/>
            <p:nvPr/>
          </p:nvSpPr>
          <p:spPr>
            <a:xfrm>
              <a:off x="336824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39" name="38 Forma libre"/>
            <p:cNvSpPr/>
            <p:nvPr/>
          </p:nvSpPr>
          <p:spPr>
            <a:xfrm>
              <a:off x="3444444" y="3276167"/>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grpSp>
      <p:grpSp>
        <p:nvGrpSpPr>
          <p:cNvPr id="40" name="39 Grupo"/>
          <p:cNvGrpSpPr/>
          <p:nvPr/>
        </p:nvGrpSpPr>
        <p:grpSpPr>
          <a:xfrm>
            <a:off x="2046437" y="4214217"/>
            <a:ext cx="790575" cy="742950"/>
            <a:chOff x="2857500" y="3181351"/>
            <a:chExt cx="790575" cy="742950"/>
          </a:xfrm>
        </p:grpSpPr>
        <p:sp>
          <p:nvSpPr>
            <p:cNvPr id="41" name="40 Rectángulo"/>
            <p:cNvSpPr/>
            <p:nvPr/>
          </p:nvSpPr>
          <p:spPr>
            <a:xfrm>
              <a:off x="2857500" y="3181351"/>
              <a:ext cx="790575" cy="742950"/>
            </a:xfrm>
            <a:prstGeom prst="rect">
              <a:avLst/>
            </a:prstGeom>
            <a:gradFill>
              <a:gsLst>
                <a:gs pos="35000">
                  <a:schemeClr val="dk1">
                    <a:tint val="37000"/>
                    <a:satMod val="300000"/>
                    <a:alpha val="0"/>
                  </a:schemeClr>
                </a:gs>
                <a:gs pos="100000">
                  <a:schemeClr val="dk1">
                    <a:tint val="15000"/>
                    <a:satMod val="350000"/>
                  </a:schemeClr>
                </a:gs>
              </a:gsLst>
            </a:gra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42" name="41 Forma libre"/>
            <p:cNvSpPr/>
            <p:nvPr/>
          </p:nvSpPr>
          <p:spPr>
            <a:xfrm>
              <a:off x="29374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43" name="42 Forma libre"/>
            <p:cNvSpPr/>
            <p:nvPr/>
          </p:nvSpPr>
          <p:spPr>
            <a:xfrm>
              <a:off x="3020581"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44" name="43 Forma libre"/>
            <p:cNvSpPr/>
            <p:nvPr/>
          </p:nvSpPr>
          <p:spPr>
            <a:xfrm>
              <a:off x="3103708"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45" name="44 Forma libre"/>
            <p:cNvSpPr/>
            <p:nvPr/>
          </p:nvSpPr>
          <p:spPr>
            <a:xfrm>
              <a:off x="319679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46" name="45 Forma libre"/>
            <p:cNvSpPr/>
            <p:nvPr/>
          </p:nvSpPr>
          <p:spPr>
            <a:xfrm>
              <a:off x="32803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47" name="46 Forma libre"/>
            <p:cNvSpPr/>
            <p:nvPr/>
          </p:nvSpPr>
          <p:spPr>
            <a:xfrm>
              <a:off x="336824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48" name="47 Forma libre"/>
            <p:cNvSpPr/>
            <p:nvPr/>
          </p:nvSpPr>
          <p:spPr>
            <a:xfrm>
              <a:off x="3444444" y="3276167"/>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grpSp>
      <p:grpSp>
        <p:nvGrpSpPr>
          <p:cNvPr id="49" name="48 Grupo"/>
          <p:cNvGrpSpPr/>
          <p:nvPr/>
        </p:nvGrpSpPr>
        <p:grpSpPr>
          <a:xfrm>
            <a:off x="2910533" y="4214217"/>
            <a:ext cx="790575" cy="742950"/>
            <a:chOff x="2857500" y="3181351"/>
            <a:chExt cx="790575" cy="742950"/>
          </a:xfrm>
        </p:grpSpPr>
        <p:sp>
          <p:nvSpPr>
            <p:cNvPr id="50" name="49 Rectángulo"/>
            <p:cNvSpPr/>
            <p:nvPr/>
          </p:nvSpPr>
          <p:spPr>
            <a:xfrm>
              <a:off x="2857500" y="3181351"/>
              <a:ext cx="790575" cy="742950"/>
            </a:xfrm>
            <a:prstGeom prst="rect">
              <a:avLst/>
            </a:prstGeom>
            <a:gradFill>
              <a:gsLst>
                <a:gs pos="35000">
                  <a:schemeClr val="dk1">
                    <a:tint val="37000"/>
                    <a:satMod val="300000"/>
                    <a:alpha val="0"/>
                  </a:schemeClr>
                </a:gs>
                <a:gs pos="100000">
                  <a:schemeClr val="dk1">
                    <a:tint val="15000"/>
                    <a:satMod val="350000"/>
                  </a:schemeClr>
                </a:gs>
              </a:gsLst>
            </a:gra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51" name="50 Forma libre"/>
            <p:cNvSpPr/>
            <p:nvPr/>
          </p:nvSpPr>
          <p:spPr>
            <a:xfrm>
              <a:off x="29374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52" name="51 Forma libre"/>
            <p:cNvSpPr/>
            <p:nvPr/>
          </p:nvSpPr>
          <p:spPr>
            <a:xfrm>
              <a:off x="3020581"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53" name="52 Forma libre"/>
            <p:cNvSpPr/>
            <p:nvPr/>
          </p:nvSpPr>
          <p:spPr>
            <a:xfrm>
              <a:off x="3103708"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54" name="53 Forma libre"/>
            <p:cNvSpPr/>
            <p:nvPr/>
          </p:nvSpPr>
          <p:spPr>
            <a:xfrm>
              <a:off x="319679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55" name="54 Forma libre"/>
            <p:cNvSpPr/>
            <p:nvPr/>
          </p:nvSpPr>
          <p:spPr>
            <a:xfrm>
              <a:off x="32803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56" name="55 Forma libre"/>
            <p:cNvSpPr/>
            <p:nvPr/>
          </p:nvSpPr>
          <p:spPr>
            <a:xfrm>
              <a:off x="336824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57" name="56 Forma libre"/>
            <p:cNvSpPr/>
            <p:nvPr/>
          </p:nvSpPr>
          <p:spPr>
            <a:xfrm>
              <a:off x="3444444" y="3276167"/>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grpSp>
      <p:grpSp>
        <p:nvGrpSpPr>
          <p:cNvPr id="58" name="57 Grupo"/>
          <p:cNvGrpSpPr/>
          <p:nvPr/>
        </p:nvGrpSpPr>
        <p:grpSpPr>
          <a:xfrm>
            <a:off x="4206677" y="4214217"/>
            <a:ext cx="790575" cy="742950"/>
            <a:chOff x="2857500" y="3181351"/>
            <a:chExt cx="790575" cy="742950"/>
          </a:xfrm>
        </p:grpSpPr>
        <p:sp>
          <p:nvSpPr>
            <p:cNvPr id="59" name="58 Rectángulo"/>
            <p:cNvSpPr/>
            <p:nvPr/>
          </p:nvSpPr>
          <p:spPr>
            <a:xfrm>
              <a:off x="2857500" y="3181351"/>
              <a:ext cx="790575" cy="742950"/>
            </a:xfrm>
            <a:prstGeom prst="rect">
              <a:avLst/>
            </a:prstGeom>
            <a:gradFill>
              <a:gsLst>
                <a:gs pos="35000">
                  <a:schemeClr val="dk1">
                    <a:tint val="37000"/>
                    <a:satMod val="300000"/>
                    <a:alpha val="0"/>
                  </a:schemeClr>
                </a:gs>
                <a:gs pos="100000">
                  <a:schemeClr val="dk1">
                    <a:tint val="15000"/>
                    <a:satMod val="350000"/>
                  </a:schemeClr>
                </a:gs>
              </a:gsLst>
            </a:gra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60" name="59 Forma libre"/>
            <p:cNvSpPr/>
            <p:nvPr/>
          </p:nvSpPr>
          <p:spPr>
            <a:xfrm>
              <a:off x="29374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61" name="60 Forma libre"/>
            <p:cNvSpPr/>
            <p:nvPr/>
          </p:nvSpPr>
          <p:spPr>
            <a:xfrm>
              <a:off x="3020581"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62" name="61 Forma libre"/>
            <p:cNvSpPr/>
            <p:nvPr/>
          </p:nvSpPr>
          <p:spPr>
            <a:xfrm>
              <a:off x="3103708"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63" name="62 Forma libre"/>
            <p:cNvSpPr/>
            <p:nvPr/>
          </p:nvSpPr>
          <p:spPr>
            <a:xfrm>
              <a:off x="319679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64" name="63 Forma libre"/>
            <p:cNvSpPr/>
            <p:nvPr/>
          </p:nvSpPr>
          <p:spPr>
            <a:xfrm>
              <a:off x="32803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65" name="64 Forma libre"/>
            <p:cNvSpPr/>
            <p:nvPr/>
          </p:nvSpPr>
          <p:spPr>
            <a:xfrm>
              <a:off x="336824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66" name="65 Forma libre"/>
            <p:cNvSpPr/>
            <p:nvPr/>
          </p:nvSpPr>
          <p:spPr>
            <a:xfrm>
              <a:off x="3444444" y="3276167"/>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grpSp>
      <p:sp>
        <p:nvSpPr>
          <p:cNvPr id="67" name="66 CuadroTexto"/>
          <p:cNvSpPr txBox="1"/>
          <p:nvPr/>
        </p:nvSpPr>
        <p:spPr>
          <a:xfrm>
            <a:off x="3774629" y="4358233"/>
            <a:ext cx="285378" cy="369332"/>
          </a:xfrm>
          <a:prstGeom prst="rect">
            <a:avLst/>
          </a:prstGeom>
          <a:noFill/>
        </p:spPr>
        <p:txBody>
          <a:bodyPr wrap="square" rtlCol="0">
            <a:spAutoFit/>
          </a:bodyPr>
          <a:lstStyle/>
          <a:p>
            <a:r>
              <a:rPr lang="es-ES" dirty="0"/>
              <a:t>…</a:t>
            </a:r>
          </a:p>
        </p:txBody>
      </p:sp>
      <p:sp>
        <p:nvSpPr>
          <p:cNvPr id="69" name="68 CuadroTexto"/>
          <p:cNvSpPr txBox="1"/>
          <p:nvPr/>
        </p:nvSpPr>
        <p:spPr>
          <a:xfrm>
            <a:off x="1110333" y="3854177"/>
            <a:ext cx="1008112" cy="307777"/>
          </a:xfrm>
          <a:prstGeom prst="rect">
            <a:avLst/>
          </a:prstGeom>
          <a:noFill/>
        </p:spPr>
        <p:txBody>
          <a:bodyPr wrap="square" rtlCol="0">
            <a:spAutoFit/>
          </a:bodyPr>
          <a:lstStyle/>
          <a:p>
            <a:r>
              <a:rPr lang="es-ES" sz="1400" dirty="0" err="1">
                <a:latin typeface="Century" pitchFamily="18" charset="0"/>
              </a:rPr>
              <a:t>Kernel</a:t>
            </a:r>
            <a:r>
              <a:rPr lang="es-ES" sz="1400" dirty="0">
                <a:latin typeface="Century" pitchFamily="18" charset="0"/>
              </a:rPr>
              <a:t> A</a:t>
            </a:r>
          </a:p>
        </p:txBody>
      </p:sp>
      <p:sp>
        <p:nvSpPr>
          <p:cNvPr id="70" name="69 Rectángulo"/>
          <p:cNvSpPr/>
          <p:nvPr/>
        </p:nvSpPr>
        <p:spPr>
          <a:xfrm>
            <a:off x="1115616" y="5301208"/>
            <a:ext cx="3955157" cy="857225"/>
          </a:xfrm>
          <a:prstGeom prst="rect">
            <a:avLst/>
          </a:prstGeom>
          <a:solidFill>
            <a:schemeClr val="l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grpSp>
        <p:nvGrpSpPr>
          <p:cNvPr id="71" name="70 Grupo"/>
          <p:cNvGrpSpPr/>
          <p:nvPr/>
        </p:nvGrpSpPr>
        <p:grpSpPr>
          <a:xfrm>
            <a:off x="1182341" y="5366345"/>
            <a:ext cx="790575" cy="742950"/>
            <a:chOff x="2857500" y="3181351"/>
            <a:chExt cx="790575" cy="742950"/>
          </a:xfrm>
        </p:grpSpPr>
        <p:sp>
          <p:nvSpPr>
            <p:cNvPr id="72" name="71 Rectángulo"/>
            <p:cNvSpPr/>
            <p:nvPr/>
          </p:nvSpPr>
          <p:spPr>
            <a:xfrm>
              <a:off x="2857500" y="3181351"/>
              <a:ext cx="790575" cy="742950"/>
            </a:xfrm>
            <a:prstGeom prst="rect">
              <a:avLst/>
            </a:prstGeom>
            <a:gradFill>
              <a:gsLst>
                <a:gs pos="35000">
                  <a:schemeClr val="dk1">
                    <a:tint val="37000"/>
                    <a:satMod val="300000"/>
                    <a:alpha val="0"/>
                  </a:schemeClr>
                </a:gs>
                <a:gs pos="100000">
                  <a:schemeClr val="dk1">
                    <a:tint val="15000"/>
                    <a:satMod val="350000"/>
                  </a:schemeClr>
                </a:gs>
              </a:gsLst>
            </a:gra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73" name="72 Forma libre"/>
            <p:cNvSpPr/>
            <p:nvPr/>
          </p:nvSpPr>
          <p:spPr>
            <a:xfrm>
              <a:off x="29374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74" name="73 Forma libre"/>
            <p:cNvSpPr/>
            <p:nvPr/>
          </p:nvSpPr>
          <p:spPr>
            <a:xfrm>
              <a:off x="3020581"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75" name="74 Forma libre"/>
            <p:cNvSpPr/>
            <p:nvPr/>
          </p:nvSpPr>
          <p:spPr>
            <a:xfrm>
              <a:off x="3103708"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76" name="75 Forma libre"/>
            <p:cNvSpPr/>
            <p:nvPr/>
          </p:nvSpPr>
          <p:spPr>
            <a:xfrm>
              <a:off x="319679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77" name="76 Forma libre"/>
            <p:cNvSpPr/>
            <p:nvPr/>
          </p:nvSpPr>
          <p:spPr>
            <a:xfrm>
              <a:off x="32803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78" name="77 Forma libre"/>
            <p:cNvSpPr/>
            <p:nvPr/>
          </p:nvSpPr>
          <p:spPr>
            <a:xfrm>
              <a:off x="336824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79" name="78 Forma libre"/>
            <p:cNvSpPr/>
            <p:nvPr/>
          </p:nvSpPr>
          <p:spPr>
            <a:xfrm>
              <a:off x="3444444" y="3276167"/>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grpSp>
      <p:grpSp>
        <p:nvGrpSpPr>
          <p:cNvPr id="80" name="79 Grupo"/>
          <p:cNvGrpSpPr/>
          <p:nvPr/>
        </p:nvGrpSpPr>
        <p:grpSpPr>
          <a:xfrm>
            <a:off x="2046437" y="5366345"/>
            <a:ext cx="790575" cy="742950"/>
            <a:chOff x="2857500" y="3181351"/>
            <a:chExt cx="790575" cy="742950"/>
          </a:xfrm>
        </p:grpSpPr>
        <p:sp>
          <p:nvSpPr>
            <p:cNvPr id="81" name="80 Rectángulo"/>
            <p:cNvSpPr/>
            <p:nvPr/>
          </p:nvSpPr>
          <p:spPr>
            <a:xfrm>
              <a:off x="2857500" y="3181351"/>
              <a:ext cx="790575" cy="742950"/>
            </a:xfrm>
            <a:prstGeom prst="rect">
              <a:avLst/>
            </a:prstGeom>
            <a:gradFill>
              <a:gsLst>
                <a:gs pos="35000">
                  <a:schemeClr val="dk1">
                    <a:tint val="37000"/>
                    <a:satMod val="300000"/>
                    <a:alpha val="0"/>
                  </a:schemeClr>
                </a:gs>
                <a:gs pos="100000">
                  <a:schemeClr val="dk1">
                    <a:tint val="15000"/>
                    <a:satMod val="350000"/>
                  </a:schemeClr>
                </a:gs>
              </a:gsLst>
            </a:gra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82" name="81 Forma libre"/>
            <p:cNvSpPr/>
            <p:nvPr/>
          </p:nvSpPr>
          <p:spPr>
            <a:xfrm>
              <a:off x="29374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83" name="82 Forma libre"/>
            <p:cNvSpPr/>
            <p:nvPr/>
          </p:nvSpPr>
          <p:spPr>
            <a:xfrm>
              <a:off x="3020581"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84" name="83 Forma libre"/>
            <p:cNvSpPr/>
            <p:nvPr/>
          </p:nvSpPr>
          <p:spPr>
            <a:xfrm>
              <a:off x="3103708"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85" name="84 Forma libre"/>
            <p:cNvSpPr/>
            <p:nvPr/>
          </p:nvSpPr>
          <p:spPr>
            <a:xfrm>
              <a:off x="319679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86" name="85 Forma libre"/>
            <p:cNvSpPr/>
            <p:nvPr/>
          </p:nvSpPr>
          <p:spPr>
            <a:xfrm>
              <a:off x="32803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87" name="86 Forma libre"/>
            <p:cNvSpPr/>
            <p:nvPr/>
          </p:nvSpPr>
          <p:spPr>
            <a:xfrm>
              <a:off x="336824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88" name="87 Forma libre"/>
            <p:cNvSpPr/>
            <p:nvPr/>
          </p:nvSpPr>
          <p:spPr>
            <a:xfrm>
              <a:off x="3444444" y="3276167"/>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grpSp>
      <p:grpSp>
        <p:nvGrpSpPr>
          <p:cNvPr id="89" name="88 Grupo"/>
          <p:cNvGrpSpPr/>
          <p:nvPr/>
        </p:nvGrpSpPr>
        <p:grpSpPr>
          <a:xfrm>
            <a:off x="2910533" y="5366345"/>
            <a:ext cx="790575" cy="742950"/>
            <a:chOff x="2857500" y="3181351"/>
            <a:chExt cx="790575" cy="742950"/>
          </a:xfrm>
        </p:grpSpPr>
        <p:sp>
          <p:nvSpPr>
            <p:cNvPr id="90" name="89 Rectángulo"/>
            <p:cNvSpPr/>
            <p:nvPr/>
          </p:nvSpPr>
          <p:spPr>
            <a:xfrm>
              <a:off x="2857500" y="3181351"/>
              <a:ext cx="790575" cy="742950"/>
            </a:xfrm>
            <a:prstGeom prst="rect">
              <a:avLst/>
            </a:prstGeom>
            <a:gradFill>
              <a:gsLst>
                <a:gs pos="35000">
                  <a:schemeClr val="dk1">
                    <a:tint val="37000"/>
                    <a:satMod val="300000"/>
                    <a:alpha val="0"/>
                  </a:schemeClr>
                </a:gs>
                <a:gs pos="100000">
                  <a:schemeClr val="dk1">
                    <a:tint val="15000"/>
                    <a:satMod val="350000"/>
                  </a:schemeClr>
                </a:gs>
              </a:gsLst>
            </a:gra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91" name="90 Forma libre"/>
            <p:cNvSpPr/>
            <p:nvPr/>
          </p:nvSpPr>
          <p:spPr>
            <a:xfrm>
              <a:off x="29374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92" name="91 Forma libre"/>
            <p:cNvSpPr/>
            <p:nvPr/>
          </p:nvSpPr>
          <p:spPr>
            <a:xfrm>
              <a:off x="3020581"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93" name="92 Forma libre"/>
            <p:cNvSpPr/>
            <p:nvPr/>
          </p:nvSpPr>
          <p:spPr>
            <a:xfrm>
              <a:off x="3103708"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94" name="93 Forma libre"/>
            <p:cNvSpPr/>
            <p:nvPr/>
          </p:nvSpPr>
          <p:spPr>
            <a:xfrm>
              <a:off x="319679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95" name="94 Forma libre"/>
            <p:cNvSpPr/>
            <p:nvPr/>
          </p:nvSpPr>
          <p:spPr>
            <a:xfrm>
              <a:off x="32803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96" name="95 Forma libre"/>
            <p:cNvSpPr/>
            <p:nvPr/>
          </p:nvSpPr>
          <p:spPr>
            <a:xfrm>
              <a:off x="336824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97" name="96 Forma libre"/>
            <p:cNvSpPr/>
            <p:nvPr/>
          </p:nvSpPr>
          <p:spPr>
            <a:xfrm>
              <a:off x="3444444" y="3276167"/>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grpSp>
      <p:grpSp>
        <p:nvGrpSpPr>
          <p:cNvPr id="98" name="97 Grupo"/>
          <p:cNvGrpSpPr/>
          <p:nvPr/>
        </p:nvGrpSpPr>
        <p:grpSpPr>
          <a:xfrm>
            <a:off x="4206677" y="5366345"/>
            <a:ext cx="790575" cy="742950"/>
            <a:chOff x="2857500" y="3181351"/>
            <a:chExt cx="790575" cy="742950"/>
          </a:xfrm>
        </p:grpSpPr>
        <p:sp>
          <p:nvSpPr>
            <p:cNvPr id="99" name="98 Rectángulo"/>
            <p:cNvSpPr/>
            <p:nvPr/>
          </p:nvSpPr>
          <p:spPr>
            <a:xfrm>
              <a:off x="2857500" y="3181351"/>
              <a:ext cx="790575" cy="742950"/>
            </a:xfrm>
            <a:prstGeom prst="rect">
              <a:avLst/>
            </a:prstGeom>
            <a:gradFill>
              <a:gsLst>
                <a:gs pos="35000">
                  <a:schemeClr val="dk1">
                    <a:tint val="37000"/>
                    <a:satMod val="300000"/>
                    <a:alpha val="0"/>
                  </a:schemeClr>
                </a:gs>
                <a:gs pos="100000">
                  <a:schemeClr val="dk1">
                    <a:tint val="15000"/>
                    <a:satMod val="350000"/>
                  </a:schemeClr>
                </a:gs>
              </a:gsLst>
            </a:gradFill>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0" name="99 Forma libre"/>
            <p:cNvSpPr/>
            <p:nvPr/>
          </p:nvSpPr>
          <p:spPr>
            <a:xfrm>
              <a:off x="29374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01" name="100 Forma libre"/>
            <p:cNvSpPr/>
            <p:nvPr/>
          </p:nvSpPr>
          <p:spPr>
            <a:xfrm>
              <a:off x="3020581"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02" name="101 Forma libre"/>
            <p:cNvSpPr/>
            <p:nvPr/>
          </p:nvSpPr>
          <p:spPr>
            <a:xfrm>
              <a:off x="3103708"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03" name="102 Forma libre"/>
            <p:cNvSpPr/>
            <p:nvPr/>
          </p:nvSpPr>
          <p:spPr>
            <a:xfrm>
              <a:off x="319679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04" name="103 Forma libre"/>
            <p:cNvSpPr/>
            <p:nvPr/>
          </p:nvSpPr>
          <p:spPr>
            <a:xfrm>
              <a:off x="328035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05" name="104 Forma libre"/>
            <p:cNvSpPr/>
            <p:nvPr/>
          </p:nvSpPr>
          <p:spPr>
            <a:xfrm>
              <a:off x="3368244" y="3271405"/>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06" name="105 Forma libre"/>
            <p:cNvSpPr/>
            <p:nvPr/>
          </p:nvSpPr>
          <p:spPr>
            <a:xfrm>
              <a:off x="3444444" y="3276167"/>
              <a:ext cx="106218" cy="595746"/>
            </a:xfrm>
            <a:custGeom>
              <a:avLst/>
              <a:gdLst>
                <a:gd name="connsiteX0" fmla="*/ 217054 w 371763"/>
                <a:gd name="connsiteY0" fmla="*/ 0 h 1124527"/>
                <a:gd name="connsiteX1" fmla="*/ 23091 w 371763"/>
                <a:gd name="connsiteY1" fmla="*/ 235527 h 1124527"/>
                <a:gd name="connsiteX2" fmla="*/ 355600 w 371763"/>
                <a:gd name="connsiteY2" fmla="*/ 387927 h 1124527"/>
                <a:gd name="connsiteX3" fmla="*/ 120072 w 371763"/>
                <a:gd name="connsiteY3" fmla="*/ 568036 h 1124527"/>
                <a:gd name="connsiteX4" fmla="*/ 272472 w 371763"/>
                <a:gd name="connsiteY4" fmla="*/ 706582 h 1124527"/>
                <a:gd name="connsiteX5" fmla="*/ 161636 w 371763"/>
                <a:gd name="connsiteY5" fmla="*/ 900546 h 1124527"/>
                <a:gd name="connsiteX6" fmla="*/ 147782 w 371763"/>
                <a:gd name="connsiteY6" fmla="*/ 1094509 h 1124527"/>
                <a:gd name="connsiteX7" fmla="*/ 147782 w 371763"/>
                <a:gd name="connsiteY7" fmla="*/ 1080655 h 112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763" h="1124527">
                  <a:moveTo>
                    <a:pt x="217054" y="0"/>
                  </a:moveTo>
                  <a:cubicBezTo>
                    <a:pt x="108527" y="85436"/>
                    <a:pt x="0" y="170873"/>
                    <a:pt x="23091" y="235527"/>
                  </a:cubicBezTo>
                  <a:cubicBezTo>
                    <a:pt x="46182" y="300181"/>
                    <a:pt x="339437" y="332509"/>
                    <a:pt x="355600" y="387927"/>
                  </a:cubicBezTo>
                  <a:cubicBezTo>
                    <a:pt x="371763" y="443345"/>
                    <a:pt x="133927" y="514927"/>
                    <a:pt x="120072" y="568036"/>
                  </a:cubicBezTo>
                  <a:cubicBezTo>
                    <a:pt x="106217" y="621145"/>
                    <a:pt x="265545" y="651164"/>
                    <a:pt x="272472" y="706582"/>
                  </a:cubicBezTo>
                  <a:cubicBezTo>
                    <a:pt x="279399" y="762000"/>
                    <a:pt x="182418" y="835892"/>
                    <a:pt x="161636" y="900546"/>
                  </a:cubicBezTo>
                  <a:cubicBezTo>
                    <a:pt x="140854" y="965200"/>
                    <a:pt x="150091" y="1064491"/>
                    <a:pt x="147782" y="1094509"/>
                  </a:cubicBezTo>
                  <a:cubicBezTo>
                    <a:pt x="145473" y="1124527"/>
                    <a:pt x="146627" y="1102591"/>
                    <a:pt x="147782" y="1080655"/>
                  </a:cubicBezTo>
                </a:path>
              </a:pathLst>
            </a:custGeom>
            <a:ln>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grpSp>
      <p:sp>
        <p:nvSpPr>
          <p:cNvPr id="107" name="106 CuadroTexto"/>
          <p:cNvSpPr txBox="1"/>
          <p:nvPr/>
        </p:nvSpPr>
        <p:spPr>
          <a:xfrm>
            <a:off x="3774629" y="5510361"/>
            <a:ext cx="285378" cy="369332"/>
          </a:xfrm>
          <a:prstGeom prst="rect">
            <a:avLst/>
          </a:prstGeom>
          <a:noFill/>
        </p:spPr>
        <p:txBody>
          <a:bodyPr wrap="square" rtlCol="0">
            <a:spAutoFit/>
          </a:bodyPr>
          <a:lstStyle/>
          <a:p>
            <a:r>
              <a:rPr lang="es-ES" dirty="0"/>
              <a:t>…</a:t>
            </a:r>
          </a:p>
        </p:txBody>
      </p:sp>
      <p:sp>
        <p:nvSpPr>
          <p:cNvPr id="108" name="107 CuadroTexto"/>
          <p:cNvSpPr txBox="1"/>
          <p:nvPr/>
        </p:nvSpPr>
        <p:spPr>
          <a:xfrm>
            <a:off x="1110333" y="5006305"/>
            <a:ext cx="1008112" cy="307777"/>
          </a:xfrm>
          <a:prstGeom prst="rect">
            <a:avLst/>
          </a:prstGeom>
          <a:noFill/>
        </p:spPr>
        <p:txBody>
          <a:bodyPr wrap="square" rtlCol="0">
            <a:spAutoFit/>
          </a:bodyPr>
          <a:lstStyle/>
          <a:p>
            <a:r>
              <a:rPr lang="es-ES" sz="1400" dirty="0" err="1">
                <a:latin typeface="Century" pitchFamily="18" charset="0"/>
              </a:rPr>
              <a:t>Kernel</a:t>
            </a:r>
            <a:r>
              <a:rPr lang="es-ES" sz="1400" dirty="0">
                <a:latin typeface="Century" pitchFamily="18" charset="0"/>
              </a:rPr>
              <a:t> B</a:t>
            </a:r>
          </a:p>
        </p:txBody>
      </p:sp>
      <p:cxnSp>
        <p:nvCxnSpPr>
          <p:cNvPr id="110" name="109 Conector recto de flecha"/>
          <p:cNvCxnSpPr/>
          <p:nvPr/>
        </p:nvCxnSpPr>
        <p:spPr>
          <a:xfrm>
            <a:off x="5148064" y="1988840"/>
            <a:ext cx="648072" cy="0"/>
          </a:xfrm>
          <a:prstGeom prst="straightConnector1">
            <a:avLst/>
          </a:prstGeom>
          <a:ln w="3175">
            <a:solidFill>
              <a:schemeClr val="accent3"/>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14" name="113 Conector recto de flecha"/>
          <p:cNvCxnSpPr/>
          <p:nvPr/>
        </p:nvCxnSpPr>
        <p:spPr>
          <a:xfrm>
            <a:off x="5148064" y="3140968"/>
            <a:ext cx="648072" cy="0"/>
          </a:xfrm>
          <a:prstGeom prst="straightConnector1">
            <a:avLst/>
          </a:prstGeom>
          <a:ln w="3175">
            <a:solidFill>
              <a:schemeClr val="accent3"/>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15" name="114 Conector recto de flecha"/>
          <p:cNvCxnSpPr/>
          <p:nvPr/>
        </p:nvCxnSpPr>
        <p:spPr>
          <a:xfrm>
            <a:off x="5148064" y="3212976"/>
            <a:ext cx="648072" cy="0"/>
          </a:xfrm>
          <a:prstGeom prst="straightConnector1">
            <a:avLst/>
          </a:prstGeom>
          <a:ln w="3175">
            <a:solidFill>
              <a:schemeClr val="accent3"/>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16" name="115 Conector recto de flecha"/>
          <p:cNvCxnSpPr/>
          <p:nvPr/>
        </p:nvCxnSpPr>
        <p:spPr>
          <a:xfrm>
            <a:off x="5148064" y="3284984"/>
            <a:ext cx="648072" cy="0"/>
          </a:xfrm>
          <a:prstGeom prst="straightConnector1">
            <a:avLst/>
          </a:prstGeom>
          <a:ln w="3175">
            <a:solidFill>
              <a:schemeClr val="accent3"/>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17" name="116 Conector recto de flecha"/>
          <p:cNvCxnSpPr/>
          <p:nvPr/>
        </p:nvCxnSpPr>
        <p:spPr>
          <a:xfrm>
            <a:off x="5148064" y="3356992"/>
            <a:ext cx="648072" cy="0"/>
          </a:xfrm>
          <a:prstGeom prst="straightConnector1">
            <a:avLst/>
          </a:prstGeom>
          <a:ln w="3175">
            <a:solidFill>
              <a:schemeClr val="accent3"/>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18" name="117 Conector recto de flecha"/>
          <p:cNvCxnSpPr/>
          <p:nvPr/>
        </p:nvCxnSpPr>
        <p:spPr>
          <a:xfrm>
            <a:off x="5148064" y="3429000"/>
            <a:ext cx="648072" cy="0"/>
          </a:xfrm>
          <a:prstGeom prst="straightConnector1">
            <a:avLst/>
          </a:prstGeom>
          <a:ln w="3175">
            <a:solidFill>
              <a:schemeClr val="accent3"/>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19" name="118 Conector recto de flecha"/>
          <p:cNvCxnSpPr/>
          <p:nvPr/>
        </p:nvCxnSpPr>
        <p:spPr>
          <a:xfrm>
            <a:off x="5148064" y="3501008"/>
            <a:ext cx="648072" cy="0"/>
          </a:xfrm>
          <a:prstGeom prst="straightConnector1">
            <a:avLst/>
          </a:prstGeom>
          <a:ln w="3175">
            <a:solidFill>
              <a:schemeClr val="accent3"/>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20" name="119 Conector recto de flecha"/>
          <p:cNvCxnSpPr/>
          <p:nvPr/>
        </p:nvCxnSpPr>
        <p:spPr>
          <a:xfrm>
            <a:off x="5148064" y="3573016"/>
            <a:ext cx="648072" cy="0"/>
          </a:xfrm>
          <a:prstGeom prst="straightConnector1">
            <a:avLst/>
          </a:prstGeom>
          <a:ln w="3175">
            <a:solidFill>
              <a:schemeClr val="accent3"/>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21" name="120 Conector recto de flecha"/>
          <p:cNvCxnSpPr/>
          <p:nvPr/>
        </p:nvCxnSpPr>
        <p:spPr>
          <a:xfrm>
            <a:off x="5148064" y="4581128"/>
            <a:ext cx="648072" cy="0"/>
          </a:xfrm>
          <a:prstGeom prst="straightConnector1">
            <a:avLst/>
          </a:prstGeom>
          <a:ln w="12700" cmpd="sng">
            <a:solidFill>
              <a:schemeClr val="accent3"/>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22" name="121 Conector recto de flecha"/>
          <p:cNvCxnSpPr/>
          <p:nvPr/>
        </p:nvCxnSpPr>
        <p:spPr>
          <a:xfrm>
            <a:off x="5148064" y="5661248"/>
            <a:ext cx="648072" cy="0"/>
          </a:xfrm>
          <a:prstGeom prst="straightConnector1">
            <a:avLst/>
          </a:prstGeom>
          <a:ln w="12700" cmpd="sng">
            <a:solidFill>
              <a:schemeClr val="accent3"/>
            </a:solidFill>
            <a:headEnd type="arrow"/>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211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blinds(horizontal)">
                                      <p:cBhvr>
                                        <p:cTn id="13" dur="500"/>
                                        <p:tgtEl>
                                          <p:spTgt spid="20"/>
                                        </p:tgtEl>
                                      </p:cBhvr>
                                    </p:animEffect>
                                  </p:childTnLst>
                                </p:cTn>
                              </p:par>
                              <p:par>
                                <p:cTn id="14" presetID="3" presetClass="entr" presetSubtype="10" fill="hold" nodeType="withEffect">
                                  <p:stCondLst>
                                    <p:cond delay="0"/>
                                  </p:stCondLst>
                                  <p:childTnLst>
                                    <p:set>
                                      <p:cBhvr>
                                        <p:cTn id="15" dur="1" fill="hold">
                                          <p:stCondLst>
                                            <p:cond delay="0"/>
                                          </p:stCondLst>
                                        </p:cTn>
                                        <p:tgtEl>
                                          <p:spTgt spid="110"/>
                                        </p:tgtEl>
                                        <p:attrNameLst>
                                          <p:attrName>style.visibility</p:attrName>
                                        </p:attrNameLst>
                                      </p:cBhvr>
                                      <p:to>
                                        <p:strVal val="visible"/>
                                      </p:to>
                                    </p:set>
                                    <p:animEffect transition="in" filter="blinds(horizontal)">
                                      <p:cBhvr>
                                        <p:cTn id="16" dur="500"/>
                                        <p:tgtEl>
                                          <p:spTgt spid="11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par>
                                <p:cTn id="22" presetID="3" presetClass="entr" presetSubtype="10"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blinds(horizontal)">
                                      <p:cBhvr>
                                        <p:cTn id="24" dur="500"/>
                                        <p:tgtEl>
                                          <p:spTgt spid="30"/>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blinds(horizontal)">
                                      <p:cBhvr>
                                        <p:cTn id="27" dur="500"/>
                                        <p:tgtEl>
                                          <p:spTgt spid="29"/>
                                        </p:tgtEl>
                                      </p:cBhvr>
                                    </p:animEffect>
                                  </p:childTnLst>
                                </p:cTn>
                              </p:par>
                              <p:par>
                                <p:cTn id="28" presetID="3" presetClass="entr" presetSubtype="10" fill="hold" nodeType="withEffect">
                                  <p:stCondLst>
                                    <p:cond delay="0"/>
                                  </p:stCondLst>
                                  <p:childTnLst>
                                    <p:set>
                                      <p:cBhvr>
                                        <p:cTn id="29" dur="1" fill="hold">
                                          <p:stCondLst>
                                            <p:cond delay="0"/>
                                          </p:stCondLst>
                                        </p:cTn>
                                        <p:tgtEl>
                                          <p:spTgt spid="114"/>
                                        </p:tgtEl>
                                        <p:attrNameLst>
                                          <p:attrName>style.visibility</p:attrName>
                                        </p:attrNameLst>
                                      </p:cBhvr>
                                      <p:to>
                                        <p:strVal val="visible"/>
                                      </p:to>
                                    </p:set>
                                    <p:animEffect transition="in" filter="blinds(horizontal)">
                                      <p:cBhvr>
                                        <p:cTn id="30" dur="500"/>
                                        <p:tgtEl>
                                          <p:spTgt spid="114"/>
                                        </p:tgtEl>
                                      </p:cBhvr>
                                    </p:animEffect>
                                  </p:childTnLst>
                                </p:cTn>
                              </p:par>
                              <p:par>
                                <p:cTn id="31" presetID="3" presetClass="entr" presetSubtype="10" fill="hold" nodeType="withEffect">
                                  <p:stCondLst>
                                    <p:cond delay="0"/>
                                  </p:stCondLst>
                                  <p:childTnLst>
                                    <p:set>
                                      <p:cBhvr>
                                        <p:cTn id="32" dur="1" fill="hold">
                                          <p:stCondLst>
                                            <p:cond delay="0"/>
                                          </p:stCondLst>
                                        </p:cTn>
                                        <p:tgtEl>
                                          <p:spTgt spid="115"/>
                                        </p:tgtEl>
                                        <p:attrNameLst>
                                          <p:attrName>style.visibility</p:attrName>
                                        </p:attrNameLst>
                                      </p:cBhvr>
                                      <p:to>
                                        <p:strVal val="visible"/>
                                      </p:to>
                                    </p:set>
                                    <p:animEffect transition="in" filter="blinds(horizontal)">
                                      <p:cBhvr>
                                        <p:cTn id="33" dur="500"/>
                                        <p:tgtEl>
                                          <p:spTgt spid="115"/>
                                        </p:tgtEl>
                                      </p:cBhvr>
                                    </p:animEffect>
                                  </p:childTnLst>
                                </p:cTn>
                              </p:par>
                              <p:par>
                                <p:cTn id="34" presetID="3" presetClass="entr" presetSubtype="10" fill="hold" nodeType="withEffect">
                                  <p:stCondLst>
                                    <p:cond delay="0"/>
                                  </p:stCondLst>
                                  <p:childTnLst>
                                    <p:set>
                                      <p:cBhvr>
                                        <p:cTn id="35" dur="1" fill="hold">
                                          <p:stCondLst>
                                            <p:cond delay="0"/>
                                          </p:stCondLst>
                                        </p:cTn>
                                        <p:tgtEl>
                                          <p:spTgt spid="116"/>
                                        </p:tgtEl>
                                        <p:attrNameLst>
                                          <p:attrName>style.visibility</p:attrName>
                                        </p:attrNameLst>
                                      </p:cBhvr>
                                      <p:to>
                                        <p:strVal val="visible"/>
                                      </p:to>
                                    </p:set>
                                    <p:animEffect transition="in" filter="blinds(horizontal)">
                                      <p:cBhvr>
                                        <p:cTn id="36" dur="500"/>
                                        <p:tgtEl>
                                          <p:spTgt spid="116"/>
                                        </p:tgtEl>
                                      </p:cBhvr>
                                    </p:animEffect>
                                  </p:childTnLst>
                                </p:cTn>
                              </p:par>
                              <p:par>
                                <p:cTn id="37" presetID="3" presetClass="entr" presetSubtype="10" fill="hold" nodeType="withEffect">
                                  <p:stCondLst>
                                    <p:cond delay="0"/>
                                  </p:stCondLst>
                                  <p:childTnLst>
                                    <p:set>
                                      <p:cBhvr>
                                        <p:cTn id="38" dur="1" fill="hold">
                                          <p:stCondLst>
                                            <p:cond delay="0"/>
                                          </p:stCondLst>
                                        </p:cTn>
                                        <p:tgtEl>
                                          <p:spTgt spid="117"/>
                                        </p:tgtEl>
                                        <p:attrNameLst>
                                          <p:attrName>style.visibility</p:attrName>
                                        </p:attrNameLst>
                                      </p:cBhvr>
                                      <p:to>
                                        <p:strVal val="visible"/>
                                      </p:to>
                                    </p:set>
                                    <p:animEffect transition="in" filter="blinds(horizontal)">
                                      <p:cBhvr>
                                        <p:cTn id="39" dur="500"/>
                                        <p:tgtEl>
                                          <p:spTgt spid="117"/>
                                        </p:tgtEl>
                                      </p:cBhvr>
                                    </p:animEffect>
                                  </p:childTnLst>
                                </p:cTn>
                              </p:par>
                              <p:par>
                                <p:cTn id="40" presetID="3" presetClass="entr" presetSubtype="10" fill="hold" nodeType="withEffect">
                                  <p:stCondLst>
                                    <p:cond delay="0"/>
                                  </p:stCondLst>
                                  <p:childTnLst>
                                    <p:set>
                                      <p:cBhvr>
                                        <p:cTn id="41" dur="1" fill="hold">
                                          <p:stCondLst>
                                            <p:cond delay="0"/>
                                          </p:stCondLst>
                                        </p:cTn>
                                        <p:tgtEl>
                                          <p:spTgt spid="118"/>
                                        </p:tgtEl>
                                        <p:attrNameLst>
                                          <p:attrName>style.visibility</p:attrName>
                                        </p:attrNameLst>
                                      </p:cBhvr>
                                      <p:to>
                                        <p:strVal val="visible"/>
                                      </p:to>
                                    </p:set>
                                    <p:animEffect transition="in" filter="blinds(horizontal)">
                                      <p:cBhvr>
                                        <p:cTn id="42" dur="500"/>
                                        <p:tgtEl>
                                          <p:spTgt spid="118"/>
                                        </p:tgtEl>
                                      </p:cBhvr>
                                    </p:animEffect>
                                  </p:childTnLst>
                                </p:cTn>
                              </p:par>
                              <p:par>
                                <p:cTn id="43" presetID="3" presetClass="entr" presetSubtype="10" fill="hold" nodeType="withEffect">
                                  <p:stCondLst>
                                    <p:cond delay="0"/>
                                  </p:stCondLst>
                                  <p:childTnLst>
                                    <p:set>
                                      <p:cBhvr>
                                        <p:cTn id="44" dur="1" fill="hold">
                                          <p:stCondLst>
                                            <p:cond delay="0"/>
                                          </p:stCondLst>
                                        </p:cTn>
                                        <p:tgtEl>
                                          <p:spTgt spid="119"/>
                                        </p:tgtEl>
                                        <p:attrNameLst>
                                          <p:attrName>style.visibility</p:attrName>
                                        </p:attrNameLst>
                                      </p:cBhvr>
                                      <p:to>
                                        <p:strVal val="visible"/>
                                      </p:to>
                                    </p:set>
                                    <p:animEffect transition="in" filter="blinds(horizontal)">
                                      <p:cBhvr>
                                        <p:cTn id="45" dur="500"/>
                                        <p:tgtEl>
                                          <p:spTgt spid="119"/>
                                        </p:tgtEl>
                                      </p:cBhvr>
                                    </p:animEffect>
                                  </p:childTnLst>
                                </p:cTn>
                              </p:par>
                              <p:par>
                                <p:cTn id="46" presetID="3" presetClass="entr" presetSubtype="10" fill="hold" nodeType="withEffect">
                                  <p:stCondLst>
                                    <p:cond delay="0"/>
                                  </p:stCondLst>
                                  <p:childTnLst>
                                    <p:set>
                                      <p:cBhvr>
                                        <p:cTn id="47" dur="1" fill="hold">
                                          <p:stCondLst>
                                            <p:cond delay="0"/>
                                          </p:stCondLst>
                                        </p:cTn>
                                        <p:tgtEl>
                                          <p:spTgt spid="120"/>
                                        </p:tgtEl>
                                        <p:attrNameLst>
                                          <p:attrName>style.visibility</p:attrName>
                                        </p:attrNameLst>
                                      </p:cBhvr>
                                      <p:to>
                                        <p:strVal val="visible"/>
                                      </p:to>
                                    </p:set>
                                    <p:animEffect transition="in" filter="blinds(horizontal)">
                                      <p:cBhvr>
                                        <p:cTn id="48" dur="500"/>
                                        <p:tgtEl>
                                          <p:spTgt spid="120"/>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68"/>
                                        </p:tgtEl>
                                        <p:attrNameLst>
                                          <p:attrName>style.visibility</p:attrName>
                                        </p:attrNameLst>
                                      </p:cBhvr>
                                      <p:to>
                                        <p:strVal val="visible"/>
                                      </p:to>
                                    </p:set>
                                    <p:animEffect transition="in" filter="blinds(horizontal)">
                                      <p:cBhvr>
                                        <p:cTn id="53" dur="500"/>
                                        <p:tgtEl>
                                          <p:spTgt spid="68"/>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blinds(horizontal)">
                                      <p:cBhvr>
                                        <p:cTn id="56" dur="500"/>
                                        <p:tgtEl>
                                          <p:spTgt spid="11"/>
                                        </p:tgtEl>
                                      </p:cBhvr>
                                    </p:animEffect>
                                  </p:childTnLst>
                                </p:cTn>
                              </p:par>
                              <p:par>
                                <p:cTn id="57" presetID="3" presetClass="entr" presetSubtype="10"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blinds(horizontal)">
                                      <p:cBhvr>
                                        <p:cTn id="59" dur="500"/>
                                        <p:tgtEl>
                                          <p:spTgt spid="31"/>
                                        </p:tgtEl>
                                      </p:cBhvr>
                                    </p:animEffect>
                                  </p:childTnLst>
                                </p:cTn>
                              </p:par>
                              <p:par>
                                <p:cTn id="60" presetID="3" presetClass="entr" presetSubtype="10" fill="hold" nodeType="with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blinds(horizontal)">
                                      <p:cBhvr>
                                        <p:cTn id="62" dur="500"/>
                                        <p:tgtEl>
                                          <p:spTgt spid="40"/>
                                        </p:tgtEl>
                                      </p:cBhvr>
                                    </p:animEffect>
                                  </p:childTnLst>
                                </p:cTn>
                              </p:par>
                              <p:par>
                                <p:cTn id="63" presetID="3" presetClass="entr" presetSubtype="10" fill="hold" nodeType="withEffect">
                                  <p:stCondLst>
                                    <p:cond delay="0"/>
                                  </p:stCondLst>
                                  <p:childTnLst>
                                    <p:set>
                                      <p:cBhvr>
                                        <p:cTn id="64" dur="1" fill="hold">
                                          <p:stCondLst>
                                            <p:cond delay="0"/>
                                          </p:stCondLst>
                                        </p:cTn>
                                        <p:tgtEl>
                                          <p:spTgt spid="49"/>
                                        </p:tgtEl>
                                        <p:attrNameLst>
                                          <p:attrName>style.visibility</p:attrName>
                                        </p:attrNameLst>
                                      </p:cBhvr>
                                      <p:to>
                                        <p:strVal val="visible"/>
                                      </p:to>
                                    </p:set>
                                    <p:animEffect transition="in" filter="blinds(horizontal)">
                                      <p:cBhvr>
                                        <p:cTn id="65" dur="500"/>
                                        <p:tgtEl>
                                          <p:spTgt spid="49"/>
                                        </p:tgtEl>
                                      </p:cBhvr>
                                    </p:animEffect>
                                  </p:childTnLst>
                                </p:cTn>
                              </p:par>
                              <p:par>
                                <p:cTn id="66" presetID="3" presetClass="entr" presetSubtype="10" fill="hold" nodeType="withEffect">
                                  <p:stCondLst>
                                    <p:cond delay="0"/>
                                  </p:stCondLst>
                                  <p:childTnLst>
                                    <p:set>
                                      <p:cBhvr>
                                        <p:cTn id="67" dur="1" fill="hold">
                                          <p:stCondLst>
                                            <p:cond delay="0"/>
                                          </p:stCondLst>
                                        </p:cTn>
                                        <p:tgtEl>
                                          <p:spTgt spid="58"/>
                                        </p:tgtEl>
                                        <p:attrNameLst>
                                          <p:attrName>style.visibility</p:attrName>
                                        </p:attrNameLst>
                                      </p:cBhvr>
                                      <p:to>
                                        <p:strVal val="visible"/>
                                      </p:to>
                                    </p:set>
                                    <p:animEffect transition="in" filter="blinds(horizontal)">
                                      <p:cBhvr>
                                        <p:cTn id="68" dur="500"/>
                                        <p:tgtEl>
                                          <p:spTgt spid="58"/>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67"/>
                                        </p:tgtEl>
                                        <p:attrNameLst>
                                          <p:attrName>style.visibility</p:attrName>
                                        </p:attrNameLst>
                                      </p:cBhvr>
                                      <p:to>
                                        <p:strVal val="visible"/>
                                      </p:to>
                                    </p:set>
                                    <p:animEffect transition="in" filter="blinds(horizontal)">
                                      <p:cBhvr>
                                        <p:cTn id="71" dur="500"/>
                                        <p:tgtEl>
                                          <p:spTgt spid="67"/>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69"/>
                                        </p:tgtEl>
                                        <p:attrNameLst>
                                          <p:attrName>style.visibility</p:attrName>
                                        </p:attrNameLst>
                                      </p:cBhvr>
                                      <p:to>
                                        <p:strVal val="visible"/>
                                      </p:to>
                                    </p:set>
                                    <p:animEffect transition="in" filter="blinds(horizontal)">
                                      <p:cBhvr>
                                        <p:cTn id="74" dur="500"/>
                                        <p:tgtEl>
                                          <p:spTgt spid="69"/>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70"/>
                                        </p:tgtEl>
                                        <p:attrNameLst>
                                          <p:attrName>style.visibility</p:attrName>
                                        </p:attrNameLst>
                                      </p:cBhvr>
                                      <p:to>
                                        <p:strVal val="visible"/>
                                      </p:to>
                                    </p:set>
                                    <p:animEffect transition="in" filter="blinds(horizontal)">
                                      <p:cBhvr>
                                        <p:cTn id="77" dur="500"/>
                                        <p:tgtEl>
                                          <p:spTgt spid="70"/>
                                        </p:tgtEl>
                                      </p:cBhvr>
                                    </p:animEffect>
                                  </p:childTnLst>
                                </p:cTn>
                              </p:par>
                              <p:par>
                                <p:cTn id="78" presetID="3" presetClass="entr" presetSubtype="10" fill="hold" nodeType="withEffect">
                                  <p:stCondLst>
                                    <p:cond delay="0"/>
                                  </p:stCondLst>
                                  <p:childTnLst>
                                    <p:set>
                                      <p:cBhvr>
                                        <p:cTn id="79" dur="1" fill="hold">
                                          <p:stCondLst>
                                            <p:cond delay="0"/>
                                          </p:stCondLst>
                                        </p:cTn>
                                        <p:tgtEl>
                                          <p:spTgt spid="71"/>
                                        </p:tgtEl>
                                        <p:attrNameLst>
                                          <p:attrName>style.visibility</p:attrName>
                                        </p:attrNameLst>
                                      </p:cBhvr>
                                      <p:to>
                                        <p:strVal val="visible"/>
                                      </p:to>
                                    </p:set>
                                    <p:animEffect transition="in" filter="blinds(horizontal)">
                                      <p:cBhvr>
                                        <p:cTn id="80" dur="500"/>
                                        <p:tgtEl>
                                          <p:spTgt spid="71"/>
                                        </p:tgtEl>
                                      </p:cBhvr>
                                    </p:animEffect>
                                  </p:childTnLst>
                                </p:cTn>
                              </p:par>
                              <p:par>
                                <p:cTn id="81" presetID="3" presetClass="entr" presetSubtype="10" fill="hold" nodeType="withEffect">
                                  <p:stCondLst>
                                    <p:cond delay="0"/>
                                  </p:stCondLst>
                                  <p:childTnLst>
                                    <p:set>
                                      <p:cBhvr>
                                        <p:cTn id="82" dur="1" fill="hold">
                                          <p:stCondLst>
                                            <p:cond delay="0"/>
                                          </p:stCondLst>
                                        </p:cTn>
                                        <p:tgtEl>
                                          <p:spTgt spid="80"/>
                                        </p:tgtEl>
                                        <p:attrNameLst>
                                          <p:attrName>style.visibility</p:attrName>
                                        </p:attrNameLst>
                                      </p:cBhvr>
                                      <p:to>
                                        <p:strVal val="visible"/>
                                      </p:to>
                                    </p:set>
                                    <p:animEffect transition="in" filter="blinds(horizontal)">
                                      <p:cBhvr>
                                        <p:cTn id="83" dur="500"/>
                                        <p:tgtEl>
                                          <p:spTgt spid="80"/>
                                        </p:tgtEl>
                                      </p:cBhvr>
                                    </p:animEffect>
                                  </p:childTnLst>
                                </p:cTn>
                              </p:par>
                              <p:par>
                                <p:cTn id="84" presetID="3" presetClass="entr" presetSubtype="10" fill="hold" nodeType="withEffect">
                                  <p:stCondLst>
                                    <p:cond delay="0"/>
                                  </p:stCondLst>
                                  <p:childTnLst>
                                    <p:set>
                                      <p:cBhvr>
                                        <p:cTn id="85" dur="1" fill="hold">
                                          <p:stCondLst>
                                            <p:cond delay="0"/>
                                          </p:stCondLst>
                                        </p:cTn>
                                        <p:tgtEl>
                                          <p:spTgt spid="89"/>
                                        </p:tgtEl>
                                        <p:attrNameLst>
                                          <p:attrName>style.visibility</p:attrName>
                                        </p:attrNameLst>
                                      </p:cBhvr>
                                      <p:to>
                                        <p:strVal val="visible"/>
                                      </p:to>
                                    </p:set>
                                    <p:animEffect transition="in" filter="blinds(horizontal)">
                                      <p:cBhvr>
                                        <p:cTn id="86" dur="500"/>
                                        <p:tgtEl>
                                          <p:spTgt spid="89"/>
                                        </p:tgtEl>
                                      </p:cBhvr>
                                    </p:animEffect>
                                  </p:childTnLst>
                                </p:cTn>
                              </p:par>
                              <p:par>
                                <p:cTn id="87" presetID="3" presetClass="entr" presetSubtype="10" fill="hold" nodeType="withEffect">
                                  <p:stCondLst>
                                    <p:cond delay="0"/>
                                  </p:stCondLst>
                                  <p:childTnLst>
                                    <p:set>
                                      <p:cBhvr>
                                        <p:cTn id="88" dur="1" fill="hold">
                                          <p:stCondLst>
                                            <p:cond delay="0"/>
                                          </p:stCondLst>
                                        </p:cTn>
                                        <p:tgtEl>
                                          <p:spTgt spid="98"/>
                                        </p:tgtEl>
                                        <p:attrNameLst>
                                          <p:attrName>style.visibility</p:attrName>
                                        </p:attrNameLst>
                                      </p:cBhvr>
                                      <p:to>
                                        <p:strVal val="visible"/>
                                      </p:to>
                                    </p:set>
                                    <p:animEffect transition="in" filter="blinds(horizontal)">
                                      <p:cBhvr>
                                        <p:cTn id="89" dur="500"/>
                                        <p:tgtEl>
                                          <p:spTgt spid="98"/>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107"/>
                                        </p:tgtEl>
                                        <p:attrNameLst>
                                          <p:attrName>style.visibility</p:attrName>
                                        </p:attrNameLst>
                                      </p:cBhvr>
                                      <p:to>
                                        <p:strVal val="visible"/>
                                      </p:to>
                                    </p:set>
                                    <p:animEffect transition="in" filter="blinds(horizontal)">
                                      <p:cBhvr>
                                        <p:cTn id="92" dur="500"/>
                                        <p:tgtEl>
                                          <p:spTgt spid="107"/>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108"/>
                                        </p:tgtEl>
                                        <p:attrNameLst>
                                          <p:attrName>style.visibility</p:attrName>
                                        </p:attrNameLst>
                                      </p:cBhvr>
                                      <p:to>
                                        <p:strVal val="visible"/>
                                      </p:to>
                                    </p:set>
                                    <p:animEffect transition="in" filter="blinds(horizontal)">
                                      <p:cBhvr>
                                        <p:cTn id="95" dur="500"/>
                                        <p:tgtEl>
                                          <p:spTgt spid="108"/>
                                        </p:tgtEl>
                                      </p:cBhvr>
                                    </p:animEffect>
                                  </p:childTnLst>
                                </p:cTn>
                              </p:par>
                              <p:par>
                                <p:cTn id="96" presetID="3" presetClass="entr" presetSubtype="10" fill="hold" nodeType="withEffect">
                                  <p:stCondLst>
                                    <p:cond delay="0"/>
                                  </p:stCondLst>
                                  <p:childTnLst>
                                    <p:set>
                                      <p:cBhvr>
                                        <p:cTn id="97" dur="1" fill="hold">
                                          <p:stCondLst>
                                            <p:cond delay="0"/>
                                          </p:stCondLst>
                                        </p:cTn>
                                        <p:tgtEl>
                                          <p:spTgt spid="121"/>
                                        </p:tgtEl>
                                        <p:attrNameLst>
                                          <p:attrName>style.visibility</p:attrName>
                                        </p:attrNameLst>
                                      </p:cBhvr>
                                      <p:to>
                                        <p:strVal val="visible"/>
                                      </p:to>
                                    </p:set>
                                    <p:animEffect transition="in" filter="blinds(horizontal)">
                                      <p:cBhvr>
                                        <p:cTn id="98" dur="500"/>
                                        <p:tgtEl>
                                          <p:spTgt spid="121"/>
                                        </p:tgtEl>
                                      </p:cBhvr>
                                    </p:animEffect>
                                  </p:childTnLst>
                                </p:cTn>
                              </p:par>
                              <p:par>
                                <p:cTn id="99" presetID="3" presetClass="entr" presetSubtype="10" fill="hold" nodeType="withEffect">
                                  <p:stCondLst>
                                    <p:cond delay="0"/>
                                  </p:stCondLst>
                                  <p:childTnLst>
                                    <p:set>
                                      <p:cBhvr>
                                        <p:cTn id="100" dur="1" fill="hold">
                                          <p:stCondLst>
                                            <p:cond delay="0"/>
                                          </p:stCondLst>
                                        </p:cTn>
                                        <p:tgtEl>
                                          <p:spTgt spid="122"/>
                                        </p:tgtEl>
                                        <p:attrNameLst>
                                          <p:attrName>style.visibility</p:attrName>
                                        </p:attrNameLst>
                                      </p:cBhvr>
                                      <p:to>
                                        <p:strVal val="visible"/>
                                      </p:to>
                                    </p:set>
                                    <p:animEffect transition="in" filter="blinds(horizontal)">
                                      <p:cBhvr>
                                        <p:cTn id="101"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9" grpId="0" animBg="1"/>
      <p:bldP spid="10" grpId="0" animBg="1"/>
      <p:bldP spid="11" grpId="0" animBg="1"/>
      <p:bldP spid="12" grpId="0"/>
      <p:bldP spid="20" grpId="0" animBg="1"/>
      <p:bldP spid="29" grpId="0"/>
      <p:bldP spid="67" grpId="0"/>
      <p:bldP spid="69" grpId="0"/>
      <p:bldP spid="70" grpId="0" animBg="1"/>
      <p:bldP spid="107" grpId="0"/>
      <p:bldP spid="10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a:t>Memory Spaces</a:t>
            </a:r>
          </a:p>
        </p:txBody>
      </p:sp>
      <p:sp>
        <p:nvSpPr>
          <p:cNvPr id="7" name="Rectángulo 6"/>
          <p:cNvSpPr/>
          <p:nvPr/>
        </p:nvSpPr>
        <p:spPr>
          <a:xfrm>
            <a:off x="3289301" y="1243084"/>
            <a:ext cx="5096933" cy="5037603"/>
          </a:xfrm>
          <a:prstGeom prst="rect">
            <a:avLst/>
          </a:prstGeom>
        </p:spPr>
        <p:style>
          <a:lnRef idx="1">
            <a:schemeClr val="accent1"/>
          </a:lnRef>
          <a:fillRef idx="3">
            <a:schemeClr val="accent1"/>
          </a:fillRef>
          <a:effectRef idx="2">
            <a:schemeClr val="accent1"/>
          </a:effectRef>
          <a:fontRef idx="minor">
            <a:schemeClr val="lt1"/>
          </a:fontRef>
        </p:style>
        <p:txBody>
          <a:bodyPr rtlCol="0" anchor="t" anchorCtr="0"/>
          <a:lstStyle/>
          <a:p>
            <a:pPr algn="ctr"/>
            <a:r>
              <a:rPr lang="en-GB">
                <a:solidFill>
                  <a:schemeClr val="bg1"/>
                </a:solidFill>
                <a:latin typeface="Century"/>
                <a:cs typeface="Century"/>
              </a:rPr>
              <a:t>Grid</a:t>
            </a:r>
          </a:p>
        </p:txBody>
      </p:sp>
      <p:sp>
        <p:nvSpPr>
          <p:cNvPr id="8" name="Rectángulo redondeado 7"/>
          <p:cNvSpPr/>
          <p:nvPr/>
        </p:nvSpPr>
        <p:spPr>
          <a:xfrm>
            <a:off x="3416807" y="1637408"/>
            <a:ext cx="2395561" cy="3720716"/>
          </a:xfrm>
          <a:prstGeom prst="roundRect">
            <a:avLst>
              <a:gd name="adj" fmla="val 5110"/>
            </a:avLst>
          </a:prstGeom>
        </p:spPr>
        <p:style>
          <a:lnRef idx="1">
            <a:schemeClr val="accent6"/>
          </a:lnRef>
          <a:fillRef idx="3">
            <a:schemeClr val="accent6"/>
          </a:fillRef>
          <a:effectRef idx="2">
            <a:schemeClr val="accent6"/>
          </a:effectRef>
          <a:fontRef idx="minor">
            <a:schemeClr val="lt1"/>
          </a:fontRef>
        </p:style>
        <p:txBody>
          <a:bodyPr wrap="square" rtlCol="0" anchor="t" anchorCtr="0"/>
          <a:lstStyle/>
          <a:p>
            <a:pPr algn="ctr"/>
            <a:r>
              <a:rPr lang="en-GB" sz="1400">
                <a:latin typeface="Century"/>
                <a:cs typeface="Century"/>
              </a:rPr>
              <a:t>Block 0</a:t>
            </a:r>
          </a:p>
        </p:txBody>
      </p:sp>
      <p:sp>
        <p:nvSpPr>
          <p:cNvPr id="17" name="Rectángulo redondeado 16"/>
          <p:cNvSpPr/>
          <p:nvPr/>
        </p:nvSpPr>
        <p:spPr>
          <a:xfrm>
            <a:off x="3490990" y="2656489"/>
            <a:ext cx="1110644" cy="1275386"/>
          </a:xfrm>
          <a:prstGeom prst="roundRect">
            <a:avLst>
              <a:gd name="adj" fmla="val 0"/>
            </a:avLst>
          </a:prstGeom>
          <a:solidFill>
            <a:schemeClr val="accent6">
              <a:lumMod val="50000"/>
            </a:schemeClr>
          </a:solidFill>
          <a:effectLst/>
        </p:spPr>
        <p:style>
          <a:lnRef idx="1">
            <a:schemeClr val="accent6"/>
          </a:lnRef>
          <a:fillRef idx="3">
            <a:schemeClr val="accent6"/>
          </a:fillRef>
          <a:effectRef idx="2">
            <a:schemeClr val="accent6"/>
          </a:effectRef>
          <a:fontRef idx="minor">
            <a:schemeClr val="lt1"/>
          </a:fontRef>
        </p:style>
        <p:txBody>
          <a:bodyPr rtlCol="0" anchor="t" anchorCtr="0"/>
          <a:lstStyle/>
          <a:p>
            <a:pPr algn="ctr"/>
            <a:r>
              <a:rPr lang="en-GB" sz="1200">
                <a:latin typeface="Century"/>
                <a:cs typeface="Century"/>
              </a:rPr>
              <a:t>Thread (0,0)</a:t>
            </a:r>
          </a:p>
        </p:txBody>
      </p:sp>
      <p:sp>
        <p:nvSpPr>
          <p:cNvPr id="36" name="CuadroTexto 35"/>
          <p:cNvSpPr txBox="1"/>
          <p:nvPr/>
        </p:nvSpPr>
        <p:spPr>
          <a:xfrm>
            <a:off x="3568702" y="2989243"/>
            <a:ext cx="945486" cy="276999"/>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Registers</a:t>
            </a:r>
          </a:p>
        </p:txBody>
      </p:sp>
      <p:sp>
        <p:nvSpPr>
          <p:cNvPr id="37" name="CuadroTexto 36"/>
          <p:cNvSpPr txBox="1"/>
          <p:nvPr/>
        </p:nvSpPr>
        <p:spPr>
          <a:xfrm>
            <a:off x="3568702" y="3357909"/>
            <a:ext cx="945486" cy="461665"/>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Local Memory</a:t>
            </a:r>
          </a:p>
        </p:txBody>
      </p:sp>
      <p:sp>
        <p:nvSpPr>
          <p:cNvPr id="38" name="Rectángulo redondeado 37"/>
          <p:cNvSpPr/>
          <p:nvPr/>
        </p:nvSpPr>
        <p:spPr>
          <a:xfrm>
            <a:off x="4631977" y="2656489"/>
            <a:ext cx="1110644" cy="1275386"/>
          </a:xfrm>
          <a:prstGeom prst="roundRect">
            <a:avLst>
              <a:gd name="adj" fmla="val 0"/>
            </a:avLst>
          </a:prstGeom>
          <a:solidFill>
            <a:schemeClr val="accent6">
              <a:lumMod val="50000"/>
            </a:schemeClr>
          </a:solidFill>
          <a:effectLst/>
        </p:spPr>
        <p:style>
          <a:lnRef idx="1">
            <a:schemeClr val="accent6"/>
          </a:lnRef>
          <a:fillRef idx="3">
            <a:schemeClr val="accent6"/>
          </a:fillRef>
          <a:effectRef idx="2">
            <a:schemeClr val="accent6"/>
          </a:effectRef>
          <a:fontRef idx="minor">
            <a:schemeClr val="lt1"/>
          </a:fontRef>
        </p:style>
        <p:txBody>
          <a:bodyPr rtlCol="0" anchor="t" anchorCtr="0"/>
          <a:lstStyle/>
          <a:p>
            <a:pPr algn="ctr"/>
            <a:r>
              <a:rPr lang="en-GB" sz="1200">
                <a:latin typeface="Century"/>
                <a:cs typeface="Century"/>
              </a:rPr>
              <a:t>Thread (0,1)</a:t>
            </a:r>
          </a:p>
        </p:txBody>
      </p:sp>
      <p:sp>
        <p:nvSpPr>
          <p:cNvPr id="39" name="CuadroTexto 38"/>
          <p:cNvSpPr txBox="1"/>
          <p:nvPr/>
        </p:nvSpPr>
        <p:spPr>
          <a:xfrm>
            <a:off x="4709689" y="2989243"/>
            <a:ext cx="945486" cy="276999"/>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Registers</a:t>
            </a:r>
          </a:p>
        </p:txBody>
      </p:sp>
      <p:sp>
        <p:nvSpPr>
          <p:cNvPr id="40" name="CuadroTexto 39"/>
          <p:cNvSpPr txBox="1"/>
          <p:nvPr/>
        </p:nvSpPr>
        <p:spPr>
          <a:xfrm>
            <a:off x="4709689" y="3357909"/>
            <a:ext cx="945486" cy="461665"/>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Local Memory</a:t>
            </a:r>
          </a:p>
        </p:txBody>
      </p:sp>
      <p:sp>
        <p:nvSpPr>
          <p:cNvPr id="41" name="Rectángulo redondeado 40"/>
          <p:cNvSpPr/>
          <p:nvPr/>
        </p:nvSpPr>
        <p:spPr>
          <a:xfrm>
            <a:off x="3490990" y="3971974"/>
            <a:ext cx="1110644" cy="1275386"/>
          </a:xfrm>
          <a:prstGeom prst="roundRect">
            <a:avLst>
              <a:gd name="adj" fmla="val 0"/>
            </a:avLst>
          </a:prstGeom>
          <a:solidFill>
            <a:schemeClr val="accent6">
              <a:lumMod val="50000"/>
            </a:schemeClr>
          </a:solidFill>
          <a:effectLst/>
        </p:spPr>
        <p:style>
          <a:lnRef idx="1">
            <a:schemeClr val="accent6"/>
          </a:lnRef>
          <a:fillRef idx="3">
            <a:schemeClr val="accent6"/>
          </a:fillRef>
          <a:effectRef idx="2">
            <a:schemeClr val="accent6"/>
          </a:effectRef>
          <a:fontRef idx="minor">
            <a:schemeClr val="lt1"/>
          </a:fontRef>
        </p:style>
        <p:txBody>
          <a:bodyPr rtlCol="0" anchor="t" anchorCtr="0"/>
          <a:lstStyle/>
          <a:p>
            <a:pPr algn="ctr"/>
            <a:r>
              <a:rPr lang="en-GB" sz="1200">
                <a:latin typeface="Century"/>
                <a:cs typeface="Century"/>
              </a:rPr>
              <a:t>Thread (1,0)</a:t>
            </a:r>
          </a:p>
        </p:txBody>
      </p:sp>
      <p:sp>
        <p:nvSpPr>
          <p:cNvPr id="42" name="CuadroTexto 41"/>
          <p:cNvSpPr txBox="1"/>
          <p:nvPr/>
        </p:nvSpPr>
        <p:spPr>
          <a:xfrm>
            <a:off x="3568702" y="4304728"/>
            <a:ext cx="945486" cy="276999"/>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Registers</a:t>
            </a:r>
          </a:p>
        </p:txBody>
      </p:sp>
      <p:sp>
        <p:nvSpPr>
          <p:cNvPr id="43" name="CuadroTexto 42"/>
          <p:cNvSpPr txBox="1"/>
          <p:nvPr/>
        </p:nvSpPr>
        <p:spPr>
          <a:xfrm>
            <a:off x="3568702" y="4673394"/>
            <a:ext cx="945486" cy="461665"/>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Local Memory</a:t>
            </a:r>
          </a:p>
        </p:txBody>
      </p:sp>
      <p:sp>
        <p:nvSpPr>
          <p:cNvPr id="44" name="Rectángulo redondeado 43"/>
          <p:cNvSpPr/>
          <p:nvPr/>
        </p:nvSpPr>
        <p:spPr>
          <a:xfrm>
            <a:off x="4631977" y="3971974"/>
            <a:ext cx="1110644" cy="1275386"/>
          </a:xfrm>
          <a:prstGeom prst="roundRect">
            <a:avLst>
              <a:gd name="adj" fmla="val 0"/>
            </a:avLst>
          </a:prstGeom>
          <a:solidFill>
            <a:schemeClr val="accent6">
              <a:lumMod val="50000"/>
            </a:schemeClr>
          </a:solidFill>
          <a:effectLst/>
        </p:spPr>
        <p:style>
          <a:lnRef idx="1">
            <a:schemeClr val="accent6"/>
          </a:lnRef>
          <a:fillRef idx="3">
            <a:schemeClr val="accent6"/>
          </a:fillRef>
          <a:effectRef idx="2">
            <a:schemeClr val="accent6"/>
          </a:effectRef>
          <a:fontRef idx="minor">
            <a:schemeClr val="lt1"/>
          </a:fontRef>
        </p:style>
        <p:txBody>
          <a:bodyPr rtlCol="0" anchor="t" anchorCtr="0"/>
          <a:lstStyle/>
          <a:p>
            <a:pPr algn="ctr"/>
            <a:r>
              <a:rPr lang="en-GB" sz="1200">
                <a:latin typeface="Century"/>
                <a:cs typeface="Century"/>
              </a:rPr>
              <a:t>Thread (1,1)</a:t>
            </a:r>
          </a:p>
        </p:txBody>
      </p:sp>
      <p:sp>
        <p:nvSpPr>
          <p:cNvPr id="45" name="CuadroTexto 44"/>
          <p:cNvSpPr txBox="1"/>
          <p:nvPr/>
        </p:nvSpPr>
        <p:spPr>
          <a:xfrm>
            <a:off x="4709689" y="4304728"/>
            <a:ext cx="945486" cy="276999"/>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Registers</a:t>
            </a:r>
          </a:p>
        </p:txBody>
      </p:sp>
      <p:sp>
        <p:nvSpPr>
          <p:cNvPr id="46" name="CuadroTexto 45"/>
          <p:cNvSpPr txBox="1"/>
          <p:nvPr/>
        </p:nvSpPr>
        <p:spPr>
          <a:xfrm>
            <a:off x="4709689" y="4673394"/>
            <a:ext cx="945486" cy="461665"/>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Local Memory</a:t>
            </a:r>
          </a:p>
        </p:txBody>
      </p:sp>
      <p:sp>
        <p:nvSpPr>
          <p:cNvPr id="47" name="CuadroTexto 46"/>
          <p:cNvSpPr txBox="1"/>
          <p:nvPr/>
        </p:nvSpPr>
        <p:spPr>
          <a:xfrm>
            <a:off x="3490989" y="2048860"/>
            <a:ext cx="2251631" cy="545281"/>
          </a:xfrm>
          <a:prstGeom prst="rect">
            <a:avLst/>
          </a:prstGeom>
          <a:solidFill>
            <a:srgbClr val="800000"/>
          </a:solidFill>
          <a:effectLst>
            <a:outerShdw blurRad="50800" dist="38100" dir="2700000" algn="tl" rotWithShape="0">
              <a:prstClr val="black">
                <a:alpha val="40000"/>
              </a:prstClr>
            </a:outerShdw>
          </a:effectLst>
          <a:scene3d>
            <a:camera prst="orthographicFront"/>
            <a:lightRig rig="threePt" dir="t"/>
          </a:scene3d>
          <a:sp3d>
            <a:bevelT/>
          </a:sp3d>
        </p:spPr>
        <p:txBody>
          <a:bodyPr wrap="square" rtlCol="0" anchor="ctr" anchorCtr="0">
            <a:noAutofit/>
          </a:bodyPr>
          <a:lstStyle/>
          <a:p>
            <a:pPr algn="ctr"/>
            <a:r>
              <a:rPr lang="en-GB" sz="1400" dirty="0">
                <a:solidFill>
                  <a:schemeClr val="bg1"/>
                </a:solidFill>
                <a:effectLst>
                  <a:outerShdw blurRad="50800" dist="38100" dir="2700000" algn="tl" rotWithShape="0">
                    <a:prstClr val="black">
                      <a:alpha val="40000"/>
                    </a:prstClr>
                  </a:outerShdw>
                </a:effectLst>
                <a:latin typeface="Century"/>
                <a:cs typeface="Century"/>
              </a:rPr>
              <a:t>Shared Memory</a:t>
            </a:r>
          </a:p>
        </p:txBody>
      </p:sp>
      <p:sp>
        <p:nvSpPr>
          <p:cNvPr id="48" name="Rectángulo redondeado 47"/>
          <p:cNvSpPr/>
          <p:nvPr/>
        </p:nvSpPr>
        <p:spPr>
          <a:xfrm>
            <a:off x="5903487" y="1637408"/>
            <a:ext cx="2395561" cy="3720716"/>
          </a:xfrm>
          <a:prstGeom prst="roundRect">
            <a:avLst>
              <a:gd name="adj" fmla="val 5110"/>
            </a:avLst>
          </a:prstGeom>
        </p:spPr>
        <p:style>
          <a:lnRef idx="1">
            <a:schemeClr val="accent6"/>
          </a:lnRef>
          <a:fillRef idx="3">
            <a:schemeClr val="accent6"/>
          </a:fillRef>
          <a:effectRef idx="2">
            <a:schemeClr val="accent6"/>
          </a:effectRef>
          <a:fontRef idx="minor">
            <a:schemeClr val="lt1"/>
          </a:fontRef>
        </p:style>
        <p:txBody>
          <a:bodyPr wrap="square" rtlCol="0" anchor="t" anchorCtr="0"/>
          <a:lstStyle/>
          <a:p>
            <a:pPr algn="ctr"/>
            <a:r>
              <a:rPr lang="en-GB" sz="1400">
                <a:latin typeface="Century"/>
                <a:cs typeface="Century"/>
              </a:rPr>
              <a:t>Block 1</a:t>
            </a:r>
          </a:p>
        </p:txBody>
      </p:sp>
      <p:sp>
        <p:nvSpPr>
          <p:cNvPr id="49" name="Rectángulo redondeado 48"/>
          <p:cNvSpPr/>
          <p:nvPr/>
        </p:nvSpPr>
        <p:spPr>
          <a:xfrm>
            <a:off x="5977670" y="2656489"/>
            <a:ext cx="1110644" cy="1275386"/>
          </a:xfrm>
          <a:prstGeom prst="roundRect">
            <a:avLst>
              <a:gd name="adj" fmla="val 0"/>
            </a:avLst>
          </a:prstGeom>
          <a:solidFill>
            <a:schemeClr val="accent6">
              <a:lumMod val="50000"/>
            </a:schemeClr>
          </a:solidFill>
          <a:effectLst/>
        </p:spPr>
        <p:style>
          <a:lnRef idx="1">
            <a:schemeClr val="accent6"/>
          </a:lnRef>
          <a:fillRef idx="3">
            <a:schemeClr val="accent6"/>
          </a:fillRef>
          <a:effectRef idx="2">
            <a:schemeClr val="accent6"/>
          </a:effectRef>
          <a:fontRef idx="minor">
            <a:schemeClr val="lt1"/>
          </a:fontRef>
        </p:style>
        <p:txBody>
          <a:bodyPr rtlCol="0" anchor="t" anchorCtr="0"/>
          <a:lstStyle/>
          <a:p>
            <a:pPr algn="ctr"/>
            <a:r>
              <a:rPr lang="en-GB" sz="1200">
                <a:latin typeface="Century"/>
                <a:cs typeface="Century"/>
              </a:rPr>
              <a:t>Thread (0,0)</a:t>
            </a:r>
          </a:p>
        </p:txBody>
      </p:sp>
      <p:sp>
        <p:nvSpPr>
          <p:cNvPr id="50" name="CuadroTexto 49"/>
          <p:cNvSpPr txBox="1"/>
          <p:nvPr/>
        </p:nvSpPr>
        <p:spPr>
          <a:xfrm>
            <a:off x="6055382" y="2989243"/>
            <a:ext cx="945486" cy="276999"/>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Registers</a:t>
            </a:r>
          </a:p>
        </p:txBody>
      </p:sp>
      <p:sp>
        <p:nvSpPr>
          <p:cNvPr id="51" name="CuadroTexto 50"/>
          <p:cNvSpPr txBox="1"/>
          <p:nvPr/>
        </p:nvSpPr>
        <p:spPr>
          <a:xfrm>
            <a:off x="6055382" y="3357909"/>
            <a:ext cx="945486" cy="461665"/>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Local Memory</a:t>
            </a:r>
          </a:p>
        </p:txBody>
      </p:sp>
      <p:sp>
        <p:nvSpPr>
          <p:cNvPr id="52" name="Rectángulo redondeado 51"/>
          <p:cNvSpPr/>
          <p:nvPr/>
        </p:nvSpPr>
        <p:spPr>
          <a:xfrm>
            <a:off x="7118657" y="2656489"/>
            <a:ext cx="1110644" cy="1275386"/>
          </a:xfrm>
          <a:prstGeom prst="roundRect">
            <a:avLst>
              <a:gd name="adj" fmla="val 0"/>
            </a:avLst>
          </a:prstGeom>
          <a:solidFill>
            <a:schemeClr val="accent6">
              <a:lumMod val="50000"/>
            </a:schemeClr>
          </a:solidFill>
          <a:effectLst/>
        </p:spPr>
        <p:style>
          <a:lnRef idx="1">
            <a:schemeClr val="accent6"/>
          </a:lnRef>
          <a:fillRef idx="3">
            <a:schemeClr val="accent6"/>
          </a:fillRef>
          <a:effectRef idx="2">
            <a:schemeClr val="accent6"/>
          </a:effectRef>
          <a:fontRef idx="minor">
            <a:schemeClr val="lt1"/>
          </a:fontRef>
        </p:style>
        <p:txBody>
          <a:bodyPr rtlCol="0" anchor="t" anchorCtr="0"/>
          <a:lstStyle/>
          <a:p>
            <a:pPr algn="ctr"/>
            <a:r>
              <a:rPr lang="en-GB" sz="1200">
                <a:latin typeface="Century"/>
                <a:cs typeface="Century"/>
              </a:rPr>
              <a:t>Thread (0,1)</a:t>
            </a:r>
          </a:p>
        </p:txBody>
      </p:sp>
      <p:sp>
        <p:nvSpPr>
          <p:cNvPr id="53" name="CuadroTexto 52"/>
          <p:cNvSpPr txBox="1"/>
          <p:nvPr/>
        </p:nvSpPr>
        <p:spPr>
          <a:xfrm>
            <a:off x="7196369" y="2989243"/>
            <a:ext cx="945486" cy="276999"/>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Registers</a:t>
            </a:r>
          </a:p>
        </p:txBody>
      </p:sp>
      <p:sp>
        <p:nvSpPr>
          <p:cNvPr id="54" name="CuadroTexto 53"/>
          <p:cNvSpPr txBox="1"/>
          <p:nvPr/>
        </p:nvSpPr>
        <p:spPr>
          <a:xfrm>
            <a:off x="7196369" y="3357909"/>
            <a:ext cx="945486" cy="461665"/>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Local Memory</a:t>
            </a:r>
          </a:p>
        </p:txBody>
      </p:sp>
      <p:sp>
        <p:nvSpPr>
          <p:cNvPr id="55" name="Rectángulo redondeado 54"/>
          <p:cNvSpPr/>
          <p:nvPr/>
        </p:nvSpPr>
        <p:spPr>
          <a:xfrm>
            <a:off x="5977670" y="3971974"/>
            <a:ext cx="1110644" cy="1275386"/>
          </a:xfrm>
          <a:prstGeom prst="roundRect">
            <a:avLst>
              <a:gd name="adj" fmla="val 0"/>
            </a:avLst>
          </a:prstGeom>
          <a:solidFill>
            <a:schemeClr val="accent6">
              <a:lumMod val="50000"/>
            </a:schemeClr>
          </a:solidFill>
          <a:effectLst/>
        </p:spPr>
        <p:style>
          <a:lnRef idx="1">
            <a:schemeClr val="accent6"/>
          </a:lnRef>
          <a:fillRef idx="3">
            <a:schemeClr val="accent6"/>
          </a:fillRef>
          <a:effectRef idx="2">
            <a:schemeClr val="accent6"/>
          </a:effectRef>
          <a:fontRef idx="minor">
            <a:schemeClr val="lt1"/>
          </a:fontRef>
        </p:style>
        <p:txBody>
          <a:bodyPr rtlCol="0" anchor="t" anchorCtr="0"/>
          <a:lstStyle/>
          <a:p>
            <a:pPr algn="ctr"/>
            <a:r>
              <a:rPr lang="en-GB" sz="1200">
                <a:latin typeface="Century"/>
                <a:cs typeface="Century"/>
              </a:rPr>
              <a:t>Thread (1,0)</a:t>
            </a:r>
          </a:p>
        </p:txBody>
      </p:sp>
      <p:sp>
        <p:nvSpPr>
          <p:cNvPr id="56" name="CuadroTexto 55"/>
          <p:cNvSpPr txBox="1"/>
          <p:nvPr/>
        </p:nvSpPr>
        <p:spPr>
          <a:xfrm>
            <a:off x="6055382" y="4304728"/>
            <a:ext cx="945486" cy="276999"/>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Registers</a:t>
            </a:r>
          </a:p>
        </p:txBody>
      </p:sp>
      <p:sp>
        <p:nvSpPr>
          <p:cNvPr id="57" name="CuadroTexto 56"/>
          <p:cNvSpPr txBox="1"/>
          <p:nvPr/>
        </p:nvSpPr>
        <p:spPr>
          <a:xfrm>
            <a:off x="6055382" y="4673394"/>
            <a:ext cx="945486" cy="461665"/>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Local Memory</a:t>
            </a:r>
          </a:p>
        </p:txBody>
      </p:sp>
      <p:sp>
        <p:nvSpPr>
          <p:cNvPr id="58" name="Rectángulo redondeado 57"/>
          <p:cNvSpPr/>
          <p:nvPr/>
        </p:nvSpPr>
        <p:spPr>
          <a:xfrm>
            <a:off x="7118657" y="3971974"/>
            <a:ext cx="1110644" cy="1275386"/>
          </a:xfrm>
          <a:prstGeom prst="roundRect">
            <a:avLst>
              <a:gd name="adj" fmla="val 0"/>
            </a:avLst>
          </a:prstGeom>
          <a:solidFill>
            <a:schemeClr val="accent6">
              <a:lumMod val="50000"/>
            </a:schemeClr>
          </a:solidFill>
          <a:effectLst/>
        </p:spPr>
        <p:style>
          <a:lnRef idx="1">
            <a:schemeClr val="accent6"/>
          </a:lnRef>
          <a:fillRef idx="3">
            <a:schemeClr val="accent6"/>
          </a:fillRef>
          <a:effectRef idx="2">
            <a:schemeClr val="accent6"/>
          </a:effectRef>
          <a:fontRef idx="minor">
            <a:schemeClr val="lt1"/>
          </a:fontRef>
        </p:style>
        <p:txBody>
          <a:bodyPr rtlCol="0" anchor="t" anchorCtr="0"/>
          <a:lstStyle/>
          <a:p>
            <a:pPr algn="ctr"/>
            <a:r>
              <a:rPr lang="en-GB" sz="1200">
                <a:latin typeface="Century"/>
                <a:cs typeface="Century"/>
              </a:rPr>
              <a:t>Thread (1,1)</a:t>
            </a:r>
          </a:p>
        </p:txBody>
      </p:sp>
      <p:sp>
        <p:nvSpPr>
          <p:cNvPr id="59" name="CuadroTexto 58"/>
          <p:cNvSpPr txBox="1"/>
          <p:nvPr/>
        </p:nvSpPr>
        <p:spPr>
          <a:xfrm>
            <a:off x="7196369" y="4304728"/>
            <a:ext cx="945486" cy="276999"/>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Registers</a:t>
            </a:r>
          </a:p>
        </p:txBody>
      </p:sp>
      <p:sp>
        <p:nvSpPr>
          <p:cNvPr id="60" name="CuadroTexto 59"/>
          <p:cNvSpPr txBox="1"/>
          <p:nvPr/>
        </p:nvSpPr>
        <p:spPr>
          <a:xfrm>
            <a:off x="7196369" y="4673394"/>
            <a:ext cx="945486" cy="461665"/>
          </a:xfrm>
          <a:prstGeom prst="rect">
            <a:avLst/>
          </a:prstGeom>
          <a:solidFill>
            <a:schemeClr val="bg2">
              <a:lumMod val="75000"/>
            </a:schemeClr>
          </a:solidFill>
          <a:effectLst>
            <a:outerShdw blurRad="50800" dist="38100" dir="2700000" algn="tl" rotWithShape="0">
              <a:srgbClr val="000000">
                <a:alpha val="43000"/>
              </a:srgbClr>
            </a:outerShdw>
          </a:effectLst>
          <a:scene3d>
            <a:camera prst="orthographicFront"/>
            <a:lightRig rig="threePt" dir="t"/>
          </a:scene3d>
          <a:sp3d>
            <a:bevelT/>
          </a:sp3d>
        </p:spPr>
        <p:txBody>
          <a:bodyPr wrap="square" rtlCol="0">
            <a:spAutoFit/>
          </a:bodyPr>
          <a:lstStyle/>
          <a:p>
            <a:pPr algn="ctr"/>
            <a:r>
              <a:rPr lang="en-GB" sz="1200">
                <a:latin typeface="Century"/>
                <a:cs typeface="Century"/>
              </a:rPr>
              <a:t>Local Memory</a:t>
            </a:r>
          </a:p>
        </p:txBody>
      </p:sp>
      <p:sp>
        <p:nvSpPr>
          <p:cNvPr id="61" name="CuadroTexto 60"/>
          <p:cNvSpPr txBox="1"/>
          <p:nvPr/>
        </p:nvSpPr>
        <p:spPr>
          <a:xfrm>
            <a:off x="5977669" y="2048860"/>
            <a:ext cx="2251631" cy="545281"/>
          </a:xfrm>
          <a:prstGeom prst="rect">
            <a:avLst/>
          </a:prstGeom>
          <a:solidFill>
            <a:srgbClr val="800000"/>
          </a:solidFill>
          <a:effectLst>
            <a:outerShdw blurRad="50800" dist="38100" dir="2700000" algn="tl" rotWithShape="0">
              <a:prstClr val="black">
                <a:alpha val="40000"/>
              </a:prstClr>
            </a:outerShdw>
          </a:effectLst>
          <a:scene3d>
            <a:camera prst="orthographicFront"/>
            <a:lightRig rig="threePt" dir="t"/>
          </a:scene3d>
          <a:sp3d>
            <a:bevelT/>
          </a:sp3d>
        </p:spPr>
        <p:txBody>
          <a:bodyPr wrap="square" rtlCol="0" anchor="ctr" anchorCtr="0">
            <a:noAutofit/>
          </a:bodyPr>
          <a:lstStyle/>
          <a:p>
            <a:pPr algn="ctr"/>
            <a:r>
              <a:rPr lang="en-GB" sz="1400">
                <a:solidFill>
                  <a:schemeClr val="bg1"/>
                </a:solidFill>
                <a:effectLst>
                  <a:outerShdw blurRad="50800" dist="38100" dir="2700000" algn="tl" rotWithShape="0">
                    <a:prstClr val="black">
                      <a:alpha val="40000"/>
                    </a:prstClr>
                  </a:outerShdw>
                </a:effectLst>
                <a:latin typeface="Century"/>
                <a:cs typeface="Century"/>
              </a:rPr>
              <a:t>Shared Memory</a:t>
            </a:r>
          </a:p>
        </p:txBody>
      </p:sp>
      <p:sp>
        <p:nvSpPr>
          <p:cNvPr id="62" name="CuadroTexto 61"/>
          <p:cNvSpPr txBox="1"/>
          <p:nvPr/>
        </p:nvSpPr>
        <p:spPr>
          <a:xfrm>
            <a:off x="3416807" y="5503260"/>
            <a:ext cx="4882241" cy="663128"/>
          </a:xfrm>
          <a:prstGeom prst="rect">
            <a:avLst/>
          </a:prstGeom>
          <a:solidFill>
            <a:srgbClr val="FF6600"/>
          </a:solidFill>
          <a:effectLst>
            <a:outerShdw blurRad="50800" dist="38100" dir="2700000" algn="tl" rotWithShape="0">
              <a:prstClr val="black">
                <a:alpha val="40000"/>
              </a:prstClr>
            </a:outerShdw>
          </a:effectLst>
          <a:scene3d>
            <a:camera prst="orthographicFront"/>
            <a:lightRig rig="threePt" dir="t"/>
          </a:scene3d>
          <a:sp3d>
            <a:bevelT/>
          </a:sp3d>
        </p:spPr>
        <p:txBody>
          <a:bodyPr wrap="square" rtlCol="0" anchor="ctr" anchorCtr="0">
            <a:noAutofit/>
          </a:bodyPr>
          <a:lstStyle/>
          <a:p>
            <a:pPr algn="ctr"/>
            <a:r>
              <a:rPr lang="en-GB">
                <a:solidFill>
                  <a:schemeClr val="bg1"/>
                </a:solidFill>
                <a:effectLst>
                  <a:outerShdw blurRad="50800" dist="38100" dir="2700000" algn="tl" rotWithShape="0">
                    <a:prstClr val="black">
                      <a:alpha val="40000"/>
                    </a:prstClr>
                  </a:outerShdw>
                </a:effectLst>
                <a:latin typeface="Century"/>
                <a:cs typeface="Century"/>
              </a:rPr>
              <a:t>Device Memory </a:t>
            </a:r>
          </a:p>
        </p:txBody>
      </p:sp>
      <p:sp>
        <p:nvSpPr>
          <p:cNvPr id="63" name="CuadroTexto 62"/>
          <p:cNvSpPr txBox="1"/>
          <p:nvPr/>
        </p:nvSpPr>
        <p:spPr>
          <a:xfrm>
            <a:off x="736601" y="5503260"/>
            <a:ext cx="1524000" cy="663128"/>
          </a:xfrm>
          <a:prstGeom prst="rect">
            <a:avLst/>
          </a:prstGeom>
          <a:solidFill>
            <a:schemeClr val="accent2">
              <a:lumMod val="75000"/>
            </a:schemeClr>
          </a:solidFill>
          <a:effectLst>
            <a:outerShdw blurRad="50800" dist="38100" dir="2700000" algn="tl" rotWithShape="0">
              <a:prstClr val="black">
                <a:alpha val="40000"/>
              </a:prstClr>
            </a:outerShdw>
          </a:effectLst>
          <a:scene3d>
            <a:camera prst="orthographicFront"/>
            <a:lightRig rig="threePt" dir="t"/>
          </a:scene3d>
          <a:sp3d>
            <a:bevelT/>
          </a:sp3d>
        </p:spPr>
        <p:txBody>
          <a:bodyPr wrap="square" rtlCol="0" anchor="ctr" anchorCtr="0">
            <a:noAutofit/>
          </a:bodyPr>
          <a:lstStyle/>
          <a:p>
            <a:pPr algn="ctr"/>
            <a:r>
              <a:rPr lang="en-GB">
                <a:solidFill>
                  <a:schemeClr val="bg1"/>
                </a:solidFill>
                <a:effectLst>
                  <a:outerShdw blurRad="50800" dist="38100" dir="2700000" algn="tl" rotWithShape="0">
                    <a:prstClr val="black">
                      <a:alpha val="40000"/>
                    </a:prstClr>
                  </a:outerShdw>
                </a:effectLst>
                <a:latin typeface="Century"/>
                <a:cs typeface="Century"/>
              </a:rPr>
              <a:t>Host Memory</a:t>
            </a:r>
          </a:p>
        </p:txBody>
      </p:sp>
      <p:sp>
        <p:nvSpPr>
          <p:cNvPr id="64" name="Flecha izquierda y derecha 63"/>
          <p:cNvSpPr/>
          <p:nvPr/>
        </p:nvSpPr>
        <p:spPr>
          <a:xfrm flipV="1">
            <a:off x="2260601" y="5632988"/>
            <a:ext cx="1156206" cy="373736"/>
          </a:xfrm>
          <a:prstGeom prst="leftRightArrow">
            <a:avLst/>
          </a:prstGeom>
          <a:ln w="38100" cmpd="sng"/>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n w="38100" cmpd="sng">
                <a:solidFill>
                  <a:schemeClr val="tx1"/>
                </a:solidFill>
              </a:ln>
            </a:endParaRPr>
          </a:p>
        </p:txBody>
      </p:sp>
      <p:sp>
        <p:nvSpPr>
          <p:cNvPr id="66" name="CuadroTexto 65"/>
          <p:cNvSpPr txBox="1"/>
          <p:nvPr/>
        </p:nvSpPr>
        <p:spPr>
          <a:xfrm>
            <a:off x="6832601" y="5530029"/>
            <a:ext cx="837339" cy="646331"/>
          </a:xfrm>
          <a:prstGeom prst="rect">
            <a:avLst/>
          </a:prstGeom>
          <a:noFill/>
        </p:spPr>
        <p:txBody>
          <a:bodyPr wrap="none" rtlCol="0">
            <a:spAutoFit/>
          </a:bodyPr>
          <a:lstStyle/>
          <a:p>
            <a:r>
              <a:rPr lang="en-GB" sz="1200">
                <a:solidFill>
                  <a:schemeClr val="bg1"/>
                </a:solidFill>
                <a:latin typeface="Century"/>
                <a:cs typeface="Century"/>
              </a:rPr>
              <a:t>Global</a:t>
            </a:r>
          </a:p>
          <a:p>
            <a:r>
              <a:rPr lang="en-GB" sz="1200">
                <a:solidFill>
                  <a:schemeClr val="bg1"/>
                </a:solidFill>
                <a:latin typeface="Century"/>
                <a:cs typeface="Century"/>
              </a:rPr>
              <a:t>Constant</a:t>
            </a:r>
          </a:p>
          <a:p>
            <a:r>
              <a:rPr lang="en-GB" sz="1200">
                <a:solidFill>
                  <a:schemeClr val="bg1"/>
                </a:solidFill>
                <a:latin typeface="Century"/>
                <a:cs typeface="Century"/>
              </a:rPr>
              <a:t>Texture</a:t>
            </a:r>
          </a:p>
        </p:txBody>
      </p:sp>
    </p:spTree>
    <p:extLst>
      <p:ext uri="{BB962C8B-B14F-4D97-AF65-F5344CB8AC3E}">
        <p14:creationId xmlns:p14="http://schemas.microsoft.com/office/powerpoint/2010/main" val="7919487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BE3649-3F6D-A4E3-A438-B38F64ACC5AB}"/>
              </a:ext>
            </a:extLst>
          </p:cNvPr>
          <p:cNvSpPr>
            <a:spLocks noGrp="1"/>
          </p:cNvSpPr>
          <p:nvPr>
            <p:ph type="title"/>
          </p:nvPr>
        </p:nvSpPr>
        <p:spPr/>
        <p:txBody>
          <a:bodyPr/>
          <a:lstStyle/>
          <a:p>
            <a:r>
              <a:rPr lang="es-ES" dirty="0" err="1"/>
              <a:t>Device</a:t>
            </a:r>
            <a:r>
              <a:rPr lang="es-ES" dirty="0"/>
              <a:t> </a:t>
            </a:r>
            <a:r>
              <a:rPr lang="es-ES" dirty="0" err="1"/>
              <a:t>memory</a:t>
            </a:r>
            <a:endParaRPr lang="es-ES" dirty="0"/>
          </a:p>
        </p:txBody>
      </p:sp>
      <p:sp>
        <p:nvSpPr>
          <p:cNvPr id="3" name="Marcador de contenido 2">
            <a:extLst>
              <a:ext uri="{FF2B5EF4-FFF2-40B4-BE49-F238E27FC236}">
                <a16:creationId xmlns:a16="http://schemas.microsoft.com/office/drawing/2014/main" id="{616DCE7C-4324-BE77-925C-2F18433EB58F}"/>
              </a:ext>
            </a:extLst>
          </p:cNvPr>
          <p:cNvSpPr>
            <a:spLocks noGrp="1"/>
          </p:cNvSpPr>
          <p:nvPr>
            <p:ph idx="1"/>
          </p:nvPr>
        </p:nvSpPr>
        <p:spPr/>
        <p:txBody>
          <a:bodyPr/>
          <a:lstStyle/>
          <a:p>
            <a:r>
              <a:rPr lang="es-ES" dirty="0" err="1"/>
              <a:t>Device</a:t>
            </a:r>
            <a:r>
              <a:rPr lang="es-ES" dirty="0"/>
              <a:t> </a:t>
            </a:r>
            <a:r>
              <a:rPr lang="es-ES" dirty="0" err="1"/>
              <a:t>memory</a:t>
            </a:r>
            <a:r>
              <a:rPr lang="es-ES" dirty="0"/>
              <a:t> can be </a:t>
            </a:r>
            <a:r>
              <a:rPr lang="es-ES" dirty="0" err="1"/>
              <a:t>allocated</a:t>
            </a:r>
            <a:r>
              <a:rPr lang="es-ES" dirty="0"/>
              <a:t> </a:t>
            </a:r>
            <a:r>
              <a:rPr lang="es-ES" dirty="0" err="1"/>
              <a:t>either</a:t>
            </a:r>
            <a:r>
              <a:rPr lang="es-ES" dirty="0"/>
              <a:t> as </a:t>
            </a:r>
            <a:r>
              <a:rPr lang="en-GB" dirty="0">
                <a:solidFill>
                  <a:srgbClr val="F79646"/>
                </a:solidFill>
                <a:effectLst>
                  <a:outerShdw blurRad="50800" dist="38100" dir="2700000" algn="tl" rotWithShape="0">
                    <a:srgbClr val="000000">
                      <a:alpha val="43000"/>
                    </a:srgbClr>
                  </a:outerShdw>
                </a:effectLst>
              </a:rPr>
              <a:t>linear memory </a:t>
            </a:r>
            <a:r>
              <a:rPr lang="es-ES" dirty="0" err="1"/>
              <a:t>or</a:t>
            </a:r>
            <a:r>
              <a:rPr lang="es-ES" dirty="0"/>
              <a:t> as </a:t>
            </a:r>
            <a:r>
              <a:rPr lang="en-GB" dirty="0">
                <a:solidFill>
                  <a:srgbClr val="F79646"/>
                </a:solidFill>
                <a:effectLst>
                  <a:outerShdw blurRad="50800" dist="38100" dir="2700000" algn="tl" rotWithShape="0">
                    <a:srgbClr val="000000">
                      <a:alpha val="43000"/>
                    </a:srgbClr>
                  </a:outerShdw>
                </a:effectLst>
              </a:rPr>
              <a:t>CUDA arrays</a:t>
            </a:r>
            <a:r>
              <a:rPr lang="es-ES" dirty="0"/>
              <a:t> (</a:t>
            </a:r>
            <a:r>
              <a:rPr lang="es-ES" dirty="0" err="1"/>
              <a:t>for</a:t>
            </a:r>
            <a:r>
              <a:rPr lang="es-ES" dirty="0"/>
              <a:t> </a:t>
            </a:r>
            <a:r>
              <a:rPr lang="es-ES" dirty="0" err="1"/>
              <a:t>Texture</a:t>
            </a:r>
            <a:r>
              <a:rPr lang="es-ES" dirty="0"/>
              <a:t> and Surface </a:t>
            </a:r>
            <a:r>
              <a:rPr lang="es-ES" dirty="0" err="1"/>
              <a:t>Memory</a:t>
            </a:r>
            <a:r>
              <a:rPr lang="es-ES" dirty="0"/>
              <a:t>).</a:t>
            </a:r>
          </a:p>
          <a:p>
            <a:r>
              <a:rPr lang="es-ES" dirty="0"/>
              <a:t>Linear </a:t>
            </a:r>
            <a:r>
              <a:rPr lang="es-ES" dirty="0" err="1"/>
              <a:t>memory</a:t>
            </a:r>
            <a:r>
              <a:rPr lang="es-ES" dirty="0"/>
              <a:t> </a:t>
            </a:r>
            <a:r>
              <a:rPr lang="es-ES" dirty="0" err="1"/>
              <a:t>is</a:t>
            </a:r>
            <a:r>
              <a:rPr lang="es-ES" dirty="0"/>
              <a:t> </a:t>
            </a:r>
            <a:r>
              <a:rPr lang="es-ES" dirty="0" err="1"/>
              <a:t>typically</a:t>
            </a:r>
            <a:r>
              <a:rPr lang="es-ES" dirty="0"/>
              <a:t> </a:t>
            </a:r>
            <a:r>
              <a:rPr lang="es-ES" dirty="0" err="1"/>
              <a:t>allocated</a:t>
            </a:r>
            <a:r>
              <a:rPr lang="es-ES" dirty="0"/>
              <a:t> </a:t>
            </a:r>
            <a:r>
              <a:rPr lang="es-ES" dirty="0" err="1"/>
              <a:t>using</a:t>
            </a:r>
            <a:r>
              <a:rPr lang="es-ES" dirty="0"/>
              <a:t> </a:t>
            </a:r>
            <a:r>
              <a:rPr lang="es-ES" b="1" dirty="0" err="1">
                <a:latin typeface="Courier New" panose="02070309020205020404" pitchFamily="49" charset="0"/>
              </a:rPr>
              <a:t>cudaMalloc</a:t>
            </a:r>
            <a:r>
              <a:rPr lang="es-ES" b="1" dirty="0">
                <a:latin typeface="Courier New" panose="02070309020205020404" pitchFamily="49" charset="0"/>
              </a:rPr>
              <a:t>()</a:t>
            </a:r>
            <a:r>
              <a:rPr lang="es-ES" dirty="0"/>
              <a:t> and </a:t>
            </a:r>
            <a:r>
              <a:rPr lang="es-ES" dirty="0" err="1"/>
              <a:t>freed</a:t>
            </a:r>
            <a:r>
              <a:rPr lang="es-ES" dirty="0"/>
              <a:t> </a:t>
            </a:r>
            <a:r>
              <a:rPr lang="es-ES" dirty="0" err="1"/>
              <a:t>using</a:t>
            </a:r>
            <a:r>
              <a:rPr lang="es-ES" dirty="0"/>
              <a:t> </a:t>
            </a:r>
            <a:r>
              <a:rPr lang="es-ES" b="1" dirty="0" err="1">
                <a:latin typeface="Courier New" panose="02070309020205020404" pitchFamily="49" charset="0"/>
              </a:rPr>
              <a:t>cudaFree</a:t>
            </a:r>
            <a:r>
              <a:rPr lang="es-ES" b="1" dirty="0">
                <a:latin typeface="Courier New" panose="02070309020205020404" pitchFamily="49" charset="0"/>
              </a:rPr>
              <a:t>()</a:t>
            </a:r>
            <a:r>
              <a:rPr lang="es-ES" dirty="0"/>
              <a:t> and data transfer </a:t>
            </a:r>
            <a:r>
              <a:rPr lang="es-ES" dirty="0" err="1"/>
              <a:t>between</a:t>
            </a:r>
            <a:r>
              <a:rPr lang="es-ES" dirty="0"/>
              <a:t> host </a:t>
            </a:r>
            <a:r>
              <a:rPr lang="es-ES" dirty="0" err="1"/>
              <a:t>memory</a:t>
            </a:r>
            <a:r>
              <a:rPr lang="es-ES" dirty="0"/>
              <a:t> and </a:t>
            </a:r>
            <a:r>
              <a:rPr lang="es-ES" dirty="0" err="1"/>
              <a:t>device</a:t>
            </a:r>
            <a:r>
              <a:rPr lang="es-ES" dirty="0"/>
              <a:t> </a:t>
            </a:r>
            <a:r>
              <a:rPr lang="es-ES" dirty="0" err="1"/>
              <a:t>memory</a:t>
            </a:r>
            <a:r>
              <a:rPr lang="es-ES" dirty="0"/>
              <a:t> are </a:t>
            </a:r>
            <a:r>
              <a:rPr lang="es-ES" dirty="0" err="1"/>
              <a:t>typically</a:t>
            </a:r>
            <a:r>
              <a:rPr lang="es-ES" dirty="0"/>
              <a:t> done </a:t>
            </a:r>
            <a:r>
              <a:rPr lang="es-ES" dirty="0" err="1"/>
              <a:t>using</a:t>
            </a:r>
            <a:r>
              <a:rPr lang="es-ES" dirty="0"/>
              <a:t> </a:t>
            </a:r>
            <a:r>
              <a:rPr lang="es-ES" b="1" dirty="0" err="1">
                <a:latin typeface="Courier New" panose="02070309020205020404" pitchFamily="49" charset="0"/>
              </a:rPr>
              <a:t>cudaMemcpy</a:t>
            </a:r>
            <a:r>
              <a:rPr lang="es-ES" b="1" dirty="0">
                <a:latin typeface="Courier New" panose="02070309020205020404" pitchFamily="49" charset="0"/>
              </a:rPr>
              <a:t>()</a:t>
            </a:r>
            <a:r>
              <a:rPr lang="es-ES" dirty="0"/>
              <a:t> (</a:t>
            </a:r>
            <a:r>
              <a:rPr lang="es-ES" dirty="0" err="1"/>
              <a:t>or</a:t>
            </a:r>
            <a:r>
              <a:rPr lang="es-ES" dirty="0"/>
              <a:t> </a:t>
            </a:r>
            <a:r>
              <a:rPr lang="es-ES" b="1" dirty="0" err="1">
                <a:latin typeface="Courier New" panose="02070309020205020404" pitchFamily="49" charset="0"/>
              </a:rPr>
              <a:t>cudaMallocPitch</a:t>
            </a:r>
            <a:r>
              <a:rPr lang="es-ES" b="1" dirty="0">
                <a:latin typeface="Courier New" panose="02070309020205020404" pitchFamily="49" charset="0"/>
              </a:rPr>
              <a:t>()</a:t>
            </a:r>
            <a:r>
              <a:rPr lang="es-ES" dirty="0"/>
              <a:t> and </a:t>
            </a:r>
            <a:r>
              <a:rPr lang="es-ES" b="1" dirty="0">
                <a:latin typeface="Courier New" panose="02070309020205020404" pitchFamily="49" charset="0"/>
              </a:rPr>
              <a:t>cudaMalloc3D()</a:t>
            </a:r>
            <a:r>
              <a:rPr lang="es-ES" dirty="0"/>
              <a:t>).</a:t>
            </a:r>
          </a:p>
          <a:p>
            <a:endParaRPr lang="es-ES" dirty="0"/>
          </a:p>
          <a:p>
            <a:endParaRPr lang="es-ES" dirty="0"/>
          </a:p>
        </p:txBody>
      </p:sp>
    </p:spTree>
    <p:extLst>
      <p:ext uri="{BB962C8B-B14F-4D97-AF65-F5344CB8AC3E}">
        <p14:creationId xmlns:p14="http://schemas.microsoft.com/office/powerpoint/2010/main" val="13101629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7E3A8-EA08-EF0E-EAEA-8F2FBC14456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1843B4-8354-5E35-86D0-796D3F20F3B0}"/>
              </a:ext>
            </a:extLst>
          </p:cNvPr>
          <p:cNvSpPr>
            <a:spLocks noGrp="1"/>
          </p:cNvSpPr>
          <p:nvPr>
            <p:ph type="title"/>
          </p:nvPr>
        </p:nvSpPr>
        <p:spPr/>
        <p:txBody>
          <a:bodyPr/>
          <a:lstStyle/>
          <a:p>
            <a:r>
              <a:rPr lang="es-ES" dirty="0" err="1"/>
              <a:t>Device</a:t>
            </a:r>
            <a:r>
              <a:rPr lang="es-ES" dirty="0"/>
              <a:t> </a:t>
            </a:r>
            <a:r>
              <a:rPr lang="es-ES" dirty="0" err="1"/>
              <a:t>memory</a:t>
            </a:r>
            <a:endParaRPr lang="es-ES" dirty="0"/>
          </a:p>
        </p:txBody>
      </p:sp>
      <p:sp>
        <p:nvSpPr>
          <p:cNvPr id="3" name="Marcador de contenido 2">
            <a:extLst>
              <a:ext uri="{FF2B5EF4-FFF2-40B4-BE49-F238E27FC236}">
                <a16:creationId xmlns:a16="http://schemas.microsoft.com/office/drawing/2014/main" id="{07776F6A-AEB1-6882-0C86-92F1FFD3CFE5}"/>
              </a:ext>
            </a:extLst>
          </p:cNvPr>
          <p:cNvSpPr>
            <a:spLocks noGrp="1"/>
          </p:cNvSpPr>
          <p:nvPr>
            <p:ph idx="1"/>
          </p:nvPr>
        </p:nvSpPr>
        <p:spPr>
          <a:xfrm>
            <a:off x="373380" y="4019232"/>
            <a:ext cx="8229600" cy="2114551"/>
          </a:xfrm>
        </p:spPr>
        <p:txBody>
          <a:bodyPr>
            <a:normAutofit fontScale="92500" lnSpcReduction="20000"/>
          </a:bodyPr>
          <a:lstStyle/>
          <a:p>
            <a:r>
              <a:rPr lang="es-ES" b="1" dirty="0" err="1">
                <a:effectLst/>
                <a:latin typeface="Courier New" panose="02070309020205020404" pitchFamily="49" charset="0"/>
              </a:rPr>
              <a:t>cudaMemcpyToSymbol</a:t>
            </a:r>
            <a:r>
              <a:rPr lang="es-ES" b="1" dirty="0">
                <a:effectLst/>
                <a:latin typeface="Courier New" panose="02070309020205020404" pitchFamily="49" charset="0"/>
              </a:rPr>
              <a:t>()</a:t>
            </a:r>
            <a:r>
              <a:rPr lang="es-ES" b="0" i="0" dirty="0">
                <a:solidFill>
                  <a:srgbClr val="1A1A1A"/>
                </a:solidFill>
                <a:effectLst/>
                <a:latin typeface="NVIDIA"/>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used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copy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from</a:t>
            </a:r>
            <a:r>
              <a:rPr lang="es-ES" b="0" i="0" dirty="0">
                <a:solidFill>
                  <a:srgbClr val="1A1A1A"/>
                </a:solidFill>
                <a:effectLst/>
                <a:latin typeface="Century" panose="02040604050505020304" pitchFamily="18" charset="0"/>
              </a:rPr>
              <a:t> host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device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NVIDIA"/>
              </a:rPr>
              <a:t>.</a:t>
            </a:r>
            <a:endParaRPr lang="es-ES" b="1" dirty="0">
              <a:effectLst/>
              <a:latin typeface="Courier New" panose="02070309020205020404" pitchFamily="49" charset="0"/>
            </a:endParaRPr>
          </a:p>
          <a:p>
            <a:r>
              <a:rPr lang="es-ES" b="1" dirty="0" err="1">
                <a:effectLst/>
                <a:latin typeface="Courier New" panose="02070309020205020404" pitchFamily="49" charset="0"/>
              </a:rPr>
              <a:t>cudaMemcpyFromSymbol</a:t>
            </a:r>
            <a:r>
              <a:rPr lang="es-ES" b="1" dirty="0">
                <a:effectLst/>
                <a:latin typeface="Courier New" panose="02070309020205020404" pitchFamily="49" charset="0"/>
              </a:rPr>
              <a: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used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copy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from</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device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host.</a:t>
            </a:r>
            <a:endParaRPr lang="es-ES" b="1" dirty="0">
              <a:effectLst/>
              <a:latin typeface="Century" panose="02040604050505020304" pitchFamily="18" charset="0"/>
            </a:endParaRPr>
          </a:p>
          <a:p>
            <a:r>
              <a:rPr lang="es-ES" b="1" dirty="0" err="1">
                <a:effectLst/>
                <a:latin typeface="Courier New" panose="02070309020205020404" pitchFamily="49" charset="0"/>
              </a:rPr>
              <a:t>cudaGetSymbolAddress</a:t>
            </a:r>
            <a:r>
              <a:rPr lang="es-ES" b="1" dirty="0">
                <a:effectLst/>
                <a:latin typeface="Courier New" panose="02070309020205020404" pitchFamily="49" charset="0"/>
              </a:rPr>
              <a: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used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retrieve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address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pointing</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allocated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for</a:t>
            </a:r>
            <a:r>
              <a:rPr lang="es-ES" b="0" i="0" dirty="0">
                <a:solidFill>
                  <a:srgbClr val="1A1A1A"/>
                </a:solidFill>
                <a:effectLst/>
                <a:latin typeface="Century" panose="02040604050505020304" pitchFamily="18" charset="0"/>
              </a:rPr>
              <a:t> a variable </a:t>
            </a:r>
            <a:r>
              <a:rPr lang="es-ES" b="0" i="0" dirty="0" err="1">
                <a:solidFill>
                  <a:srgbClr val="1A1A1A"/>
                </a:solidFill>
                <a:effectLst/>
                <a:latin typeface="Century" panose="02040604050505020304" pitchFamily="18" charset="0"/>
              </a:rPr>
              <a:t>declared</a:t>
            </a:r>
            <a:r>
              <a:rPr lang="es-ES" b="0" i="0" dirty="0">
                <a:solidFill>
                  <a:srgbClr val="1A1A1A"/>
                </a:solidFill>
                <a:effectLst/>
                <a:latin typeface="Century" panose="02040604050505020304" pitchFamily="18" charset="0"/>
              </a:rPr>
              <a:t> in global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space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size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of</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allocated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obtained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through</a:t>
            </a:r>
            <a:r>
              <a:rPr lang="es-ES" b="0" i="0" dirty="0">
                <a:solidFill>
                  <a:srgbClr val="1A1A1A"/>
                </a:solidFill>
                <a:effectLst/>
                <a:latin typeface="Century" panose="02040604050505020304" pitchFamily="18" charset="0"/>
              </a:rPr>
              <a:t> </a:t>
            </a:r>
            <a:r>
              <a:rPr lang="es-ES" b="1" dirty="0" err="1">
                <a:effectLst/>
                <a:latin typeface="Courier New" panose="02070309020205020404" pitchFamily="49" charset="0"/>
              </a:rPr>
              <a:t>cudaGetSymbolSize</a:t>
            </a:r>
            <a:r>
              <a:rPr lang="es-ES" b="1" dirty="0">
                <a:effectLst/>
                <a:latin typeface="Courier New" panose="02070309020205020404" pitchFamily="49" charset="0"/>
              </a:rPr>
              <a:t>()</a:t>
            </a:r>
            <a:r>
              <a:rPr lang="es-ES" b="0" i="0" dirty="0">
                <a:solidFill>
                  <a:srgbClr val="1A1A1A"/>
                </a:solidFill>
                <a:effectLst/>
                <a:latin typeface="NVIDIA"/>
              </a:rPr>
              <a:t>.</a:t>
            </a:r>
            <a:endParaRPr lang="es-ES" dirty="0"/>
          </a:p>
        </p:txBody>
      </p:sp>
      <p:pic>
        <p:nvPicPr>
          <p:cNvPr id="5" name="Imagen 4" descr="Interfaz de usuario gráfica, Texto, Aplicación&#10;&#10;El contenido generado por IA puede ser incorrecto.">
            <a:extLst>
              <a:ext uri="{FF2B5EF4-FFF2-40B4-BE49-F238E27FC236}">
                <a16:creationId xmlns:a16="http://schemas.microsoft.com/office/drawing/2014/main" id="{8A56BC52-4B6E-7927-A8DA-946269B0D01B}"/>
              </a:ext>
            </a:extLst>
          </p:cNvPr>
          <p:cNvPicPr>
            <a:picLocks noChangeAspect="1"/>
          </p:cNvPicPr>
          <p:nvPr/>
        </p:nvPicPr>
        <p:blipFill>
          <a:blip r:embed="rId2"/>
          <a:stretch>
            <a:fillRect/>
          </a:stretch>
        </p:blipFill>
        <p:spPr>
          <a:xfrm>
            <a:off x="605790" y="1428750"/>
            <a:ext cx="4438650" cy="2432481"/>
          </a:xfrm>
          <a:prstGeom prst="rect">
            <a:avLst/>
          </a:prstGeom>
        </p:spPr>
      </p:pic>
    </p:spTree>
    <p:extLst>
      <p:ext uri="{BB962C8B-B14F-4D97-AF65-F5344CB8AC3E}">
        <p14:creationId xmlns:p14="http://schemas.microsoft.com/office/powerpoint/2010/main" val="2284768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CA702-30C0-793E-79CD-8D3DB394A3C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ECFE0A-91CB-512A-FF96-AB024EB4EE83}"/>
              </a:ext>
            </a:extLst>
          </p:cNvPr>
          <p:cNvSpPr>
            <a:spLocks noGrp="1"/>
          </p:cNvSpPr>
          <p:nvPr>
            <p:ph type="title"/>
          </p:nvPr>
        </p:nvSpPr>
        <p:spPr/>
        <p:txBody>
          <a:bodyPr/>
          <a:lstStyle/>
          <a:p>
            <a:r>
              <a:rPr lang="es-ES" dirty="0" err="1"/>
              <a:t>Shared</a:t>
            </a:r>
            <a:r>
              <a:rPr lang="es-ES" dirty="0"/>
              <a:t> </a:t>
            </a:r>
            <a:r>
              <a:rPr lang="es-ES" dirty="0" err="1"/>
              <a:t>Memory</a:t>
            </a:r>
            <a:endParaRPr lang="es-ES" dirty="0"/>
          </a:p>
        </p:txBody>
      </p:sp>
      <p:sp>
        <p:nvSpPr>
          <p:cNvPr id="3" name="Marcador de contenido 2">
            <a:extLst>
              <a:ext uri="{FF2B5EF4-FFF2-40B4-BE49-F238E27FC236}">
                <a16:creationId xmlns:a16="http://schemas.microsoft.com/office/drawing/2014/main" id="{C77DB71C-14A6-466C-F997-72020C9EFAA6}"/>
              </a:ext>
            </a:extLst>
          </p:cNvPr>
          <p:cNvSpPr>
            <a:spLocks noGrp="1"/>
          </p:cNvSpPr>
          <p:nvPr>
            <p:ph idx="1"/>
          </p:nvPr>
        </p:nvSpPr>
        <p:spPr>
          <a:xfrm>
            <a:off x="457200" y="3188652"/>
            <a:ext cx="8229600" cy="3166428"/>
          </a:xfrm>
        </p:spPr>
        <p:txBody>
          <a:bodyPr>
            <a:normAutofit lnSpcReduction="10000"/>
          </a:bodyPr>
          <a:lstStyle/>
          <a:p>
            <a:r>
              <a:rPr lang="es-ES" b="0" i="0" dirty="0" err="1">
                <a:solidFill>
                  <a:srgbClr val="1A1A1A"/>
                </a:solidFill>
                <a:effectLst/>
                <a:latin typeface="Century" panose="02040604050505020304" pitchFamily="18" charset="0"/>
              </a:rPr>
              <a:t>Shared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allocated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using</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1" dirty="0">
                <a:effectLst/>
                <a:latin typeface="Courier New" panose="02070309020205020404" pitchFamily="49" charset="0"/>
              </a:rPr>
              <a:t>__</a:t>
            </a:r>
            <a:r>
              <a:rPr lang="es-ES" b="1" dirty="0" err="1">
                <a:effectLst/>
                <a:latin typeface="Courier New" panose="02070309020205020404" pitchFamily="49" charset="0"/>
              </a:rPr>
              <a:t>shared</a:t>
            </a:r>
            <a:r>
              <a:rPr lang="es-ES" b="1" dirty="0">
                <a:effectLst/>
                <a:latin typeface="Courier New" panose="02070309020205020404" pitchFamily="49" charset="0"/>
              </a:rPr>
              <a:t>__</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space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specifier</a:t>
            </a:r>
            <a:r>
              <a:rPr lang="es-ES" b="0" i="0" dirty="0">
                <a:solidFill>
                  <a:srgbClr val="1A1A1A"/>
                </a:solidFill>
                <a:effectLst/>
                <a:latin typeface="NVIDIA"/>
              </a:rPr>
              <a:t>. </a:t>
            </a:r>
          </a:p>
          <a:p>
            <a:r>
              <a:rPr lang="es-ES" b="0" i="0" dirty="0" err="1">
                <a:solidFill>
                  <a:srgbClr val="1A1A1A"/>
                </a:solidFill>
                <a:effectLst/>
                <a:latin typeface="Century" panose="02040604050505020304" pitchFamily="18" charset="0"/>
              </a:rPr>
              <a:t>Shared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expected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be </a:t>
            </a:r>
            <a:r>
              <a:rPr lang="es-ES" b="0" i="0" dirty="0" err="1">
                <a:solidFill>
                  <a:srgbClr val="1A1A1A"/>
                </a:solidFill>
                <a:effectLst/>
                <a:latin typeface="Century" panose="02040604050505020304" pitchFamily="18" charset="0"/>
              </a:rPr>
              <a:t>much</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faster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than</a:t>
            </a:r>
            <a:r>
              <a:rPr lang="es-ES" b="0" i="0" dirty="0">
                <a:solidFill>
                  <a:srgbClr val="1A1A1A"/>
                </a:solidFill>
                <a:effectLst/>
                <a:latin typeface="Century" panose="02040604050505020304" pitchFamily="18" charset="0"/>
              </a:rPr>
              <a:t> global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a:t>
            </a:r>
          </a:p>
          <a:p>
            <a:r>
              <a:rPr lang="es-ES" b="0" i="0" dirty="0" err="1">
                <a:solidFill>
                  <a:srgbClr val="1A1A1A"/>
                </a:solidFill>
                <a:effectLst/>
                <a:latin typeface="Century" panose="02040604050505020304" pitchFamily="18" charset="0"/>
              </a:rPr>
              <a:t>Shared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divided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into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equally-sized</a:t>
            </a:r>
            <a:r>
              <a:rPr lang="es-ES" b="0" i="0" dirty="0">
                <a:solidFill>
                  <a:srgbClr val="1A1A1A"/>
                </a:solidFill>
                <a:effectLst/>
                <a:latin typeface="Century" panose="02040604050505020304" pitchFamily="18" charset="0"/>
              </a:rPr>
              <a:t> </a:t>
            </a:r>
            <a:r>
              <a:rPr lang="es-ES" b="1" i="0" dirty="0" err="1">
                <a:solidFill>
                  <a:srgbClr val="1A1A1A"/>
                </a:solidFill>
                <a:effectLst/>
                <a:latin typeface="Century" panose="02040604050505020304" pitchFamily="18" charset="0"/>
              </a:rPr>
              <a:t>memory</a:t>
            </a:r>
            <a:r>
              <a:rPr lang="es-ES" b="1" i="0" dirty="0">
                <a:solidFill>
                  <a:srgbClr val="1A1A1A"/>
                </a:solidFill>
                <a:effectLst/>
                <a:latin typeface="Century" panose="02040604050505020304" pitchFamily="18" charset="0"/>
              </a:rPr>
              <a:t> modules</a:t>
            </a:r>
            <a:r>
              <a:rPr lang="es-ES" b="0" i="0" dirty="0">
                <a:solidFill>
                  <a:srgbClr val="1A1A1A"/>
                </a:solidFill>
                <a:effectLst/>
                <a:latin typeface="Century" panose="02040604050505020304" pitchFamily="18" charset="0"/>
              </a:rPr>
              <a:t> (</a:t>
            </a:r>
            <a:r>
              <a:rPr lang="es-ES" b="1" i="0" dirty="0" err="1">
                <a:solidFill>
                  <a:srgbClr val="1A1A1A"/>
                </a:solidFill>
                <a:effectLst/>
                <a:latin typeface="Century" panose="02040604050505020304" pitchFamily="18" charset="0"/>
              </a:rPr>
              <a:t>banks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which</a:t>
            </a:r>
            <a:r>
              <a:rPr lang="es-ES" b="0" i="0" dirty="0">
                <a:solidFill>
                  <a:srgbClr val="1A1A1A"/>
                </a:solidFill>
                <a:effectLst/>
                <a:latin typeface="Century" panose="02040604050505020304" pitchFamily="18" charset="0"/>
              </a:rPr>
              <a:t> can be </a:t>
            </a:r>
            <a:r>
              <a:rPr lang="es-ES" b="0" i="0" dirty="0" err="1">
                <a:solidFill>
                  <a:srgbClr val="1A1A1A"/>
                </a:solidFill>
                <a:effectLst/>
                <a:latin typeface="Century" panose="02040604050505020304" pitchFamily="18" charset="0"/>
              </a:rPr>
              <a:t>accessed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simultaneously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Any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read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write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request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made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of</a:t>
            </a:r>
            <a:r>
              <a:rPr lang="es-ES" b="0" i="0" dirty="0">
                <a:solidFill>
                  <a:srgbClr val="1A1A1A"/>
                </a:solidFill>
                <a:effectLst/>
                <a:latin typeface="Century" panose="02040604050505020304" pitchFamily="18" charset="0"/>
              </a:rPr>
              <a:t> </a:t>
            </a:r>
            <a:r>
              <a:rPr lang="es-ES" b="1" i="0" dirty="0">
                <a:solidFill>
                  <a:srgbClr val="1A1A1A"/>
                </a:solidFill>
                <a:effectLst/>
                <a:latin typeface="Courier New" panose="02070309020205020404" pitchFamily="49" charset="0"/>
                <a:cs typeface="Courier New" panose="02070309020205020404" pitchFamily="49" charset="0"/>
              </a:rPr>
              <a:t>n</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addresses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that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fall</a:t>
            </a:r>
            <a:r>
              <a:rPr lang="es-ES" b="0" i="0" dirty="0">
                <a:solidFill>
                  <a:srgbClr val="1A1A1A"/>
                </a:solidFill>
                <a:effectLst/>
                <a:latin typeface="Century" panose="02040604050505020304" pitchFamily="18" charset="0"/>
              </a:rPr>
              <a:t> in </a:t>
            </a:r>
            <a:r>
              <a:rPr lang="es-ES" b="1" i="0" dirty="0">
                <a:solidFill>
                  <a:srgbClr val="1A1A1A"/>
                </a:solidFill>
                <a:effectLst/>
                <a:latin typeface="Courier New" panose="02070309020205020404" pitchFamily="49" charset="0"/>
                <a:cs typeface="Courier New" panose="02070309020205020404" pitchFamily="49" charset="0"/>
              </a:rPr>
              <a:t>n</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distinct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banks</a:t>
            </a:r>
            <a:r>
              <a:rPr lang="es-ES" b="0" i="0" dirty="0">
                <a:solidFill>
                  <a:srgbClr val="1A1A1A"/>
                </a:solidFill>
                <a:effectLst/>
                <a:latin typeface="Century" panose="02040604050505020304" pitchFamily="18" charset="0"/>
              </a:rPr>
              <a:t> can </a:t>
            </a:r>
            <a:r>
              <a:rPr lang="es-ES" b="0" i="0" dirty="0" err="1">
                <a:solidFill>
                  <a:srgbClr val="1A1A1A"/>
                </a:solidFill>
                <a:effectLst/>
                <a:latin typeface="Century" panose="02040604050505020304" pitchFamily="18" charset="0"/>
              </a:rPr>
              <a:t>therefore</a:t>
            </a:r>
            <a:r>
              <a:rPr lang="es-ES" b="0" i="0" dirty="0">
                <a:solidFill>
                  <a:srgbClr val="1A1A1A"/>
                </a:solidFill>
                <a:effectLst/>
                <a:latin typeface="Century" panose="02040604050505020304" pitchFamily="18" charset="0"/>
              </a:rPr>
              <a:t> be </a:t>
            </a:r>
            <a:r>
              <a:rPr lang="es-ES" b="0" i="0" dirty="0" err="1">
                <a:solidFill>
                  <a:srgbClr val="1A1A1A"/>
                </a:solidFill>
                <a:effectLst/>
                <a:latin typeface="Century" panose="02040604050505020304" pitchFamily="18" charset="0"/>
              </a:rPr>
              <a:t>serviced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simultaneously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yielding</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an</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overall</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bandwidth</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that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1" i="0" dirty="0">
                <a:solidFill>
                  <a:srgbClr val="1A1A1A"/>
                </a:solidFill>
                <a:effectLst/>
                <a:latin typeface="Courier New" panose="02070309020205020404" pitchFamily="49" charset="0"/>
                <a:cs typeface="Courier New" panose="02070309020205020404" pitchFamily="49" charset="0"/>
              </a:rPr>
              <a:t>n</a:t>
            </a:r>
            <a:r>
              <a:rPr lang="es-ES" b="0" i="0" dirty="0">
                <a:solidFill>
                  <a:srgbClr val="1A1A1A"/>
                </a:solidFill>
                <a:effectLst/>
                <a:latin typeface="Century" panose="02040604050505020304" pitchFamily="18" charset="0"/>
              </a:rPr>
              <a:t> times as </a:t>
            </a:r>
            <a:r>
              <a:rPr lang="es-ES" b="0" i="0" dirty="0" err="1">
                <a:solidFill>
                  <a:srgbClr val="1A1A1A"/>
                </a:solidFill>
                <a:effectLst/>
                <a:latin typeface="Century" panose="02040604050505020304" pitchFamily="18" charset="0"/>
              </a:rPr>
              <a:t>high</a:t>
            </a:r>
            <a:r>
              <a:rPr lang="es-ES" b="0" i="0" dirty="0">
                <a:solidFill>
                  <a:srgbClr val="1A1A1A"/>
                </a:solidFill>
                <a:effectLst/>
                <a:latin typeface="Century" panose="02040604050505020304" pitchFamily="18" charset="0"/>
              </a:rPr>
              <a:t> as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bandwidth</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of</a:t>
            </a:r>
            <a:r>
              <a:rPr lang="es-ES" b="0" i="0" dirty="0">
                <a:solidFill>
                  <a:srgbClr val="1A1A1A"/>
                </a:solidFill>
                <a:effectLst/>
                <a:latin typeface="Century" panose="02040604050505020304" pitchFamily="18" charset="0"/>
              </a:rPr>
              <a:t> a single module.</a:t>
            </a:r>
          </a:p>
          <a:p>
            <a:endParaRPr lang="es-ES" b="1" dirty="0">
              <a:effectLst/>
              <a:latin typeface="Courier New" panose="02070309020205020404" pitchFamily="49" charset="0"/>
            </a:endParaRPr>
          </a:p>
        </p:txBody>
      </p:sp>
      <p:pic>
        <p:nvPicPr>
          <p:cNvPr id="6" name="Imagen 5" descr="Texto&#10;&#10;El contenido generado por IA puede ser incorrecto.">
            <a:extLst>
              <a:ext uri="{FF2B5EF4-FFF2-40B4-BE49-F238E27FC236}">
                <a16:creationId xmlns:a16="http://schemas.microsoft.com/office/drawing/2014/main" id="{05552A9F-8B5D-6BAF-E783-43E8829D9C08}"/>
              </a:ext>
            </a:extLst>
          </p:cNvPr>
          <p:cNvPicPr>
            <a:picLocks noChangeAspect="1"/>
          </p:cNvPicPr>
          <p:nvPr/>
        </p:nvPicPr>
        <p:blipFill>
          <a:blip r:embed="rId2"/>
          <a:stretch>
            <a:fillRect/>
          </a:stretch>
        </p:blipFill>
        <p:spPr>
          <a:xfrm>
            <a:off x="457200" y="1243330"/>
            <a:ext cx="5334000" cy="1762438"/>
          </a:xfrm>
          <a:prstGeom prst="rect">
            <a:avLst/>
          </a:prstGeom>
        </p:spPr>
      </p:pic>
    </p:spTree>
    <p:extLst>
      <p:ext uri="{BB962C8B-B14F-4D97-AF65-F5344CB8AC3E}">
        <p14:creationId xmlns:p14="http://schemas.microsoft.com/office/powerpoint/2010/main" val="16324655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89DC4-F137-9395-649B-1AFF65EEEAC0}"/>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4608C0FD-195D-1BC6-D3D8-7F273EB1F2A9}"/>
              </a:ext>
            </a:extLst>
          </p:cNvPr>
          <p:cNvSpPr>
            <a:spLocks noGrp="1"/>
          </p:cNvSpPr>
          <p:nvPr>
            <p:ph type="title"/>
          </p:nvPr>
        </p:nvSpPr>
        <p:spPr>
          <a:xfrm>
            <a:off x="457200" y="274638"/>
            <a:ext cx="8229600" cy="934730"/>
          </a:xfrm>
        </p:spPr>
        <p:txBody>
          <a:bodyPr/>
          <a:lstStyle/>
          <a:p>
            <a:r>
              <a:rPr lang="es-ES" dirty="0" err="1"/>
              <a:t>Example</a:t>
            </a:r>
            <a:r>
              <a:rPr lang="es-ES" dirty="0"/>
              <a:t>: c = A * v</a:t>
            </a:r>
          </a:p>
        </p:txBody>
      </p:sp>
      <p:sp>
        <p:nvSpPr>
          <p:cNvPr id="6" name="5 Rectángulo">
            <a:extLst>
              <a:ext uri="{FF2B5EF4-FFF2-40B4-BE49-F238E27FC236}">
                <a16:creationId xmlns:a16="http://schemas.microsoft.com/office/drawing/2014/main" id="{F98221DD-B2F2-BB71-8FEF-8277D178A9F0}"/>
              </a:ext>
            </a:extLst>
          </p:cNvPr>
          <p:cNvSpPr/>
          <p:nvPr/>
        </p:nvSpPr>
        <p:spPr>
          <a:xfrm>
            <a:off x="436053" y="2728858"/>
            <a:ext cx="6057302" cy="19379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s-ES" sz="1400" dirty="0">
                <a:solidFill>
                  <a:schemeClr val="tx1"/>
                </a:solidFill>
                <a:latin typeface="Courier New"/>
                <a:cs typeface="Courier New"/>
              </a:rPr>
              <a:t>x	x	x	x	x	x	x	x	x	x	x	x</a:t>
            </a:r>
          </a:p>
          <a:p>
            <a:pPr algn="ctr">
              <a:lnSpc>
                <a:spcPct val="150000"/>
              </a:lnSpc>
              <a:spcBef>
                <a:spcPts val="100"/>
              </a:spcBef>
            </a:pPr>
            <a:r>
              <a:rPr lang="es-ES" sz="1400" dirty="0">
                <a:solidFill>
                  <a:schemeClr val="tx1"/>
                </a:solidFill>
                <a:latin typeface="Courier New"/>
                <a:cs typeface="Courier New"/>
              </a:rPr>
              <a:t>x	x	x	x	x	x	x	x	x	x	x	x</a:t>
            </a:r>
          </a:p>
          <a:p>
            <a:pPr algn="ctr">
              <a:lnSpc>
                <a:spcPct val="150000"/>
              </a:lnSpc>
              <a:spcBef>
                <a:spcPts val="100"/>
              </a:spcBef>
            </a:pPr>
            <a:r>
              <a:rPr lang="es-ES" sz="1400" dirty="0">
                <a:solidFill>
                  <a:schemeClr val="tx1"/>
                </a:solidFill>
                <a:latin typeface="Courier New"/>
                <a:cs typeface="Courier New"/>
              </a:rPr>
              <a:t>x	x	x	x	x	x	x	x	x	x	x	x</a:t>
            </a:r>
          </a:p>
          <a:p>
            <a:pPr algn="ctr">
              <a:lnSpc>
                <a:spcPct val="150000"/>
              </a:lnSpc>
              <a:spcBef>
                <a:spcPts val="100"/>
              </a:spcBef>
            </a:pPr>
            <a:r>
              <a:rPr lang="es-ES" sz="1400" dirty="0">
                <a:solidFill>
                  <a:schemeClr val="tx1"/>
                </a:solidFill>
                <a:latin typeface="Courier New"/>
                <a:cs typeface="Courier New"/>
              </a:rPr>
              <a:t>x	x	x	x	x	x	x	x	x	x	x	x</a:t>
            </a:r>
          </a:p>
          <a:p>
            <a:pPr algn="ctr">
              <a:lnSpc>
                <a:spcPct val="150000"/>
              </a:lnSpc>
              <a:spcBef>
                <a:spcPts val="100"/>
              </a:spcBef>
            </a:pPr>
            <a:r>
              <a:rPr lang="es-ES" sz="1400" dirty="0">
                <a:solidFill>
                  <a:schemeClr val="tx1"/>
                </a:solidFill>
                <a:latin typeface="Courier New"/>
                <a:cs typeface="Courier New"/>
              </a:rPr>
              <a:t>x	x	x	x	x	x	x	x	x	x	x	x</a:t>
            </a:r>
          </a:p>
        </p:txBody>
      </p:sp>
      <p:sp>
        <p:nvSpPr>
          <p:cNvPr id="32" name="18 Rectángulo">
            <a:extLst>
              <a:ext uri="{FF2B5EF4-FFF2-40B4-BE49-F238E27FC236}">
                <a16:creationId xmlns:a16="http://schemas.microsoft.com/office/drawing/2014/main" id="{43A78479-EA31-3F0B-26A8-6B0065A1C9EF}"/>
              </a:ext>
            </a:extLst>
          </p:cNvPr>
          <p:cNvSpPr/>
          <p:nvPr/>
        </p:nvSpPr>
        <p:spPr>
          <a:xfrm>
            <a:off x="6704103" y="1394034"/>
            <a:ext cx="899650" cy="495545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bg1">
                    <a:lumMod val="75000"/>
                  </a:schemeClr>
                </a:solidFill>
              </a:rPr>
              <a:t>	</a:t>
            </a:r>
          </a:p>
          <a:p>
            <a:pPr algn="ctr">
              <a:lnSpc>
                <a:spcPct val="150000"/>
              </a:lnSpc>
              <a:spcBef>
                <a:spcPts val="100"/>
              </a:spcBef>
            </a:pPr>
            <a:endParaRPr lang="es-ES" dirty="0"/>
          </a:p>
        </p:txBody>
      </p:sp>
      <p:sp>
        <p:nvSpPr>
          <p:cNvPr id="39" name="18 Rectángulo">
            <a:extLst>
              <a:ext uri="{FF2B5EF4-FFF2-40B4-BE49-F238E27FC236}">
                <a16:creationId xmlns:a16="http://schemas.microsoft.com/office/drawing/2014/main" id="{CB1A48B9-8A66-7966-3B7C-A3F93E0E7E5E}"/>
              </a:ext>
            </a:extLst>
          </p:cNvPr>
          <p:cNvSpPr/>
          <p:nvPr/>
        </p:nvSpPr>
        <p:spPr>
          <a:xfrm>
            <a:off x="7761993" y="1394034"/>
            <a:ext cx="899650" cy="495545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	</a:t>
            </a:r>
          </a:p>
          <a:p>
            <a:pPr algn="ctr">
              <a:lnSpc>
                <a:spcPct val="150000"/>
              </a:lnSpc>
              <a:spcBef>
                <a:spcPts val="100"/>
              </a:spcBef>
            </a:pPr>
            <a:r>
              <a:rPr lang="es-ES" sz="1400" dirty="0">
                <a:solidFill>
                  <a:schemeClr val="tx1"/>
                </a:solidFill>
                <a:latin typeface="Courier New"/>
                <a:cs typeface="Courier New"/>
              </a:rPr>
              <a:t>x</a:t>
            </a:r>
            <a:r>
              <a:rPr lang="es-ES" sz="1400" dirty="0">
                <a:solidFill>
                  <a:schemeClr val="bg1">
                    <a:lumMod val="75000"/>
                  </a:schemeClr>
                </a:solidFill>
              </a:rPr>
              <a:t>	</a:t>
            </a:r>
          </a:p>
          <a:p>
            <a:pPr algn="ctr">
              <a:lnSpc>
                <a:spcPct val="150000"/>
              </a:lnSpc>
              <a:spcBef>
                <a:spcPts val="100"/>
              </a:spcBef>
            </a:pPr>
            <a:endParaRPr lang="es-ES" dirty="0"/>
          </a:p>
        </p:txBody>
      </p:sp>
      <p:sp>
        <p:nvSpPr>
          <p:cNvPr id="31" name="CuadroTexto 30">
            <a:extLst>
              <a:ext uri="{FF2B5EF4-FFF2-40B4-BE49-F238E27FC236}">
                <a16:creationId xmlns:a16="http://schemas.microsoft.com/office/drawing/2014/main" id="{0494D071-D108-C0D0-AB48-887DBECD790D}"/>
              </a:ext>
            </a:extLst>
          </p:cNvPr>
          <p:cNvSpPr txBox="1"/>
          <p:nvPr/>
        </p:nvSpPr>
        <p:spPr>
          <a:xfrm>
            <a:off x="2948609" y="1068876"/>
            <a:ext cx="5502040" cy="369332"/>
          </a:xfrm>
          <a:prstGeom prst="rect">
            <a:avLst/>
          </a:prstGeom>
          <a:noFill/>
        </p:spPr>
        <p:txBody>
          <a:bodyPr wrap="none" rtlCol="0">
            <a:spAutoFit/>
          </a:bodyPr>
          <a:lstStyle/>
          <a:p>
            <a:r>
              <a:rPr lang="es-ES" dirty="0">
                <a:latin typeface="Century"/>
                <a:cs typeface="Century"/>
              </a:rPr>
              <a:t>A                                *                           v       =      c</a:t>
            </a:r>
          </a:p>
        </p:txBody>
      </p:sp>
      <p:sp>
        <p:nvSpPr>
          <p:cNvPr id="19" name="18 Rectángulo">
            <a:extLst>
              <a:ext uri="{FF2B5EF4-FFF2-40B4-BE49-F238E27FC236}">
                <a16:creationId xmlns:a16="http://schemas.microsoft.com/office/drawing/2014/main" id="{9A938C81-2FF4-FF4F-121F-404CE229779E}"/>
              </a:ext>
            </a:extLst>
          </p:cNvPr>
          <p:cNvSpPr/>
          <p:nvPr/>
        </p:nvSpPr>
        <p:spPr>
          <a:xfrm>
            <a:off x="-13772" y="2801938"/>
            <a:ext cx="899650" cy="18489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spcBef>
                <a:spcPts val="100"/>
              </a:spcBef>
            </a:pPr>
            <a:r>
              <a:rPr lang="es-ES" sz="1400" dirty="0">
                <a:solidFill>
                  <a:schemeClr val="tx1"/>
                </a:solidFill>
                <a:latin typeface="Courier New"/>
                <a:cs typeface="Courier New"/>
              </a:rPr>
              <a:t>0	</a:t>
            </a:r>
          </a:p>
          <a:p>
            <a:pPr algn="ctr">
              <a:lnSpc>
                <a:spcPct val="150000"/>
              </a:lnSpc>
              <a:spcBef>
                <a:spcPts val="100"/>
              </a:spcBef>
            </a:pPr>
            <a:r>
              <a:rPr lang="es-ES" sz="1400" dirty="0">
                <a:solidFill>
                  <a:schemeClr val="tx1"/>
                </a:solidFill>
                <a:latin typeface="Courier New"/>
                <a:cs typeface="Courier New"/>
              </a:rPr>
              <a:t>1	</a:t>
            </a:r>
          </a:p>
          <a:p>
            <a:pPr algn="ctr">
              <a:lnSpc>
                <a:spcPct val="150000"/>
              </a:lnSpc>
              <a:spcBef>
                <a:spcPts val="100"/>
              </a:spcBef>
            </a:pPr>
            <a:r>
              <a:rPr lang="es-ES" sz="1400" dirty="0">
                <a:solidFill>
                  <a:schemeClr val="tx1"/>
                </a:solidFill>
                <a:latin typeface="Courier New"/>
                <a:cs typeface="Courier New"/>
              </a:rPr>
              <a:t>2	</a:t>
            </a:r>
          </a:p>
          <a:p>
            <a:pPr algn="ctr">
              <a:lnSpc>
                <a:spcPct val="150000"/>
              </a:lnSpc>
              <a:spcBef>
                <a:spcPts val="100"/>
              </a:spcBef>
            </a:pPr>
            <a:r>
              <a:rPr lang="es-ES" sz="1400" dirty="0">
                <a:solidFill>
                  <a:schemeClr val="tx1"/>
                </a:solidFill>
                <a:latin typeface="Courier New"/>
                <a:cs typeface="Courier New"/>
              </a:rPr>
              <a:t>3	</a:t>
            </a:r>
          </a:p>
          <a:p>
            <a:pPr algn="ctr">
              <a:lnSpc>
                <a:spcPct val="150000"/>
              </a:lnSpc>
              <a:spcBef>
                <a:spcPts val="100"/>
              </a:spcBef>
            </a:pPr>
            <a:r>
              <a:rPr lang="es-ES" sz="1400" dirty="0">
                <a:solidFill>
                  <a:schemeClr val="tx1"/>
                </a:solidFill>
                <a:latin typeface="Courier New"/>
                <a:cs typeface="Courier New"/>
              </a:rPr>
              <a:t>4	</a:t>
            </a:r>
          </a:p>
        </p:txBody>
      </p:sp>
      <p:sp>
        <p:nvSpPr>
          <p:cNvPr id="22" name="CuadroTexto 21">
            <a:extLst>
              <a:ext uri="{FF2B5EF4-FFF2-40B4-BE49-F238E27FC236}">
                <a16:creationId xmlns:a16="http://schemas.microsoft.com/office/drawing/2014/main" id="{49F6444E-D463-40BF-ED4F-6EDE8B2BCD8C}"/>
              </a:ext>
            </a:extLst>
          </p:cNvPr>
          <p:cNvSpPr txBox="1"/>
          <p:nvPr/>
        </p:nvSpPr>
        <p:spPr>
          <a:xfrm>
            <a:off x="579438" y="1547355"/>
            <a:ext cx="5738812" cy="899010"/>
          </a:xfrm>
          <a:prstGeom prst="rect">
            <a:avLst/>
          </a:prstGeom>
          <a:solidFill>
            <a:schemeClr val="accent2">
              <a:lumMod val="60000"/>
              <a:lumOff val="40000"/>
            </a:schemeClr>
          </a:solidFill>
          <a:effectLst>
            <a:outerShdw blurRad="50800" dist="38100" dir="2700000" algn="tl" rotWithShape="0">
              <a:prstClr val="black">
                <a:alpha val="40000"/>
              </a:prstClr>
            </a:outerShdw>
          </a:effectLst>
          <a:scene3d>
            <a:camera prst="orthographicFront"/>
            <a:lightRig rig="threePt" dir="t"/>
          </a:scene3d>
          <a:sp3d>
            <a:bevelT/>
          </a:sp3d>
        </p:spPr>
        <p:txBody>
          <a:bodyPr wrap="square" rtlCol="0" anchor="t" anchorCtr="0">
            <a:noAutofit/>
          </a:bodyPr>
          <a:lstStyle/>
          <a:p>
            <a:pPr algn="ctr"/>
            <a:r>
              <a:rPr lang="en-GB" sz="1400" dirty="0">
                <a:solidFill>
                  <a:schemeClr val="bg1"/>
                </a:solidFill>
                <a:effectLst>
                  <a:outerShdw blurRad="50800" dist="38100" dir="2700000" algn="tl" rotWithShape="0">
                    <a:prstClr val="black">
                      <a:alpha val="40000"/>
                    </a:prstClr>
                  </a:outerShdw>
                </a:effectLst>
                <a:latin typeface="Century"/>
                <a:cs typeface="Century"/>
              </a:rPr>
              <a:t>Shared Memory</a:t>
            </a:r>
          </a:p>
        </p:txBody>
      </p:sp>
      <p:graphicFrame>
        <p:nvGraphicFramePr>
          <p:cNvPr id="4" name="Tabla 3">
            <a:extLst>
              <a:ext uri="{FF2B5EF4-FFF2-40B4-BE49-F238E27FC236}">
                <a16:creationId xmlns:a16="http://schemas.microsoft.com/office/drawing/2014/main" id="{E9F50033-77F1-EDD4-697A-255219691379}"/>
              </a:ext>
            </a:extLst>
          </p:cNvPr>
          <p:cNvGraphicFramePr>
            <a:graphicFrameLocks noGrp="1"/>
          </p:cNvGraphicFramePr>
          <p:nvPr/>
        </p:nvGraphicFramePr>
        <p:xfrm>
          <a:off x="709503" y="2000250"/>
          <a:ext cx="5487960" cy="370840"/>
        </p:xfrm>
        <a:graphic>
          <a:graphicData uri="http://schemas.openxmlformats.org/drawingml/2006/table">
            <a:tbl>
              <a:tblPr firstRow="1" bandRow="1">
                <a:effectLst>
                  <a:outerShdw blurRad="50800" dist="38100" dir="2700000" algn="tl" rotWithShape="0">
                    <a:scrgbClr r="0" g="0" b="0">
                      <a:alpha val="43000"/>
                    </a:scrgbClr>
                  </a:outerShdw>
                </a:effectLst>
                <a:tableStyleId>{5C22544A-7EE6-4342-B048-85BDC9FD1C3A}</a:tableStyleId>
              </a:tblPr>
              <a:tblGrid>
                <a:gridCol w="457330">
                  <a:extLst>
                    <a:ext uri="{9D8B030D-6E8A-4147-A177-3AD203B41FA5}">
                      <a16:colId xmlns:a16="http://schemas.microsoft.com/office/drawing/2014/main" val="20000"/>
                    </a:ext>
                  </a:extLst>
                </a:gridCol>
                <a:gridCol w="457330">
                  <a:extLst>
                    <a:ext uri="{9D8B030D-6E8A-4147-A177-3AD203B41FA5}">
                      <a16:colId xmlns:a16="http://schemas.microsoft.com/office/drawing/2014/main" val="20001"/>
                    </a:ext>
                  </a:extLst>
                </a:gridCol>
                <a:gridCol w="457330">
                  <a:extLst>
                    <a:ext uri="{9D8B030D-6E8A-4147-A177-3AD203B41FA5}">
                      <a16:colId xmlns:a16="http://schemas.microsoft.com/office/drawing/2014/main" val="20002"/>
                    </a:ext>
                  </a:extLst>
                </a:gridCol>
                <a:gridCol w="457330">
                  <a:extLst>
                    <a:ext uri="{9D8B030D-6E8A-4147-A177-3AD203B41FA5}">
                      <a16:colId xmlns:a16="http://schemas.microsoft.com/office/drawing/2014/main" val="20003"/>
                    </a:ext>
                  </a:extLst>
                </a:gridCol>
                <a:gridCol w="457330">
                  <a:extLst>
                    <a:ext uri="{9D8B030D-6E8A-4147-A177-3AD203B41FA5}">
                      <a16:colId xmlns:a16="http://schemas.microsoft.com/office/drawing/2014/main" val="20004"/>
                    </a:ext>
                  </a:extLst>
                </a:gridCol>
                <a:gridCol w="457330">
                  <a:extLst>
                    <a:ext uri="{9D8B030D-6E8A-4147-A177-3AD203B41FA5}">
                      <a16:colId xmlns:a16="http://schemas.microsoft.com/office/drawing/2014/main" val="20005"/>
                    </a:ext>
                  </a:extLst>
                </a:gridCol>
                <a:gridCol w="457330">
                  <a:extLst>
                    <a:ext uri="{9D8B030D-6E8A-4147-A177-3AD203B41FA5}">
                      <a16:colId xmlns:a16="http://schemas.microsoft.com/office/drawing/2014/main" val="20006"/>
                    </a:ext>
                  </a:extLst>
                </a:gridCol>
                <a:gridCol w="457330">
                  <a:extLst>
                    <a:ext uri="{9D8B030D-6E8A-4147-A177-3AD203B41FA5}">
                      <a16:colId xmlns:a16="http://schemas.microsoft.com/office/drawing/2014/main" val="20007"/>
                    </a:ext>
                  </a:extLst>
                </a:gridCol>
                <a:gridCol w="457330">
                  <a:extLst>
                    <a:ext uri="{9D8B030D-6E8A-4147-A177-3AD203B41FA5}">
                      <a16:colId xmlns:a16="http://schemas.microsoft.com/office/drawing/2014/main" val="20008"/>
                    </a:ext>
                  </a:extLst>
                </a:gridCol>
                <a:gridCol w="457330">
                  <a:extLst>
                    <a:ext uri="{9D8B030D-6E8A-4147-A177-3AD203B41FA5}">
                      <a16:colId xmlns:a16="http://schemas.microsoft.com/office/drawing/2014/main" val="20009"/>
                    </a:ext>
                  </a:extLst>
                </a:gridCol>
                <a:gridCol w="457330">
                  <a:extLst>
                    <a:ext uri="{9D8B030D-6E8A-4147-A177-3AD203B41FA5}">
                      <a16:colId xmlns:a16="http://schemas.microsoft.com/office/drawing/2014/main" val="20010"/>
                    </a:ext>
                  </a:extLst>
                </a:gridCol>
                <a:gridCol w="457330">
                  <a:extLst>
                    <a:ext uri="{9D8B030D-6E8A-4147-A177-3AD203B41FA5}">
                      <a16:colId xmlns:a16="http://schemas.microsoft.com/office/drawing/2014/main" val="20011"/>
                    </a:ext>
                  </a:extLst>
                </a:gridCol>
              </a:tblGrid>
              <a:tr h="370840">
                <a:tc>
                  <a:txBody>
                    <a:bodyPr/>
                    <a:lstStyle/>
                    <a:p>
                      <a:endParaRPr lang="en-GB" dirty="0"/>
                    </a:p>
                  </a:txBody>
                  <a:tcPr>
                    <a:solidFill>
                      <a:schemeClr val="accent2">
                        <a:lumMod val="60000"/>
                        <a:lumOff val="40000"/>
                      </a:schemeClr>
                    </a:solidFill>
                  </a:tcPr>
                </a:tc>
                <a:tc>
                  <a:txBody>
                    <a:bodyPr/>
                    <a:lstStyle/>
                    <a:p>
                      <a:endParaRPr lang="en-GB" dirty="0"/>
                    </a:p>
                  </a:txBody>
                  <a:tcPr>
                    <a:solidFill>
                      <a:schemeClr val="accent2">
                        <a:lumMod val="60000"/>
                        <a:lumOff val="40000"/>
                      </a:schemeClr>
                    </a:solidFill>
                  </a:tcPr>
                </a:tc>
                <a:tc>
                  <a:txBody>
                    <a:bodyPr/>
                    <a:lstStyle/>
                    <a:p>
                      <a:endParaRPr lang="en-GB" dirty="0"/>
                    </a:p>
                  </a:txBody>
                  <a:tcPr>
                    <a:solidFill>
                      <a:schemeClr val="accent2">
                        <a:lumMod val="60000"/>
                        <a:lumOff val="40000"/>
                      </a:schemeClr>
                    </a:solidFill>
                  </a:tcPr>
                </a:tc>
                <a:tc>
                  <a:txBody>
                    <a:bodyPr/>
                    <a:lstStyle/>
                    <a:p>
                      <a:endParaRPr lang="en-GB" dirty="0"/>
                    </a:p>
                  </a:txBody>
                  <a:tcPr>
                    <a:solidFill>
                      <a:schemeClr val="accent2">
                        <a:lumMod val="60000"/>
                        <a:lumOff val="40000"/>
                      </a:schemeClr>
                    </a:solidFill>
                  </a:tcPr>
                </a:tc>
                <a:tc>
                  <a:txBody>
                    <a:bodyPr/>
                    <a:lstStyle/>
                    <a:p>
                      <a:endParaRPr lang="en-GB" dirty="0"/>
                    </a:p>
                  </a:txBody>
                  <a:tcPr>
                    <a:solidFill>
                      <a:schemeClr val="accent2">
                        <a:lumMod val="60000"/>
                        <a:lumOff val="40000"/>
                      </a:schemeClr>
                    </a:solidFill>
                  </a:tcPr>
                </a:tc>
                <a:tc>
                  <a:txBody>
                    <a:bodyPr/>
                    <a:lstStyle/>
                    <a:p>
                      <a:endParaRPr lang="en-GB" dirty="0"/>
                    </a:p>
                  </a:txBody>
                  <a:tcPr>
                    <a:solidFill>
                      <a:schemeClr val="accent2">
                        <a:lumMod val="60000"/>
                        <a:lumOff val="40000"/>
                      </a:schemeClr>
                    </a:solidFill>
                  </a:tcPr>
                </a:tc>
                <a:tc>
                  <a:txBody>
                    <a:bodyPr/>
                    <a:lstStyle/>
                    <a:p>
                      <a:endParaRPr lang="en-GB" dirty="0"/>
                    </a:p>
                  </a:txBody>
                  <a:tcPr>
                    <a:solidFill>
                      <a:schemeClr val="accent2">
                        <a:lumMod val="60000"/>
                        <a:lumOff val="40000"/>
                      </a:schemeClr>
                    </a:solidFill>
                  </a:tcPr>
                </a:tc>
                <a:tc>
                  <a:txBody>
                    <a:bodyPr/>
                    <a:lstStyle/>
                    <a:p>
                      <a:endParaRPr lang="en-GB"/>
                    </a:p>
                  </a:txBody>
                  <a:tcPr>
                    <a:solidFill>
                      <a:schemeClr val="accent2">
                        <a:lumMod val="60000"/>
                        <a:lumOff val="40000"/>
                      </a:schemeClr>
                    </a:solidFill>
                  </a:tcPr>
                </a:tc>
                <a:tc>
                  <a:txBody>
                    <a:bodyPr/>
                    <a:lstStyle/>
                    <a:p>
                      <a:endParaRPr lang="en-GB" dirty="0"/>
                    </a:p>
                  </a:txBody>
                  <a:tcPr>
                    <a:solidFill>
                      <a:schemeClr val="accent2">
                        <a:lumMod val="60000"/>
                        <a:lumOff val="40000"/>
                      </a:schemeClr>
                    </a:solidFill>
                  </a:tcPr>
                </a:tc>
                <a:tc>
                  <a:txBody>
                    <a:bodyPr/>
                    <a:lstStyle/>
                    <a:p>
                      <a:endParaRPr lang="en-GB"/>
                    </a:p>
                  </a:txBody>
                  <a:tcPr>
                    <a:solidFill>
                      <a:schemeClr val="accent2">
                        <a:lumMod val="60000"/>
                        <a:lumOff val="40000"/>
                      </a:schemeClr>
                    </a:solidFill>
                  </a:tcPr>
                </a:tc>
                <a:tc>
                  <a:txBody>
                    <a:bodyPr/>
                    <a:lstStyle/>
                    <a:p>
                      <a:endParaRPr lang="en-GB"/>
                    </a:p>
                  </a:txBody>
                  <a:tcPr>
                    <a:solidFill>
                      <a:schemeClr val="accent2">
                        <a:lumMod val="60000"/>
                        <a:lumOff val="40000"/>
                      </a:schemeClr>
                    </a:solidFill>
                  </a:tcPr>
                </a:tc>
                <a:tc>
                  <a:txBody>
                    <a:bodyPr/>
                    <a:lstStyle/>
                    <a:p>
                      <a:endParaRPr lang="en-GB" dirty="0"/>
                    </a:p>
                  </a:txBody>
                  <a:tcPr>
                    <a:solidFill>
                      <a:schemeClr val="accent2">
                        <a:lumMod val="60000"/>
                        <a:lumOff val="40000"/>
                      </a:schemeClr>
                    </a:solidFill>
                  </a:tcPr>
                </a:tc>
                <a:extLst>
                  <a:ext uri="{0D108BD9-81ED-4DB2-BD59-A6C34878D82A}">
                    <a16:rowId xmlns:a16="http://schemas.microsoft.com/office/drawing/2014/main" val="10000"/>
                  </a:ext>
                </a:extLst>
              </a:tr>
            </a:tbl>
          </a:graphicData>
        </a:graphic>
      </p:graphicFrame>
      <p:sp>
        <p:nvSpPr>
          <p:cNvPr id="34" name="Elipse 33">
            <a:extLst>
              <a:ext uri="{FF2B5EF4-FFF2-40B4-BE49-F238E27FC236}">
                <a16:creationId xmlns:a16="http://schemas.microsoft.com/office/drawing/2014/main" id="{E94D4319-77EB-8094-BA5D-C2D2DD5F536A}"/>
              </a:ext>
            </a:extLst>
          </p:cNvPr>
          <p:cNvSpPr/>
          <p:nvPr/>
        </p:nvSpPr>
        <p:spPr>
          <a:xfrm>
            <a:off x="82955" y="2897973"/>
            <a:ext cx="366699" cy="36671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37" name="Conector recto de flecha 36">
            <a:extLst>
              <a:ext uri="{FF2B5EF4-FFF2-40B4-BE49-F238E27FC236}">
                <a16:creationId xmlns:a16="http://schemas.microsoft.com/office/drawing/2014/main" id="{00964E35-2A3A-61C7-8647-0C89CEE51BEB}"/>
              </a:ext>
            </a:extLst>
          </p:cNvPr>
          <p:cNvCxnSpPr>
            <a:cxnSpLocks/>
          </p:cNvCxnSpPr>
          <p:nvPr/>
        </p:nvCxnSpPr>
        <p:spPr>
          <a:xfrm flipH="1" flipV="1">
            <a:off x="349697" y="3264687"/>
            <a:ext cx="1360282" cy="180608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8" name="CuadroTexto 37">
            <a:extLst>
              <a:ext uri="{FF2B5EF4-FFF2-40B4-BE49-F238E27FC236}">
                <a16:creationId xmlns:a16="http://schemas.microsoft.com/office/drawing/2014/main" id="{AFD9133B-34C5-C517-54C7-71060E0692B3}"/>
              </a:ext>
            </a:extLst>
          </p:cNvPr>
          <p:cNvSpPr txBox="1"/>
          <p:nvPr/>
        </p:nvSpPr>
        <p:spPr>
          <a:xfrm>
            <a:off x="1709264" y="5070770"/>
            <a:ext cx="4272361" cy="307777"/>
          </a:xfrm>
          <a:prstGeom prst="rect">
            <a:avLst/>
          </a:prstGeom>
          <a:noFill/>
        </p:spPr>
        <p:txBody>
          <a:bodyPr wrap="none" rtlCol="0">
            <a:spAutoFit/>
          </a:bodyPr>
          <a:lstStyle/>
          <a:p>
            <a:r>
              <a:rPr lang="en-GB" sz="1400" dirty="0" err="1">
                <a:latin typeface="Courier New"/>
                <a:cs typeface="Courier New"/>
              </a:rPr>
              <a:t>threadIdx.x</a:t>
            </a:r>
            <a:r>
              <a:rPr lang="en-GB" sz="1400" dirty="0">
                <a:latin typeface="Courier New"/>
                <a:cs typeface="Courier New"/>
              </a:rPr>
              <a:t> = 0 </a:t>
            </a:r>
            <a:r>
              <a:rPr lang="en-GB" sz="1400" dirty="0">
                <a:latin typeface="Century"/>
                <a:cs typeface="Century"/>
              </a:rPr>
              <a:t>copies v into shared memory</a:t>
            </a:r>
          </a:p>
        </p:txBody>
      </p:sp>
      <p:cxnSp>
        <p:nvCxnSpPr>
          <p:cNvPr id="40" name="Conector recto de flecha 39">
            <a:extLst>
              <a:ext uri="{FF2B5EF4-FFF2-40B4-BE49-F238E27FC236}">
                <a16:creationId xmlns:a16="http://schemas.microsoft.com/office/drawing/2014/main" id="{49023D44-A2E4-E681-66AF-9C5B20A37C99}"/>
              </a:ext>
            </a:extLst>
          </p:cNvPr>
          <p:cNvCxnSpPr/>
          <p:nvPr/>
        </p:nvCxnSpPr>
        <p:spPr>
          <a:xfrm flipV="1">
            <a:off x="5935064" y="2667764"/>
            <a:ext cx="864828" cy="245217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 name="6 Rectángulo">
            <a:extLst>
              <a:ext uri="{FF2B5EF4-FFF2-40B4-BE49-F238E27FC236}">
                <a16:creationId xmlns:a16="http://schemas.microsoft.com/office/drawing/2014/main" id="{804C8B32-4BAF-33C6-993A-CA0382B89059}"/>
              </a:ext>
            </a:extLst>
          </p:cNvPr>
          <p:cNvSpPr/>
          <p:nvPr/>
        </p:nvSpPr>
        <p:spPr>
          <a:xfrm>
            <a:off x="6805726" y="1547355"/>
            <a:ext cx="327232" cy="4030978"/>
          </a:xfrm>
          <a:prstGeom prst="rect">
            <a:avLst/>
          </a:prstGeom>
          <a:noFill/>
          <a:ln>
            <a:solidFill>
              <a:schemeClr val="accent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grpSp>
        <p:nvGrpSpPr>
          <p:cNvPr id="5" name="Agrupar 10">
            <a:extLst>
              <a:ext uri="{FF2B5EF4-FFF2-40B4-BE49-F238E27FC236}">
                <a16:creationId xmlns:a16="http://schemas.microsoft.com/office/drawing/2014/main" id="{B26F51EA-BB8F-E2EC-5925-5EE877892806}"/>
              </a:ext>
            </a:extLst>
          </p:cNvPr>
          <p:cNvGrpSpPr/>
          <p:nvPr/>
        </p:nvGrpSpPr>
        <p:grpSpPr>
          <a:xfrm>
            <a:off x="436053" y="1742524"/>
            <a:ext cx="6363839" cy="721992"/>
            <a:chOff x="436053" y="1742524"/>
            <a:chExt cx="6363839" cy="721992"/>
          </a:xfrm>
        </p:grpSpPr>
        <p:grpSp>
          <p:nvGrpSpPr>
            <p:cNvPr id="7" name="Agrupar 2">
              <a:extLst>
                <a:ext uri="{FF2B5EF4-FFF2-40B4-BE49-F238E27FC236}">
                  <a16:creationId xmlns:a16="http://schemas.microsoft.com/office/drawing/2014/main" id="{5FCB4F62-145F-5B5F-0099-5D793BA73482}"/>
                </a:ext>
              </a:extLst>
            </p:cNvPr>
            <p:cNvGrpSpPr/>
            <p:nvPr/>
          </p:nvGrpSpPr>
          <p:grpSpPr>
            <a:xfrm>
              <a:off x="436053" y="1742524"/>
              <a:ext cx="6057302" cy="721992"/>
              <a:chOff x="436053" y="1742524"/>
              <a:chExt cx="6057302" cy="721992"/>
            </a:xfrm>
          </p:grpSpPr>
          <p:sp>
            <p:nvSpPr>
              <p:cNvPr id="9" name="5 Rectángulo">
                <a:extLst>
                  <a:ext uri="{FF2B5EF4-FFF2-40B4-BE49-F238E27FC236}">
                    <a16:creationId xmlns:a16="http://schemas.microsoft.com/office/drawing/2014/main" id="{2A0EB174-F29D-B74F-4049-C3CCA4FA0B2D}"/>
                  </a:ext>
                </a:extLst>
              </p:cNvPr>
              <p:cNvSpPr/>
              <p:nvPr/>
            </p:nvSpPr>
            <p:spPr>
              <a:xfrm>
                <a:off x="436053" y="1742524"/>
                <a:ext cx="6057302" cy="7219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s-ES" sz="1400" dirty="0">
                    <a:solidFill>
                      <a:schemeClr val="tx1"/>
                    </a:solidFill>
                    <a:latin typeface="Courier New"/>
                    <a:cs typeface="Courier New"/>
                  </a:rPr>
                  <a:t>x	x	x	x	x	x	x	x	x	x	x	x</a:t>
                </a:r>
              </a:p>
            </p:txBody>
          </p:sp>
          <p:sp>
            <p:nvSpPr>
              <p:cNvPr id="10" name="6 Rectángulo">
                <a:extLst>
                  <a:ext uri="{FF2B5EF4-FFF2-40B4-BE49-F238E27FC236}">
                    <a16:creationId xmlns:a16="http://schemas.microsoft.com/office/drawing/2014/main" id="{F635AFEC-37C6-FF51-4738-BA596A84EC1F}"/>
                  </a:ext>
                </a:extLst>
              </p:cNvPr>
              <p:cNvSpPr/>
              <p:nvPr/>
            </p:nvSpPr>
            <p:spPr>
              <a:xfrm>
                <a:off x="709503" y="2000249"/>
                <a:ext cx="5487959" cy="370841"/>
              </a:xfrm>
              <a:prstGeom prst="rect">
                <a:avLst/>
              </a:prstGeom>
              <a:noFill/>
              <a:ln>
                <a:solidFill>
                  <a:schemeClr val="accent3"/>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grpSp>
        <p:cxnSp>
          <p:nvCxnSpPr>
            <p:cNvPr id="8" name="Conector recto de flecha 7">
              <a:extLst>
                <a:ext uri="{FF2B5EF4-FFF2-40B4-BE49-F238E27FC236}">
                  <a16:creationId xmlns:a16="http://schemas.microsoft.com/office/drawing/2014/main" id="{35FC1347-CA96-D5CD-D8BF-AD546554897C}"/>
                </a:ext>
              </a:extLst>
            </p:cNvPr>
            <p:cNvCxnSpPr>
              <a:cxnSpLocks/>
            </p:cNvCxnSpPr>
            <p:nvPr/>
          </p:nvCxnSpPr>
          <p:spPr>
            <a:xfrm flipH="1">
              <a:off x="6318250" y="2103520"/>
              <a:ext cx="48164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7012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dissolve">
                                      <p:cBhvr>
                                        <p:cTn id="10" dur="500"/>
                                        <p:tgtEl>
                                          <p:spTgt spid="3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dissolve">
                                      <p:cBhvr>
                                        <p:cTn id="13" dur="500"/>
                                        <p:tgtEl>
                                          <p:spTgt spid="38"/>
                                        </p:tgtEl>
                                      </p:cBhvr>
                                    </p:animEffect>
                                  </p:childTnLst>
                                </p:cTn>
                              </p:par>
                              <p:par>
                                <p:cTn id="14" presetID="9" presetClass="entr" presetSubtype="0" fill="hold"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dissolve">
                                      <p:cBhvr>
                                        <p:cTn id="16" dur="5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1" nodeType="clickEffect">
                                  <p:stCondLst>
                                    <p:cond delay="0"/>
                                  </p:stCondLst>
                                  <p:childTnLst>
                                    <p:set>
                                      <p:cBhvr>
                                        <p:cTn id="27" dur="1" fill="hold">
                                          <p:stCondLst>
                                            <p:cond delay="0"/>
                                          </p:stCondLst>
                                        </p:cTn>
                                        <p:tgtEl>
                                          <p:spTgt spid="3"/>
                                        </p:tgtEl>
                                        <p:attrNameLst>
                                          <p:attrName>style.visibility</p:attrName>
                                        </p:attrNameLst>
                                      </p:cBhvr>
                                      <p:to>
                                        <p:strVal val="hidden"/>
                                      </p:to>
                                    </p:set>
                                  </p:childTnLst>
                                </p:cTn>
                              </p:par>
                              <p:par>
                                <p:cTn id="28" presetID="18" presetClass="entr" presetSubtype="12"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strips(downLeft)">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8" grpId="0"/>
      <p:bldP spid="3" grpId="0" animBg="1"/>
      <p:bldP spid="3"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934730"/>
          </a:xfrm>
        </p:spPr>
        <p:txBody>
          <a:bodyPr/>
          <a:lstStyle/>
          <a:p>
            <a:r>
              <a:rPr lang="es-ES" dirty="0" err="1"/>
              <a:t>Example</a:t>
            </a:r>
            <a:r>
              <a:rPr lang="es-ES" dirty="0"/>
              <a:t>: c = A * v</a:t>
            </a:r>
          </a:p>
        </p:txBody>
      </p:sp>
      <p:pic>
        <p:nvPicPr>
          <p:cNvPr id="7" name="Imagen 6" descr="imagen.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478" y="1725980"/>
            <a:ext cx="7230275" cy="3027029"/>
          </a:xfrm>
          <a:prstGeom prst="rect">
            <a:avLst/>
          </a:prstGeom>
        </p:spPr>
      </p:pic>
      <p:cxnSp>
        <p:nvCxnSpPr>
          <p:cNvPr id="24" name="Conector recto de flecha 23"/>
          <p:cNvCxnSpPr/>
          <p:nvPr/>
        </p:nvCxnSpPr>
        <p:spPr>
          <a:xfrm flipH="1" flipV="1">
            <a:off x="2968464" y="2384036"/>
            <a:ext cx="451893" cy="335012"/>
          </a:xfrm>
          <a:prstGeom prst="straightConnector1">
            <a:avLst/>
          </a:prstGeom>
          <a:ln w="19050" cmpd="sng">
            <a:solidFill>
              <a:srgbClr val="FF0000"/>
            </a:solidFill>
            <a:tailEnd type="none"/>
          </a:ln>
        </p:spPr>
        <p:style>
          <a:lnRef idx="2">
            <a:schemeClr val="accent1"/>
          </a:lnRef>
          <a:fillRef idx="0">
            <a:schemeClr val="accent1"/>
          </a:fillRef>
          <a:effectRef idx="1">
            <a:schemeClr val="accent1"/>
          </a:effectRef>
          <a:fontRef idx="minor">
            <a:schemeClr val="tx1"/>
          </a:fontRef>
        </p:style>
      </p:cxnSp>
      <p:cxnSp>
        <p:nvCxnSpPr>
          <p:cNvPr id="27" name="Conector recto de flecha 26"/>
          <p:cNvCxnSpPr/>
          <p:nvPr/>
        </p:nvCxnSpPr>
        <p:spPr>
          <a:xfrm flipH="1">
            <a:off x="2968464" y="2384036"/>
            <a:ext cx="451893" cy="335012"/>
          </a:xfrm>
          <a:prstGeom prst="straightConnector1">
            <a:avLst/>
          </a:prstGeom>
          <a:ln w="19050" cmpd="sng">
            <a:solidFill>
              <a:srgbClr val="FF0000"/>
            </a:solidFill>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852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934730"/>
          </a:xfrm>
        </p:spPr>
        <p:txBody>
          <a:bodyPr/>
          <a:lstStyle/>
          <a:p>
            <a:r>
              <a:rPr lang="es-ES" dirty="0" err="1"/>
              <a:t>Example</a:t>
            </a:r>
            <a:r>
              <a:rPr lang="es-ES" dirty="0"/>
              <a:t>: c = A * v</a:t>
            </a:r>
          </a:p>
        </p:txBody>
      </p:sp>
      <p:pic>
        <p:nvPicPr>
          <p:cNvPr id="3" name="Imagen 2" descr="imagen.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982" y="1749068"/>
            <a:ext cx="6986123" cy="3361807"/>
          </a:xfrm>
          <a:prstGeom prst="rect">
            <a:avLst/>
          </a:prstGeom>
        </p:spPr>
      </p:pic>
    </p:spTree>
    <p:extLst>
      <p:ext uri="{BB962C8B-B14F-4D97-AF65-F5344CB8AC3E}">
        <p14:creationId xmlns:p14="http://schemas.microsoft.com/office/powerpoint/2010/main" val="34067671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D9D1D-282A-E284-0F56-BABF921E31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F47EF1-1B9B-33C8-79CD-4FB10E738F2D}"/>
              </a:ext>
            </a:extLst>
          </p:cNvPr>
          <p:cNvSpPr>
            <a:spLocks noGrp="1"/>
          </p:cNvSpPr>
          <p:nvPr>
            <p:ph type="title"/>
          </p:nvPr>
        </p:nvSpPr>
        <p:spPr/>
        <p:txBody>
          <a:bodyPr/>
          <a:lstStyle/>
          <a:p>
            <a:r>
              <a:rPr lang="es-ES" dirty="0" err="1"/>
              <a:t>Registers</a:t>
            </a:r>
            <a:endParaRPr lang="es-ES" dirty="0"/>
          </a:p>
        </p:txBody>
      </p:sp>
      <p:sp>
        <p:nvSpPr>
          <p:cNvPr id="3" name="Marcador de contenido 2">
            <a:extLst>
              <a:ext uri="{FF2B5EF4-FFF2-40B4-BE49-F238E27FC236}">
                <a16:creationId xmlns:a16="http://schemas.microsoft.com/office/drawing/2014/main" id="{93186CA5-843E-8CF6-101B-132BABE231CB}"/>
              </a:ext>
            </a:extLst>
          </p:cNvPr>
          <p:cNvSpPr>
            <a:spLocks noGrp="1"/>
          </p:cNvSpPr>
          <p:nvPr>
            <p:ph idx="1"/>
          </p:nvPr>
        </p:nvSpPr>
        <p:spPr>
          <a:xfrm>
            <a:off x="457200" y="3188652"/>
            <a:ext cx="8229600" cy="3166428"/>
          </a:xfrm>
        </p:spPr>
        <p:txBody>
          <a:bodyPr>
            <a:normAutofit/>
          </a:bodyPr>
          <a:lstStyle/>
          <a:p>
            <a:r>
              <a:rPr lang="es-ES" b="0" i="0" dirty="0" err="1">
                <a:solidFill>
                  <a:srgbClr val="1A1A1A"/>
                </a:solidFill>
                <a:effectLst/>
                <a:latin typeface="Century" panose="02040604050505020304" pitchFamily="18" charset="0"/>
              </a:rPr>
              <a:t>Registers</a:t>
            </a:r>
            <a:r>
              <a:rPr lang="es-ES" b="0" i="0" dirty="0">
                <a:solidFill>
                  <a:srgbClr val="1A1A1A"/>
                </a:solidFill>
                <a:effectLst/>
                <a:latin typeface="Century" panose="02040604050505020304" pitchFamily="18" charset="0"/>
              </a:rPr>
              <a:t> are </a:t>
            </a:r>
            <a:r>
              <a:rPr lang="es-ES" b="0" i="0" dirty="0" err="1">
                <a:solidFill>
                  <a:srgbClr val="1A1A1A"/>
                </a:solidFill>
                <a:effectLst/>
                <a:latin typeface="Century" panose="02040604050505020304" pitchFamily="18" charset="0"/>
              </a:rPr>
              <a:t>even</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faster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than</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shared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p>
          <a:p>
            <a:r>
              <a:rPr lang="es-ES" b="0" i="0" dirty="0">
                <a:solidFill>
                  <a:srgbClr val="1A1A1A"/>
                </a:solidFill>
                <a:effectLst/>
                <a:latin typeface="Century" panose="02040604050505020304" pitchFamily="18" charset="0"/>
              </a:rPr>
              <a:t>Care </a:t>
            </a:r>
            <a:r>
              <a:rPr lang="es-ES" b="0" i="0" dirty="0" err="1">
                <a:solidFill>
                  <a:srgbClr val="1A1A1A"/>
                </a:solidFill>
                <a:effectLst/>
                <a:latin typeface="Century" panose="02040604050505020304" pitchFamily="18" charset="0"/>
              </a:rPr>
              <a:t>must</a:t>
            </a:r>
            <a:r>
              <a:rPr lang="es-ES" b="0" i="0" dirty="0">
                <a:solidFill>
                  <a:srgbClr val="1A1A1A"/>
                </a:solidFill>
                <a:effectLst/>
                <a:latin typeface="Century" panose="02040604050505020304" pitchFamily="18" charset="0"/>
              </a:rPr>
              <a:t> be </a:t>
            </a:r>
            <a:r>
              <a:rPr lang="es-ES" b="0" i="0" dirty="0" err="1">
                <a:solidFill>
                  <a:srgbClr val="1A1A1A"/>
                </a:solidFill>
                <a:effectLst/>
                <a:latin typeface="Century" panose="02040604050505020304" pitchFamily="18" charset="0"/>
              </a:rPr>
              <a:t>taken</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not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exceed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total </a:t>
            </a:r>
            <a:r>
              <a:rPr lang="es-ES" b="0" i="0" dirty="0" err="1">
                <a:solidFill>
                  <a:srgbClr val="1A1A1A"/>
                </a:solidFill>
                <a:effectLst/>
                <a:latin typeface="Century" panose="02040604050505020304" pitchFamily="18" charset="0"/>
              </a:rPr>
              <a:t>number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of</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registers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allocated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registers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that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exceed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limit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will</a:t>
            </a:r>
            <a:r>
              <a:rPr lang="es-ES" b="0" i="0" dirty="0">
                <a:solidFill>
                  <a:srgbClr val="1A1A1A"/>
                </a:solidFill>
                <a:effectLst/>
                <a:latin typeface="Century" panose="02040604050505020304" pitchFamily="18" charset="0"/>
              </a:rPr>
              <a:t> be </a:t>
            </a:r>
            <a:r>
              <a:rPr lang="es-ES" b="0" i="0" dirty="0" err="1">
                <a:solidFill>
                  <a:srgbClr val="1A1A1A"/>
                </a:solidFill>
                <a:effectLst/>
                <a:latin typeface="Century" panose="02040604050505020304" pitchFamily="18" charset="0"/>
              </a:rPr>
              <a:t>allocated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local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which</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actually</a:t>
            </a:r>
            <a:r>
              <a:rPr lang="es-ES" b="0" i="0" dirty="0">
                <a:solidFill>
                  <a:srgbClr val="1A1A1A"/>
                </a:solidFill>
                <a:effectLst/>
                <a:latin typeface="Century" panose="02040604050505020304" pitchFamily="18" charset="0"/>
              </a:rPr>
              <a:t> global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a:t>
            </a:r>
          </a:p>
          <a:p>
            <a:endParaRPr lang="es-ES" b="1" dirty="0">
              <a:effectLst/>
              <a:latin typeface="Courier New" panose="02070309020205020404" pitchFamily="49" charset="0"/>
            </a:endParaRPr>
          </a:p>
        </p:txBody>
      </p:sp>
      <p:pic>
        <p:nvPicPr>
          <p:cNvPr id="6" name="Imagen 5" descr="Texto&#10;&#10;El contenido generado por IA puede ser incorrecto.">
            <a:extLst>
              <a:ext uri="{FF2B5EF4-FFF2-40B4-BE49-F238E27FC236}">
                <a16:creationId xmlns:a16="http://schemas.microsoft.com/office/drawing/2014/main" id="{1EBDCE4C-E1A0-77FF-741F-C4AA71127DF5}"/>
              </a:ext>
            </a:extLst>
          </p:cNvPr>
          <p:cNvPicPr>
            <a:picLocks noChangeAspect="1"/>
          </p:cNvPicPr>
          <p:nvPr/>
        </p:nvPicPr>
        <p:blipFill>
          <a:blip r:embed="rId2"/>
          <a:stretch>
            <a:fillRect/>
          </a:stretch>
        </p:blipFill>
        <p:spPr>
          <a:xfrm>
            <a:off x="457200" y="1243330"/>
            <a:ext cx="5334000" cy="1762438"/>
          </a:xfrm>
          <a:prstGeom prst="rect">
            <a:avLst/>
          </a:prstGeom>
        </p:spPr>
      </p:pic>
    </p:spTree>
    <p:extLst>
      <p:ext uri="{BB962C8B-B14F-4D97-AF65-F5344CB8AC3E}">
        <p14:creationId xmlns:p14="http://schemas.microsoft.com/office/powerpoint/2010/main" val="2561432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AE90-2968-DD72-AF82-62B9C80462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453BBE6-99A9-4371-6CB9-AB8A1643661B}"/>
              </a:ext>
            </a:extLst>
          </p:cNvPr>
          <p:cNvSpPr>
            <a:spLocks noGrp="1"/>
          </p:cNvSpPr>
          <p:nvPr>
            <p:ph type="title"/>
          </p:nvPr>
        </p:nvSpPr>
        <p:spPr/>
        <p:txBody>
          <a:bodyPr/>
          <a:lstStyle/>
          <a:p>
            <a:r>
              <a:rPr lang="es-ES" dirty="0"/>
              <a:t>Local </a:t>
            </a:r>
            <a:r>
              <a:rPr lang="es-ES" dirty="0" err="1"/>
              <a:t>memory</a:t>
            </a:r>
            <a:endParaRPr lang="es-ES" dirty="0"/>
          </a:p>
        </p:txBody>
      </p:sp>
      <p:sp>
        <p:nvSpPr>
          <p:cNvPr id="3" name="Marcador de contenido 2">
            <a:extLst>
              <a:ext uri="{FF2B5EF4-FFF2-40B4-BE49-F238E27FC236}">
                <a16:creationId xmlns:a16="http://schemas.microsoft.com/office/drawing/2014/main" id="{C653449C-8B41-B1C4-A265-069AC46EB3BA}"/>
              </a:ext>
            </a:extLst>
          </p:cNvPr>
          <p:cNvSpPr>
            <a:spLocks noGrp="1"/>
          </p:cNvSpPr>
          <p:nvPr>
            <p:ph idx="1"/>
          </p:nvPr>
        </p:nvSpPr>
        <p:spPr>
          <a:xfrm>
            <a:off x="457200" y="1417638"/>
            <a:ext cx="8229600" cy="4937442"/>
          </a:xfrm>
        </p:spPr>
        <p:txBody>
          <a:bodyPr>
            <a:normAutofit/>
          </a:bodyPr>
          <a:lstStyle/>
          <a:p>
            <a:r>
              <a:rPr lang="es-ES" b="0" i="0" dirty="0">
                <a:solidFill>
                  <a:srgbClr val="1A1A1A"/>
                </a:solidFill>
                <a:effectLst/>
                <a:latin typeface="Century" panose="02040604050505020304" pitchFamily="18" charset="0"/>
              </a:rPr>
              <a:t>Local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accesses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only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occur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for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some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automatic</a:t>
            </a:r>
            <a:r>
              <a:rPr lang="es-ES" b="0" i="0" dirty="0">
                <a:solidFill>
                  <a:srgbClr val="1A1A1A"/>
                </a:solidFill>
                <a:effectLst/>
                <a:latin typeface="Century" panose="02040604050505020304" pitchFamily="18" charset="0"/>
              </a:rPr>
              <a:t> variables:</a:t>
            </a:r>
          </a:p>
          <a:p>
            <a:pPr lvl="1"/>
            <a:r>
              <a:rPr lang="es-ES" b="1" i="0" dirty="0" err="1">
                <a:solidFill>
                  <a:srgbClr val="1A1A1A"/>
                </a:solidFill>
                <a:effectLst/>
                <a:latin typeface="Century" panose="02040604050505020304" pitchFamily="18" charset="0"/>
              </a:rPr>
              <a:t>Arrays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for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which</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cannot</a:t>
            </a:r>
            <a:r>
              <a:rPr lang="es-ES" b="0" i="0" dirty="0">
                <a:solidFill>
                  <a:srgbClr val="1A1A1A"/>
                </a:solidFill>
                <a:effectLst/>
                <a:latin typeface="Century" panose="02040604050505020304" pitchFamily="18" charset="0"/>
              </a:rPr>
              <a:t> determine </a:t>
            </a:r>
            <a:r>
              <a:rPr lang="es-ES" b="0" i="0" dirty="0" err="1">
                <a:solidFill>
                  <a:srgbClr val="1A1A1A"/>
                </a:solidFill>
                <a:effectLst/>
                <a:latin typeface="Century" panose="02040604050505020304" pitchFamily="18" charset="0"/>
              </a:rPr>
              <a:t>that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they</a:t>
            </a:r>
            <a:r>
              <a:rPr lang="es-ES" b="0" i="0" dirty="0">
                <a:solidFill>
                  <a:srgbClr val="1A1A1A"/>
                </a:solidFill>
                <a:effectLst/>
                <a:latin typeface="Century" panose="02040604050505020304" pitchFamily="18" charset="0"/>
              </a:rPr>
              <a:t> are </a:t>
            </a:r>
            <a:r>
              <a:rPr lang="es-ES" b="0" i="0" dirty="0" err="1">
                <a:solidFill>
                  <a:srgbClr val="1A1A1A"/>
                </a:solidFill>
                <a:effectLst/>
                <a:latin typeface="Century" panose="02040604050505020304" pitchFamily="18" charset="0"/>
              </a:rPr>
              <a:t>indexed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with</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constant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quantities</a:t>
            </a:r>
            <a:r>
              <a:rPr lang="es-ES" b="0" i="0" dirty="0">
                <a:solidFill>
                  <a:srgbClr val="1A1A1A"/>
                </a:solidFill>
                <a:effectLst/>
                <a:latin typeface="Century" panose="02040604050505020304" pitchFamily="18" charset="0"/>
              </a:rPr>
              <a:t>,</a:t>
            </a:r>
          </a:p>
          <a:p>
            <a:pPr lvl="1"/>
            <a:r>
              <a:rPr lang="es-ES" b="1" i="0" dirty="0" err="1">
                <a:solidFill>
                  <a:srgbClr val="1A1A1A"/>
                </a:solidFill>
                <a:effectLst/>
                <a:latin typeface="Century" panose="02040604050505020304" pitchFamily="18" charset="0"/>
              </a:rPr>
              <a:t>Large</a:t>
            </a:r>
            <a:r>
              <a:rPr lang="es-ES" b="1" i="0" dirty="0">
                <a:solidFill>
                  <a:srgbClr val="1A1A1A"/>
                </a:solidFill>
                <a:effectLst/>
                <a:latin typeface="Century" panose="02040604050505020304" pitchFamily="18" charset="0"/>
              </a:rPr>
              <a:t> </a:t>
            </a:r>
            <a:r>
              <a:rPr lang="es-ES" b="1" i="0" dirty="0" err="1">
                <a:solidFill>
                  <a:srgbClr val="1A1A1A"/>
                </a:solidFill>
                <a:effectLst/>
                <a:latin typeface="Century" panose="02040604050505020304" pitchFamily="18" charset="0"/>
              </a:rPr>
              <a:t>structures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arrays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that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would</a:t>
            </a:r>
            <a:r>
              <a:rPr lang="es-ES" b="0" i="0" dirty="0">
                <a:solidFill>
                  <a:srgbClr val="1A1A1A"/>
                </a:solidFill>
                <a:effectLst/>
                <a:latin typeface="Century" panose="02040604050505020304" pitchFamily="18" charset="0"/>
              </a:rPr>
              <a:t> consume </a:t>
            </a:r>
            <a:r>
              <a:rPr lang="es-ES" b="0" i="0" dirty="0" err="1">
                <a:solidFill>
                  <a:srgbClr val="1A1A1A"/>
                </a:solidFill>
                <a:effectLst/>
                <a:latin typeface="Century" panose="02040604050505020304" pitchFamily="18" charset="0"/>
              </a:rPr>
              <a:t>too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much</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register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space</a:t>
            </a:r>
            <a:r>
              <a:rPr lang="es-ES" b="0" i="0" dirty="0">
                <a:solidFill>
                  <a:srgbClr val="1A1A1A"/>
                </a:solidFill>
                <a:effectLst/>
                <a:latin typeface="Century" panose="02040604050505020304" pitchFamily="18" charset="0"/>
              </a:rPr>
              <a:t>,</a:t>
            </a:r>
          </a:p>
          <a:p>
            <a:pPr lvl="1"/>
            <a:r>
              <a:rPr lang="es-ES" b="1" i="0" dirty="0" err="1">
                <a:solidFill>
                  <a:srgbClr val="1A1A1A"/>
                </a:solidFill>
                <a:effectLst/>
                <a:latin typeface="Century" panose="02040604050505020304" pitchFamily="18" charset="0"/>
              </a:rPr>
              <a:t>Any</a:t>
            </a:r>
            <a:r>
              <a:rPr lang="es-ES" b="1" i="0" dirty="0">
                <a:solidFill>
                  <a:srgbClr val="1A1A1A"/>
                </a:solidFill>
                <a:effectLst/>
                <a:latin typeface="Century" panose="02040604050505020304" pitchFamily="18" charset="0"/>
              </a:rPr>
              <a:t> variable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if</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kernel</a:t>
            </a:r>
            <a:r>
              <a:rPr lang="es-ES" b="0" i="0" dirty="0">
                <a:solidFill>
                  <a:srgbClr val="1A1A1A"/>
                </a:solidFill>
                <a:effectLst/>
                <a:latin typeface="Century" panose="02040604050505020304" pitchFamily="18" charset="0"/>
              </a:rPr>
              <a:t> uses more </a:t>
            </a:r>
            <a:r>
              <a:rPr lang="es-ES" b="0" i="0" dirty="0" err="1">
                <a:solidFill>
                  <a:srgbClr val="1A1A1A"/>
                </a:solidFill>
                <a:effectLst/>
                <a:latin typeface="Century" panose="02040604050505020304" pitchFamily="18" charset="0"/>
              </a:rPr>
              <a:t>registers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than</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available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also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known</a:t>
            </a:r>
            <a:r>
              <a:rPr lang="es-ES" b="0" i="0" dirty="0">
                <a:solidFill>
                  <a:srgbClr val="1A1A1A"/>
                </a:solidFill>
                <a:effectLst/>
                <a:latin typeface="Century" panose="02040604050505020304" pitchFamily="18" charset="0"/>
              </a:rPr>
              <a:t> as </a:t>
            </a:r>
            <a:r>
              <a:rPr lang="es-ES" b="0" i="0" dirty="0" err="1">
                <a:solidFill>
                  <a:srgbClr val="1A1A1A"/>
                </a:solidFill>
                <a:effectLst/>
                <a:latin typeface="Century" panose="02040604050505020304" pitchFamily="18" charset="0"/>
              </a:rPr>
              <a:t>register</a:t>
            </a:r>
            <a:r>
              <a:rPr lang="es-ES" b="0" i="0" dirty="0">
                <a:solidFill>
                  <a:srgbClr val="1A1A1A"/>
                </a:solidFill>
                <a:effectLst/>
                <a:latin typeface="Century" panose="02040604050505020304" pitchFamily="18" charset="0"/>
              </a:rPr>
              <a:t> </a:t>
            </a:r>
            <a:r>
              <a:rPr lang="es-ES" b="1" i="1" dirty="0" err="1">
                <a:solidFill>
                  <a:srgbClr val="1A1A1A"/>
                </a:solidFill>
                <a:effectLst/>
                <a:latin typeface="Century" panose="02040604050505020304" pitchFamily="18" charset="0"/>
              </a:rPr>
              <a:t>spilling</a:t>
            </a:r>
            <a:r>
              <a:rPr lang="es-ES" b="0" i="0" dirty="0">
                <a:solidFill>
                  <a:srgbClr val="1A1A1A"/>
                </a:solidFill>
                <a:effectLst/>
                <a:latin typeface="Century" panose="02040604050505020304" pitchFamily="18" charset="0"/>
              </a:rPr>
              <a:t>).</a:t>
            </a:r>
          </a:p>
          <a:p>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compiler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reports</a:t>
            </a:r>
            <a:r>
              <a:rPr lang="es-ES" b="0" i="0" dirty="0">
                <a:solidFill>
                  <a:srgbClr val="1A1A1A"/>
                </a:solidFill>
                <a:effectLst/>
                <a:latin typeface="Century" panose="02040604050505020304" pitchFamily="18" charset="0"/>
              </a:rPr>
              <a:t> total local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usage</a:t>
            </a:r>
            <a:r>
              <a:rPr lang="es-ES" b="0" i="0" dirty="0">
                <a:solidFill>
                  <a:srgbClr val="1A1A1A"/>
                </a:solidFill>
                <a:effectLst/>
                <a:latin typeface="Century" panose="02040604050505020304" pitchFamily="18" charset="0"/>
              </a:rPr>
              <a:t> per </a:t>
            </a:r>
            <a:r>
              <a:rPr lang="es-ES" b="0" i="0" dirty="0" err="1">
                <a:solidFill>
                  <a:srgbClr val="1A1A1A"/>
                </a:solidFill>
                <a:effectLst/>
                <a:latin typeface="Century" panose="02040604050505020304" pitchFamily="18" charset="0"/>
              </a:rPr>
              <a:t>kernel</a:t>
            </a:r>
            <a:r>
              <a:rPr lang="es-ES" b="0" i="0" dirty="0">
                <a:solidFill>
                  <a:srgbClr val="1A1A1A"/>
                </a:solidFill>
                <a:effectLst/>
                <a:latin typeface="Century" panose="02040604050505020304" pitchFamily="18" charset="0"/>
              </a:rPr>
              <a:t> (</a:t>
            </a:r>
            <a:r>
              <a:rPr lang="es-ES" b="0" i="0" dirty="0" err="1">
                <a:solidFill>
                  <a:srgbClr val="1A1A1A"/>
                </a:solidFill>
                <a:effectLst/>
                <a:latin typeface="Courier New" panose="02070309020205020404" pitchFamily="49" charset="0"/>
              </a:rPr>
              <a:t>lmem</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when</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compiling</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with</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a:solidFill>
                  <a:srgbClr val="1A1A1A"/>
                </a:solidFill>
                <a:effectLst/>
                <a:latin typeface="Courier New" panose="02070309020205020404" pitchFamily="49" charset="0"/>
              </a:rPr>
              <a:t>--</a:t>
            </a:r>
            <a:r>
              <a:rPr lang="es-ES" b="0" i="0" dirty="0" err="1">
                <a:solidFill>
                  <a:srgbClr val="1A1A1A"/>
                </a:solidFill>
                <a:effectLst/>
                <a:latin typeface="Courier New" panose="02070309020205020404" pitchFamily="49" charset="0"/>
              </a:rPr>
              <a:t>ptxas-options</a:t>
            </a:r>
            <a:r>
              <a:rPr lang="es-ES" b="0" i="0" dirty="0">
                <a:solidFill>
                  <a:srgbClr val="1A1A1A"/>
                </a:solidFill>
                <a:effectLst/>
                <a:latin typeface="Courier New" panose="02070309020205020404" pitchFamily="49" charset="0"/>
              </a:rPr>
              <a:t>=-v</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option</a:t>
            </a:r>
            <a:r>
              <a:rPr lang="es-ES" b="0" i="0" dirty="0">
                <a:solidFill>
                  <a:srgbClr val="1A1A1A"/>
                </a:solidFill>
                <a:effectLst/>
                <a:latin typeface="Century" panose="02040604050505020304" pitchFamily="18" charset="0"/>
              </a:rPr>
              <a:t>.</a:t>
            </a:r>
          </a:p>
          <a:p>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local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space</a:t>
            </a:r>
            <a:r>
              <a:rPr lang="es-ES" b="0" i="0" dirty="0">
                <a:solidFill>
                  <a:srgbClr val="1A1A1A"/>
                </a:solidFill>
                <a:effectLst/>
                <a:latin typeface="Century" panose="02040604050505020304" pitchFamily="18" charset="0"/>
              </a:rPr>
              <a:t> </a:t>
            </a:r>
            <a:r>
              <a:rPr lang="es-ES" b="0" i="0" u="sng" dirty="0">
                <a:solidFill>
                  <a:srgbClr val="1A1A1A"/>
                </a:solidFill>
                <a:effectLst/>
                <a:latin typeface="Century" panose="02040604050505020304" pitchFamily="18" charset="0"/>
              </a:rPr>
              <a:t>resides in </a:t>
            </a:r>
            <a:r>
              <a:rPr lang="es-ES" b="0" i="0" u="sng" dirty="0" err="1">
                <a:solidFill>
                  <a:srgbClr val="1A1A1A"/>
                </a:solidFill>
                <a:effectLst/>
                <a:latin typeface="Century" panose="02040604050505020304" pitchFamily="18" charset="0"/>
              </a:rPr>
              <a:t>device</a:t>
            </a:r>
            <a:r>
              <a:rPr lang="es-ES" b="0" i="0" u="sng"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a:t>
            </a:r>
          </a:p>
          <a:p>
            <a:endParaRPr lang="es-ES" b="1" dirty="0">
              <a:effectLst/>
              <a:latin typeface="Courier New" panose="02070309020205020404" pitchFamily="49" charset="0"/>
            </a:endParaRPr>
          </a:p>
        </p:txBody>
      </p:sp>
    </p:spTree>
    <p:extLst>
      <p:ext uri="{BB962C8B-B14F-4D97-AF65-F5344CB8AC3E}">
        <p14:creationId xmlns:p14="http://schemas.microsoft.com/office/powerpoint/2010/main" val="36343435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F9A43-A1C0-9068-6BC9-15306CFF26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752526-E38B-BD73-A494-8DF26D872702}"/>
              </a:ext>
            </a:extLst>
          </p:cNvPr>
          <p:cNvSpPr>
            <a:spLocks noGrp="1"/>
          </p:cNvSpPr>
          <p:nvPr>
            <p:ph type="title"/>
          </p:nvPr>
        </p:nvSpPr>
        <p:spPr/>
        <p:txBody>
          <a:bodyPr/>
          <a:lstStyle/>
          <a:p>
            <a:r>
              <a:rPr lang="es-ES" dirty="0" err="1"/>
              <a:t>Distributed</a:t>
            </a:r>
            <a:r>
              <a:rPr lang="es-ES" dirty="0"/>
              <a:t> </a:t>
            </a:r>
            <a:r>
              <a:rPr lang="es-ES" dirty="0" err="1"/>
              <a:t>Shared</a:t>
            </a:r>
            <a:r>
              <a:rPr lang="es-ES" dirty="0"/>
              <a:t> </a:t>
            </a:r>
            <a:r>
              <a:rPr lang="es-ES" dirty="0" err="1"/>
              <a:t>Memory</a:t>
            </a:r>
            <a:endParaRPr lang="es-ES" dirty="0"/>
          </a:p>
        </p:txBody>
      </p:sp>
      <p:sp>
        <p:nvSpPr>
          <p:cNvPr id="3" name="Marcador de contenido 2">
            <a:extLst>
              <a:ext uri="{FF2B5EF4-FFF2-40B4-BE49-F238E27FC236}">
                <a16:creationId xmlns:a16="http://schemas.microsoft.com/office/drawing/2014/main" id="{31F0D32C-460E-DE50-9ABE-43F45CA7BC78}"/>
              </a:ext>
            </a:extLst>
          </p:cNvPr>
          <p:cNvSpPr>
            <a:spLocks noGrp="1"/>
          </p:cNvSpPr>
          <p:nvPr>
            <p:ph idx="1"/>
          </p:nvPr>
        </p:nvSpPr>
        <p:spPr>
          <a:xfrm>
            <a:off x="457200" y="1417638"/>
            <a:ext cx="8229600" cy="4937442"/>
          </a:xfrm>
        </p:spPr>
        <p:txBody>
          <a:bodyPr>
            <a:normAutofit fontScale="92500" lnSpcReduction="20000"/>
          </a:bodyPr>
          <a:lstStyle/>
          <a:p>
            <a:r>
              <a:rPr lang="es-ES" b="0" i="0" dirty="0" err="1">
                <a:solidFill>
                  <a:srgbClr val="1A1A1A"/>
                </a:solidFill>
                <a:effectLst/>
                <a:latin typeface="Century" panose="02040604050505020304" pitchFamily="18" charset="0"/>
              </a:rPr>
              <a:t>Thread</a:t>
            </a:r>
            <a:r>
              <a:rPr lang="es-ES" b="0" i="0" dirty="0">
                <a:solidFill>
                  <a:srgbClr val="1A1A1A"/>
                </a:solidFill>
                <a:effectLst/>
                <a:latin typeface="Century" panose="02040604050505020304" pitchFamily="18" charset="0"/>
              </a:rPr>
              <a:t> block </a:t>
            </a:r>
            <a:r>
              <a:rPr lang="es-ES" b="0" i="0" dirty="0" err="1">
                <a:solidFill>
                  <a:srgbClr val="1A1A1A"/>
                </a:solidFill>
                <a:effectLst/>
                <a:latin typeface="Century" panose="02040604050505020304" pitchFamily="18" charset="0"/>
              </a:rPr>
              <a:t>clusters</a:t>
            </a:r>
            <a:r>
              <a:rPr lang="es-ES" b="0" i="0" dirty="0">
                <a:solidFill>
                  <a:srgbClr val="1A1A1A"/>
                </a:solidFill>
                <a:effectLst/>
                <a:latin typeface="Century" panose="02040604050505020304" pitchFamily="18" charset="0"/>
              </a:rPr>
              <a:t> (compute </a:t>
            </a:r>
            <a:r>
              <a:rPr lang="es-ES" b="0" i="0" dirty="0" err="1">
                <a:solidFill>
                  <a:srgbClr val="1A1A1A"/>
                </a:solidFill>
                <a:effectLst/>
                <a:latin typeface="Century" panose="02040604050505020304" pitchFamily="18" charset="0"/>
              </a:rPr>
              <a:t>capability</a:t>
            </a:r>
            <a:r>
              <a:rPr lang="es-ES" b="0" i="0" dirty="0">
                <a:solidFill>
                  <a:srgbClr val="1A1A1A"/>
                </a:solidFill>
                <a:effectLst/>
                <a:latin typeface="Century" panose="02040604050505020304" pitchFamily="18" charset="0"/>
              </a:rPr>
              <a:t> 9.0) </a:t>
            </a:r>
            <a:r>
              <a:rPr lang="es-ES" b="0" i="0" dirty="0" err="1">
                <a:solidFill>
                  <a:srgbClr val="1A1A1A"/>
                </a:solidFill>
                <a:effectLst/>
                <a:latin typeface="Century" panose="02040604050505020304" pitchFamily="18" charset="0"/>
              </a:rPr>
              <a:t>provide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ability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for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threads</a:t>
            </a:r>
            <a:r>
              <a:rPr lang="es-ES" b="0" i="0" dirty="0">
                <a:solidFill>
                  <a:srgbClr val="1A1A1A"/>
                </a:solidFill>
                <a:effectLst/>
                <a:latin typeface="Century" panose="02040604050505020304" pitchFamily="18" charset="0"/>
              </a:rPr>
              <a:t> in a </a:t>
            </a:r>
            <a:r>
              <a:rPr lang="es-ES" b="0" i="0" u="sng" dirty="0" err="1">
                <a:solidFill>
                  <a:srgbClr val="1A1A1A"/>
                </a:solidFill>
                <a:effectLst/>
                <a:latin typeface="Century" panose="02040604050505020304" pitchFamily="18" charset="0"/>
              </a:rPr>
              <a:t>thread</a:t>
            </a:r>
            <a:r>
              <a:rPr lang="es-ES" b="0" i="0" u="sng" dirty="0">
                <a:solidFill>
                  <a:srgbClr val="1A1A1A"/>
                </a:solidFill>
                <a:effectLst/>
                <a:latin typeface="Century" panose="02040604050505020304" pitchFamily="18" charset="0"/>
              </a:rPr>
              <a:t> block </a:t>
            </a:r>
            <a:r>
              <a:rPr lang="es-ES" b="0" i="0" u="sng" dirty="0" err="1">
                <a:solidFill>
                  <a:srgbClr val="1A1A1A"/>
                </a:solidFill>
                <a:effectLst/>
                <a:latin typeface="Century" panose="02040604050505020304" pitchFamily="18" charset="0"/>
              </a:rPr>
              <a:t>cluster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access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shared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of</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all</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participating</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thread</a:t>
            </a:r>
            <a:r>
              <a:rPr lang="es-ES" b="0" i="0" dirty="0">
                <a:solidFill>
                  <a:srgbClr val="1A1A1A"/>
                </a:solidFill>
                <a:effectLst/>
                <a:latin typeface="Century" panose="02040604050505020304" pitchFamily="18" charset="0"/>
              </a:rPr>
              <a:t> blocks in a </a:t>
            </a:r>
            <a:r>
              <a:rPr lang="es-ES" b="0" i="0" dirty="0" err="1">
                <a:solidFill>
                  <a:srgbClr val="1A1A1A"/>
                </a:solidFill>
                <a:effectLst/>
                <a:latin typeface="Century" panose="02040604050505020304" pitchFamily="18" charset="0"/>
              </a:rPr>
              <a:t>cluster</a:t>
            </a:r>
            <a:r>
              <a:rPr lang="es-ES" b="0" i="0" dirty="0">
                <a:solidFill>
                  <a:srgbClr val="1A1A1A"/>
                </a:solidFill>
                <a:effectLst/>
                <a:latin typeface="Century" panose="02040604050505020304" pitchFamily="18" charset="0"/>
              </a:rPr>
              <a:t>. </a:t>
            </a:r>
          </a:p>
          <a:p>
            <a:r>
              <a:rPr lang="es-ES" b="0" i="0" dirty="0" err="1">
                <a:solidFill>
                  <a:srgbClr val="1A1A1A"/>
                </a:solidFill>
                <a:effectLst/>
                <a:latin typeface="Century" panose="02040604050505020304" pitchFamily="18" charset="0"/>
              </a:rPr>
              <a:t>This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partitioned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shared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called</a:t>
            </a:r>
            <a:r>
              <a:rPr lang="es-ES" b="0" i="0" dirty="0">
                <a:solidFill>
                  <a:srgbClr val="1A1A1A"/>
                </a:solidFill>
                <a:effectLst/>
                <a:latin typeface="Century" panose="02040604050505020304" pitchFamily="18" charset="0"/>
              </a:rPr>
              <a:t> </a:t>
            </a:r>
            <a:r>
              <a:rPr lang="es-ES" b="0" i="1" dirty="0" err="1">
                <a:solidFill>
                  <a:srgbClr val="1A1A1A"/>
                </a:solidFill>
                <a:effectLst/>
                <a:latin typeface="Century" panose="02040604050505020304" pitchFamily="18" charset="0"/>
              </a:rPr>
              <a:t>Distributed</a:t>
            </a:r>
            <a:r>
              <a:rPr lang="es-ES" b="0" i="1" dirty="0">
                <a:solidFill>
                  <a:srgbClr val="1A1A1A"/>
                </a:solidFill>
                <a:effectLst/>
                <a:latin typeface="Century" panose="02040604050505020304" pitchFamily="18" charset="0"/>
              </a:rPr>
              <a:t> </a:t>
            </a:r>
            <a:r>
              <a:rPr lang="es-ES" b="0" i="1" dirty="0" err="1">
                <a:solidFill>
                  <a:srgbClr val="1A1A1A"/>
                </a:solidFill>
                <a:effectLst/>
                <a:latin typeface="Century" panose="02040604050505020304" pitchFamily="18" charset="0"/>
              </a:rPr>
              <a:t>Shared</a:t>
            </a:r>
            <a:r>
              <a:rPr lang="es-ES" b="0" i="1" dirty="0">
                <a:solidFill>
                  <a:srgbClr val="1A1A1A"/>
                </a:solidFill>
                <a:effectLst/>
                <a:latin typeface="Century" panose="02040604050505020304" pitchFamily="18" charset="0"/>
              </a:rPr>
              <a:t> </a:t>
            </a:r>
            <a:r>
              <a:rPr lang="es-ES" b="0" i="1"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and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corresponding</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address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space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called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Distributed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shared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address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space</a:t>
            </a:r>
            <a:r>
              <a:rPr lang="es-ES" b="0" i="0" dirty="0">
                <a:solidFill>
                  <a:srgbClr val="1A1A1A"/>
                </a:solidFill>
                <a:effectLst/>
                <a:latin typeface="Century" panose="02040604050505020304" pitchFamily="18" charset="0"/>
              </a:rPr>
              <a:t>. </a:t>
            </a:r>
          </a:p>
          <a:p>
            <a:r>
              <a:rPr lang="es-ES" b="0" i="0" dirty="0" err="1">
                <a:solidFill>
                  <a:srgbClr val="1A1A1A"/>
                </a:solidFill>
                <a:effectLst/>
                <a:latin typeface="Century" panose="02040604050505020304" pitchFamily="18" charset="0"/>
              </a:rPr>
              <a:t>Threads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that</a:t>
            </a:r>
            <a:r>
              <a:rPr lang="es-ES" b="0" i="0"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belong</a:t>
            </a:r>
            <a:r>
              <a:rPr lang="es-ES" b="0" i="0" u="sng"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to</a:t>
            </a:r>
            <a:r>
              <a:rPr lang="es-ES" b="0" i="0" u="sng" dirty="0">
                <a:solidFill>
                  <a:srgbClr val="1A1A1A"/>
                </a:solidFill>
                <a:effectLst/>
                <a:latin typeface="Century" panose="02040604050505020304" pitchFamily="18" charset="0"/>
              </a:rPr>
              <a:t> a </a:t>
            </a:r>
            <a:r>
              <a:rPr lang="es-ES" b="0" i="0" u="sng" dirty="0" err="1">
                <a:solidFill>
                  <a:srgbClr val="1A1A1A"/>
                </a:solidFill>
                <a:effectLst/>
                <a:latin typeface="Century" panose="02040604050505020304" pitchFamily="18" charset="0"/>
              </a:rPr>
              <a:t>thread</a:t>
            </a:r>
            <a:r>
              <a:rPr lang="es-ES" b="0" i="0" u="sng" dirty="0">
                <a:solidFill>
                  <a:srgbClr val="1A1A1A"/>
                </a:solidFill>
                <a:effectLst/>
                <a:latin typeface="Century" panose="02040604050505020304" pitchFamily="18" charset="0"/>
              </a:rPr>
              <a:t> block </a:t>
            </a:r>
            <a:r>
              <a:rPr lang="es-ES" b="0" i="0" u="sng" dirty="0" err="1">
                <a:solidFill>
                  <a:srgbClr val="1A1A1A"/>
                </a:solidFill>
                <a:effectLst/>
                <a:latin typeface="Century" panose="02040604050505020304" pitchFamily="18" charset="0"/>
              </a:rPr>
              <a:t>cluster</a:t>
            </a:r>
            <a:r>
              <a:rPr lang="es-ES" b="0" i="0" dirty="0">
                <a:solidFill>
                  <a:srgbClr val="1A1A1A"/>
                </a:solidFill>
                <a:effectLst/>
                <a:latin typeface="Century" panose="02040604050505020304" pitchFamily="18" charset="0"/>
              </a:rPr>
              <a:t>, can </a:t>
            </a:r>
            <a:r>
              <a:rPr lang="es-ES" b="0" i="0" dirty="0" err="1">
                <a:solidFill>
                  <a:srgbClr val="1A1A1A"/>
                </a:solidFill>
                <a:effectLst/>
                <a:latin typeface="Century" panose="02040604050505020304" pitchFamily="18" charset="0"/>
              </a:rPr>
              <a:t>read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write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perform</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atomics</a:t>
            </a:r>
            <a:r>
              <a:rPr lang="es-ES" b="0" i="0" dirty="0">
                <a:solidFill>
                  <a:srgbClr val="1A1A1A"/>
                </a:solidFill>
                <a:effectLst/>
                <a:latin typeface="Century" panose="02040604050505020304" pitchFamily="18" charset="0"/>
              </a:rPr>
              <a:t> in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distributed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address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space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regardless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whether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address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belongs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to</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local </a:t>
            </a:r>
            <a:r>
              <a:rPr lang="es-ES" b="0" i="0" dirty="0" err="1">
                <a:solidFill>
                  <a:srgbClr val="1A1A1A"/>
                </a:solidFill>
                <a:effectLst/>
                <a:latin typeface="Century" panose="02040604050505020304" pitchFamily="18" charset="0"/>
              </a:rPr>
              <a:t>thread</a:t>
            </a:r>
            <a:r>
              <a:rPr lang="es-ES" b="0" i="0" dirty="0">
                <a:solidFill>
                  <a:srgbClr val="1A1A1A"/>
                </a:solidFill>
                <a:effectLst/>
                <a:latin typeface="Century" panose="02040604050505020304" pitchFamily="18" charset="0"/>
              </a:rPr>
              <a:t> block </a:t>
            </a:r>
            <a:r>
              <a:rPr lang="es-ES" b="0" i="0" dirty="0" err="1">
                <a:solidFill>
                  <a:srgbClr val="1A1A1A"/>
                </a:solidFill>
                <a:effectLst/>
                <a:latin typeface="Century" panose="02040604050505020304" pitchFamily="18" charset="0"/>
              </a:rPr>
              <a:t>or</a:t>
            </a:r>
            <a:r>
              <a:rPr lang="es-ES" b="0" i="0" dirty="0">
                <a:solidFill>
                  <a:srgbClr val="1A1A1A"/>
                </a:solidFill>
                <a:effectLst/>
                <a:latin typeface="Century" panose="02040604050505020304" pitchFamily="18" charset="0"/>
              </a:rPr>
              <a:t> a remote </a:t>
            </a:r>
            <a:r>
              <a:rPr lang="es-ES" b="0" i="0" dirty="0" err="1">
                <a:solidFill>
                  <a:srgbClr val="1A1A1A"/>
                </a:solidFill>
                <a:effectLst/>
                <a:latin typeface="Century" panose="02040604050505020304" pitchFamily="18" charset="0"/>
              </a:rPr>
              <a:t>thread</a:t>
            </a:r>
            <a:r>
              <a:rPr lang="es-ES" b="0" i="0" dirty="0">
                <a:solidFill>
                  <a:srgbClr val="1A1A1A"/>
                </a:solidFill>
                <a:effectLst/>
                <a:latin typeface="Century" panose="02040604050505020304" pitchFamily="18" charset="0"/>
              </a:rPr>
              <a:t> block. </a:t>
            </a:r>
          </a:p>
          <a:p>
            <a:r>
              <a:rPr lang="es-ES" b="0" i="0" dirty="0" err="1">
                <a:solidFill>
                  <a:srgbClr val="1A1A1A"/>
                </a:solidFill>
                <a:effectLst/>
                <a:latin typeface="Century" panose="02040604050505020304" pitchFamily="18" charset="0"/>
              </a:rPr>
              <a:t>Whether</a:t>
            </a:r>
            <a:r>
              <a:rPr lang="es-ES" b="0" i="0" dirty="0">
                <a:solidFill>
                  <a:srgbClr val="1A1A1A"/>
                </a:solidFill>
                <a:effectLst/>
                <a:latin typeface="Century" panose="02040604050505020304" pitchFamily="18" charset="0"/>
              </a:rPr>
              <a:t> a </a:t>
            </a:r>
            <a:r>
              <a:rPr lang="es-ES" b="0" i="0" dirty="0" err="1">
                <a:solidFill>
                  <a:srgbClr val="1A1A1A"/>
                </a:solidFill>
                <a:effectLst/>
                <a:latin typeface="Century" panose="02040604050505020304" pitchFamily="18" charset="0"/>
              </a:rPr>
              <a:t>kernel</a:t>
            </a:r>
            <a:r>
              <a:rPr lang="es-ES" b="0" i="0" dirty="0">
                <a:solidFill>
                  <a:srgbClr val="1A1A1A"/>
                </a:solidFill>
                <a:effectLst/>
                <a:latin typeface="Century" panose="02040604050505020304" pitchFamily="18" charset="0"/>
              </a:rPr>
              <a:t> uses </a:t>
            </a:r>
            <a:r>
              <a:rPr lang="es-ES" b="0" i="0" dirty="0" err="1">
                <a:solidFill>
                  <a:srgbClr val="1A1A1A"/>
                </a:solidFill>
                <a:effectLst/>
                <a:latin typeface="Century" panose="02040604050505020304" pitchFamily="18" charset="0"/>
              </a:rPr>
              <a:t>distributed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shared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not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shared</a:t>
            </a:r>
            <a:r>
              <a:rPr lang="es-ES" b="0" i="0" u="sng"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memory</a:t>
            </a:r>
            <a:r>
              <a:rPr lang="es-ES" b="0" i="0" u="sng"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size</a:t>
            </a:r>
            <a:r>
              <a:rPr lang="es-ES" b="0" i="0" u="sng"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specifications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static</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dynamic</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still</a:t>
            </a:r>
            <a:r>
              <a:rPr lang="es-ES" b="0" i="0" dirty="0">
                <a:solidFill>
                  <a:srgbClr val="1A1A1A"/>
                </a:solidFill>
                <a:effectLst/>
                <a:latin typeface="Century" panose="02040604050505020304" pitchFamily="18" charset="0"/>
              </a:rPr>
              <a:t> per </a:t>
            </a:r>
            <a:r>
              <a:rPr lang="es-ES" b="0" i="0" dirty="0" err="1">
                <a:solidFill>
                  <a:srgbClr val="1A1A1A"/>
                </a:solidFill>
                <a:effectLst/>
                <a:latin typeface="Century" panose="02040604050505020304" pitchFamily="18" charset="0"/>
              </a:rPr>
              <a:t>thread</a:t>
            </a:r>
            <a:r>
              <a:rPr lang="es-ES" b="0" i="0" dirty="0">
                <a:solidFill>
                  <a:srgbClr val="1A1A1A"/>
                </a:solidFill>
                <a:effectLst/>
                <a:latin typeface="Century" panose="02040604050505020304" pitchFamily="18" charset="0"/>
              </a:rPr>
              <a:t> block. </a:t>
            </a:r>
          </a:p>
          <a:p>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size</a:t>
            </a:r>
            <a:r>
              <a:rPr lang="es-ES" b="0" i="0" u="sng"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of</a:t>
            </a:r>
            <a:r>
              <a:rPr lang="es-ES" b="0" i="0" u="sng"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distributed</a:t>
            </a:r>
            <a:r>
              <a:rPr lang="es-ES" b="0" i="0" u="sng"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shared</a:t>
            </a:r>
            <a:r>
              <a:rPr lang="es-ES" b="0" i="0" u="sng" dirty="0">
                <a:solidFill>
                  <a:srgbClr val="1A1A1A"/>
                </a:solidFill>
                <a:effectLst/>
                <a:latin typeface="Century" panose="02040604050505020304" pitchFamily="18" charset="0"/>
              </a:rPr>
              <a:t> </a:t>
            </a:r>
            <a:r>
              <a:rPr lang="es-ES" b="0" i="0" u="sng"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is</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just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number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of</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thread</a:t>
            </a:r>
            <a:r>
              <a:rPr lang="es-ES" b="0" i="0" dirty="0">
                <a:solidFill>
                  <a:srgbClr val="1A1A1A"/>
                </a:solidFill>
                <a:effectLst/>
                <a:latin typeface="Century" panose="02040604050505020304" pitchFamily="18" charset="0"/>
              </a:rPr>
              <a:t> blocks per </a:t>
            </a:r>
            <a:r>
              <a:rPr lang="es-ES" b="0" i="0" dirty="0" err="1">
                <a:solidFill>
                  <a:srgbClr val="1A1A1A"/>
                </a:solidFill>
                <a:effectLst/>
                <a:latin typeface="Century" panose="02040604050505020304" pitchFamily="18" charset="0"/>
              </a:rPr>
              <a:t>cluster</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multiplied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by</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the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size</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of</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shared</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 per </a:t>
            </a:r>
            <a:r>
              <a:rPr lang="es-ES" b="0" i="0" dirty="0" err="1">
                <a:solidFill>
                  <a:srgbClr val="1A1A1A"/>
                </a:solidFill>
                <a:effectLst/>
                <a:latin typeface="Century" panose="02040604050505020304" pitchFamily="18" charset="0"/>
              </a:rPr>
              <a:t>thread</a:t>
            </a:r>
            <a:r>
              <a:rPr lang="es-ES" b="0" i="0" dirty="0">
                <a:solidFill>
                  <a:srgbClr val="1A1A1A"/>
                </a:solidFill>
                <a:effectLst/>
                <a:latin typeface="Century" panose="02040604050505020304" pitchFamily="18" charset="0"/>
              </a:rPr>
              <a:t> block.</a:t>
            </a:r>
          </a:p>
          <a:p>
            <a:r>
              <a:rPr lang="es-ES" dirty="0" err="1">
                <a:effectLst/>
                <a:latin typeface="Century" panose="02040604050505020304" pitchFamily="18" charset="0"/>
              </a:rPr>
              <a:t>Accessing</a:t>
            </a:r>
            <a:r>
              <a:rPr lang="es-ES" dirty="0">
                <a:effectLst/>
                <a:latin typeface="Century" panose="02040604050505020304" pitchFamily="18" charset="0"/>
              </a:rPr>
              <a:t> data in </a:t>
            </a:r>
            <a:r>
              <a:rPr lang="es-ES" dirty="0" err="1">
                <a:effectLst/>
                <a:latin typeface="Century" panose="02040604050505020304" pitchFamily="18" charset="0"/>
              </a:rPr>
              <a:t>distributed</a:t>
            </a:r>
            <a:r>
              <a:rPr lang="es-ES" dirty="0">
                <a:effectLst/>
                <a:latin typeface="Century" panose="02040604050505020304" pitchFamily="18" charset="0"/>
              </a:rPr>
              <a:t> </a:t>
            </a:r>
            <a:r>
              <a:rPr lang="es-ES" dirty="0" err="1">
                <a:effectLst/>
                <a:latin typeface="Century" panose="02040604050505020304" pitchFamily="18" charset="0"/>
              </a:rPr>
              <a:t>shared</a:t>
            </a:r>
            <a:r>
              <a:rPr lang="es-ES" dirty="0">
                <a:effectLst/>
                <a:latin typeface="Century" panose="02040604050505020304" pitchFamily="18" charset="0"/>
              </a:rPr>
              <a:t> </a:t>
            </a:r>
            <a:r>
              <a:rPr lang="es-ES" dirty="0" err="1">
                <a:effectLst/>
                <a:latin typeface="Century" panose="02040604050505020304" pitchFamily="18" charset="0"/>
              </a:rPr>
              <a:t>memory</a:t>
            </a:r>
            <a:r>
              <a:rPr lang="es-ES" dirty="0">
                <a:effectLst/>
                <a:latin typeface="Century" panose="02040604050505020304" pitchFamily="18" charset="0"/>
              </a:rPr>
              <a:t> </a:t>
            </a:r>
            <a:r>
              <a:rPr lang="es-ES" u="sng" dirty="0" err="1">
                <a:effectLst/>
                <a:latin typeface="Century" panose="02040604050505020304" pitchFamily="18" charset="0"/>
              </a:rPr>
              <a:t>requires</a:t>
            </a:r>
            <a:r>
              <a:rPr lang="es-ES" u="sng" dirty="0">
                <a:effectLst/>
                <a:latin typeface="Century" panose="02040604050505020304" pitchFamily="18" charset="0"/>
              </a:rPr>
              <a:t> </a:t>
            </a:r>
            <a:r>
              <a:rPr lang="es-ES" u="sng" dirty="0" err="1">
                <a:effectLst/>
                <a:latin typeface="Century" panose="02040604050505020304" pitchFamily="18" charset="0"/>
              </a:rPr>
              <a:t>all</a:t>
            </a:r>
            <a:r>
              <a:rPr lang="es-ES" u="sng" dirty="0">
                <a:effectLst/>
                <a:latin typeface="Century" panose="02040604050505020304" pitchFamily="18" charset="0"/>
              </a:rPr>
              <a:t> </a:t>
            </a:r>
            <a:r>
              <a:rPr lang="es-ES" u="sng" dirty="0" err="1">
                <a:effectLst/>
                <a:latin typeface="Century" panose="02040604050505020304" pitchFamily="18" charset="0"/>
              </a:rPr>
              <a:t>the</a:t>
            </a:r>
            <a:r>
              <a:rPr lang="es-ES" u="sng" dirty="0">
                <a:effectLst/>
                <a:latin typeface="Century" panose="02040604050505020304" pitchFamily="18" charset="0"/>
              </a:rPr>
              <a:t> </a:t>
            </a:r>
            <a:r>
              <a:rPr lang="es-ES" u="sng" dirty="0" err="1">
                <a:effectLst/>
                <a:latin typeface="Century" panose="02040604050505020304" pitchFamily="18" charset="0"/>
              </a:rPr>
              <a:t>thread</a:t>
            </a:r>
            <a:r>
              <a:rPr lang="es-ES" u="sng" dirty="0">
                <a:effectLst/>
                <a:latin typeface="Century" panose="02040604050505020304" pitchFamily="18" charset="0"/>
              </a:rPr>
              <a:t> blocks </a:t>
            </a:r>
            <a:r>
              <a:rPr lang="es-ES" u="sng" dirty="0" err="1">
                <a:effectLst/>
                <a:latin typeface="Century" panose="02040604050505020304" pitchFamily="18" charset="0"/>
              </a:rPr>
              <a:t>to</a:t>
            </a:r>
            <a:r>
              <a:rPr lang="es-ES" u="sng" dirty="0">
                <a:effectLst/>
                <a:latin typeface="Century" panose="02040604050505020304" pitchFamily="18" charset="0"/>
              </a:rPr>
              <a:t> </a:t>
            </a:r>
            <a:r>
              <a:rPr lang="es-ES" u="sng" dirty="0" err="1">
                <a:effectLst/>
                <a:latin typeface="Century" panose="02040604050505020304" pitchFamily="18" charset="0"/>
              </a:rPr>
              <a:t>exist</a:t>
            </a:r>
            <a:r>
              <a:rPr lang="es-ES" dirty="0">
                <a:effectLst/>
                <a:latin typeface="Century" panose="02040604050505020304" pitchFamily="18" charset="0"/>
              </a:rPr>
              <a:t>. </a:t>
            </a:r>
          </a:p>
          <a:p>
            <a:r>
              <a:rPr lang="es-ES" dirty="0" err="1">
                <a:latin typeface="Century" panose="02040604050505020304" pitchFamily="18" charset="0"/>
              </a:rPr>
              <a:t>This</a:t>
            </a:r>
            <a:r>
              <a:rPr lang="es-ES" dirty="0">
                <a:latin typeface="Century" panose="02040604050505020304" pitchFamily="18" charset="0"/>
              </a:rPr>
              <a:t> </a:t>
            </a:r>
            <a:r>
              <a:rPr lang="es-ES" dirty="0" err="1">
                <a:latin typeface="Century" panose="02040604050505020304" pitchFamily="18" charset="0"/>
              </a:rPr>
              <a:t>resource</a:t>
            </a:r>
            <a:r>
              <a:rPr lang="es-ES" dirty="0">
                <a:latin typeface="Century" panose="02040604050505020304" pitchFamily="18" charset="0"/>
              </a:rPr>
              <a:t> </a:t>
            </a:r>
            <a:r>
              <a:rPr lang="es-ES" dirty="0" err="1">
                <a:latin typeface="Century" panose="02040604050505020304" pitchFamily="18" charset="0"/>
              </a:rPr>
              <a:t>needs</a:t>
            </a:r>
            <a:r>
              <a:rPr lang="es-ES" dirty="0">
                <a:latin typeface="Century" panose="02040604050505020304" pitchFamily="18" charset="0"/>
              </a:rPr>
              <a:t> </a:t>
            </a:r>
            <a:r>
              <a:rPr lang="es-ES" dirty="0" err="1">
                <a:latin typeface="Century" panose="02040604050505020304" pitchFamily="18" charset="0"/>
              </a:rPr>
              <a:t>the</a:t>
            </a:r>
            <a:r>
              <a:rPr lang="es-ES" dirty="0">
                <a:latin typeface="Century" panose="02040604050505020304" pitchFamily="18" charset="0"/>
              </a:rPr>
              <a:t> use </a:t>
            </a:r>
            <a:r>
              <a:rPr lang="es-ES" dirty="0" err="1">
                <a:latin typeface="Century" panose="02040604050505020304" pitchFamily="18" charset="0"/>
              </a:rPr>
              <a:t>of</a:t>
            </a:r>
            <a:r>
              <a:rPr lang="es-ES" dirty="0">
                <a:latin typeface="Century" panose="02040604050505020304" pitchFamily="18" charset="0"/>
              </a:rPr>
              <a:t> </a:t>
            </a:r>
            <a:r>
              <a:rPr lang="es-ES" u="sng" dirty="0">
                <a:latin typeface="Century" panose="02040604050505020304" pitchFamily="18" charset="0"/>
              </a:rPr>
              <a:t>Cooperative </a:t>
            </a:r>
            <a:r>
              <a:rPr lang="es-ES" u="sng" dirty="0" err="1">
                <a:latin typeface="Century" panose="02040604050505020304" pitchFamily="18" charset="0"/>
              </a:rPr>
              <a:t>Groups</a:t>
            </a:r>
            <a:r>
              <a:rPr lang="es-ES" dirty="0">
                <a:latin typeface="Century" panose="02040604050505020304" pitchFamily="18" charset="0"/>
              </a:rPr>
              <a:t>.</a:t>
            </a:r>
            <a:endParaRPr lang="es-ES" dirty="0">
              <a:effectLst/>
              <a:latin typeface="Century" panose="02040604050505020304" pitchFamily="18" charset="0"/>
            </a:endParaRPr>
          </a:p>
        </p:txBody>
      </p:sp>
    </p:spTree>
    <p:extLst>
      <p:ext uri="{BB962C8B-B14F-4D97-AF65-F5344CB8AC3E}">
        <p14:creationId xmlns:p14="http://schemas.microsoft.com/office/powerpoint/2010/main" val="3661989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FB632-C291-A717-E88D-FC7B9DDC96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188717-EF8F-0ED9-D803-337FAC28D2F4}"/>
              </a:ext>
            </a:extLst>
          </p:cNvPr>
          <p:cNvSpPr>
            <a:spLocks noGrp="1"/>
          </p:cNvSpPr>
          <p:nvPr>
            <p:ph type="title"/>
          </p:nvPr>
        </p:nvSpPr>
        <p:spPr/>
        <p:txBody>
          <a:bodyPr/>
          <a:lstStyle/>
          <a:p>
            <a:r>
              <a:rPr lang="es-ES" dirty="0" err="1"/>
              <a:t>Other</a:t>
            </a:r>
            <a:r>
              <a:rPr lang="es-ES" dirty="0"/>
              <a:t> </a:t>
            </a:r>
            <a:r>
              <a:rPr lang="es-ES" dirty="0" err="1"/>
              <a:t>memories</a:t>
            </a:r>
            <a:endParaRPr lang="es-ES" dirty="0"/>
          </a:p>
        </p:txBody>
      </p:sp>
      <p:sp>
        <p:nvSpPr>
          <p:cNvPr id="3" name="Marcador de contenido 2">
            <a:extLst>
              <a:ext uri="{FF2B5EF4-FFF2-40B4-BE49-F238E27FC236}">
                <a16:creationId xmlns:a16="http://schemas.microsoft.com/office/drawing/2014/main" id="{4946F31D-8B1C-BE44-2156-F3967A0F21A3}"/>
              </a:ext>
            </a:extLst>
          </p:cNvPr>
          <p:cNvSpPr>
            <a:spLocks noGrp="1"/>
          </p:cNvSpPr>
          <p:nvPr>
            <p:ph idx="1"/>
          </p:nvPr>
        </p:nvSpPr>
        <p:spPr>
          <a:xfrm>
            <a:off x="457200" y="1417638"/>
            <a:ext cx="8229600" cy="4937442"/>
          </a:xfrm>
        </p:spPr>
        <p:txBody>
          <a:bodyPr>
            <a:normAutofit/>
          </a:bodyPr>
          <a:lstStyle/>
          <a:p>
            <a:r>
              <a:rPr lang="es-ES" b="0" i="0" dirty="0" err="1">
                <a:solidFill>
                  <a:srgbClr val="1A1A1A"/>
                </a:solidFill>
                <a:effectLst/>
                <a:latin typeface="Century" panose="02040604050505020304" pitchFamily="18" charset="0"/>
              </a:rPr>
              <a:t>Constant</a:t>
            </a:r>
            <a:r>
              <a:rPr lang="es-ES" b="0" i="0" dirty="0">
                <a:solidFill>
                  <a:srgbClr val="1A1A1A"/>
                </a:solidFill>
                <a:effectLst/>
                <a:latin typeface="Century" panose="02040604050505020304" pitchFamily="18" charset="0"/>
              </a:rPr>
              <a:t> </a:t>
            </a:r>
            <a:r>
              <a:rPr lang="es-ES" b="0" i="0" dirty="0" err="1">
                <a:solidFill>
                  <a:srgbClr val="1A1A1A"/>
                </a:solidFill>
                <a:effectLst/>
                <a:latin typeface="Century" panose="02040604050505020304" pitchFamily="18" charset="0"/>
              </a:rPr>
              <a:t>memory</a:t>
            </a:r>
            <a:r>
              <a:rPr lang="es-ES" b="0" i="0" dirty="0">
                <a:solidFill>
                  <a:srgbClr val="1A1A1A"/>
                </a:solidFill>
                <a:effectLst/>
                <a:latin typeface="Century" panose="02040604050505020304" pitchFamily="18" charset="0"/>
              </a:rPr>
              <a:t>:</a:t>
            </a:r>
          </a:p>
          <a:p>
            <a:pPr lvl="1"/>
            <a:r>
              <a:rPr lang="es-ES" dirty="0" err="1">
                <a:effectLst/>
                <a:latin typeface="Century" panose="02040604050505020304" pitchFamily="18" charset="0"/>
              </a:rPr>
              <a:t>The</a:t>
            </a:r>
            <a:r>
              <a:rPr lang="es-ES" dirty="0">
                <a:effectLst/>
                <a:latin typeface="Century" panose="02040604050505020304" pitchFamily="18" charset="0"/>
              </a:rPr>
              <a:t> </a:t>
            </a:r>
            <a:r>
              <a:rPr lang="es-ES" dirty="0" err="1">
                <a:effectLst/>
                <a:latin typeface="Century" panose="02040604050505020304" pitchFamily="18" charset="0"/>
              </a:rPr>
              <a:t>constant</a:t>
            </a:r>
            <a:r>
              <a:rPr lang="es-ES" dirty="0">
                <a:effectLst/>
                <a:latin typeface="Century" panose="02040604050505020304" pitchFamily="18" charset="0"/>
              </a:rPr>
              <a:t> </a:t>
            </a:r>
            <a:r>
              <a:rPr lang="es-ES" dirty="0" err="1">
                <a:effectLst/>
                <a:latin typeface="Century" panose="02040604050505020304" pitchFamily="18" charset="0"/>
              </a:rPr>
              <a:t>memory</a:t>
            </a:r>
            <a:r>
              <a:rPr lang="es-ES" dirty="0">
                <a:effectLst/>
                <a:latin typeface="Century" panose="02040604050505020304" pitchFamily="18" charset="0"/>
              </a:rPr>
              <a:t> </a:t>
            </a:r>
            <a:r>
              <a:rPr lang="es-ES" dirty="0" err="1">
                <a:effectLst/>
                <a:latin typeface="Century" panose="02040604050505020304" pitchFamily="18" charset="0"/>
              </a:rPr>
              <a:t>space</a:t>
            </a:r>
            <a:r>
              <a:rPr lang="es-ES" dirty="0">
                <a:effectLst/>
                <a:latin typeface="Century" panose="02040604050505020304" pitchFamily="18" charset="0"/>
              </a:rPr>
              <a:t> resides in </a:t>
            </a:r>
            <a:r>
              <a:rPr lang="es-ES" dirty="0" err="1">
                <a:effectLst/>
                <a:latin typeface="Century" panose="02040604050505020304" pitchFamily="18" charset="0"/>
              </a:rPr>
              <a:t>device</a:t>
            </a:r>
            <a:r>
              <a:rPr lang="es-ES" dirty="0">
                <a:effectLst/>
                <a:latin typeface="Century" panose="02040604050505020304" pitchFamily="18" charset="0"/>
              </a:rPr>
              <a:t> </a:t>
            </a:r>
            <a:r>
              <a:rPr lang="es-ES" dirty="0" err="1">
                <a:effectLst/>
                <a:latin typeface="Century" panose="02040604050505020304" pitchFamily="18" charset="0"/>
              </a:rPr>
              <a:t>memory</a:t>
            </a:r>
            <a:r>
              <a:rPr lang="es-ES" dirty="0">
                <a:effectLst/>
                <a:latin typeface="Century" panose="02040604050505020304" pitchFamily="18" charset="0"/>
              </a:rPr>
              <a:t> and </a:t>
            </a:r>
            <a:r>
              <a:rPr lang="es-ES" u="sng" dirty="0" err="1">
                <a:effectLst/>
                <a:latin typeface="Century" panose="02040604050505020304" pitchFamily="18" charset="0"/>
              </a:rPr>
              <a:t>is</a:t>
            </a:r>
            <a:r>
              <a:rPr lang="es-ES" u="sng" dirty="0">
                <a:effectLst/>
                <a:latin typeface="Century" panose="02040604050505020304" pitchFamily="18" charset="0"/>
              </a:rPr>
              <a:t> </a:t>
            </a:r>
            <a:r>
              <a:rPr lang="es-ES" u="sng" dirty="0" err="1">
                <a:effectLst/>
                <a:latin typeface="Century" panose="02040604050505020304" pitchFamily="18" charset="0"/>
              </a:rPr>
              <a:t>cached</a:t>
            </a:r>
            <a:r>
              <a:rPr lang="es-ES" u="sng" dirty="0">
                <a:effectLst/>
                <a:latin typeface="Century" panose="02040604050505020304" pitchFamily="18" charset="0"/>
              </a:rPr>
              <a:t> in </a:t>
            </a:r>
            <a:r>
              <a:rPr lang="es-ES" u="sng" dirty="0" err="1">
                <a:effectLst/>
                <a:latin typeface="Century" panose="02040604050505020304" pitchFamily="18" charset="0"/>
              </a:rPr>
              <a:t>the</a:t>
            </a:r>
            <a:r>
              <a:rPr lang="es-ES" u="sng" dirty="0">
                <a:effectLst/>
                <a:latin typeface="Century" panose="02040604050505020304" pitchFamily="18" charset="0"/>
              </a:rPr>
              <a:t> </a:t>
            </a:r>
            <a:r>
              <a:rPr lang="es-ES" u="sng" dirty="0" err="1">
                <a:effectLst/>
                <a:latin typeface="Century" panose="02040604050505020304" pitchFamily="18" charset="0"/>
              </a:rPr>
              <a:t>constant</a:t>
            </a:r>
            <a:r>
              <a:rPr lang="es-ES" u="sng" dirty="0">
                <a:effectLst/>
                <a:latin typeface="Century" panose="02040604050505020304" pitchFamily="18" charset="0"/>
              </a:rPr>
              <a:t> cache</a:t>
            </a:r>
            <a:r>
              <a:rPr lang="es-ES" dirty="0">
                <a:effectLst/>
                <a:latin typeface="Century" panose="02040604050505020304" pitchFamily="18" charset="0"/>
              </a:rPr>
              <a:t>.</a:t>
            </a:r>
          </a:p>
          <a:p>
            <a:pPr lvl="1"/>
            <a:r>
              <a:rPr lang="es-ES" dirty="0" err="1">
                <a:effectLst/>
                <a:latin typeface="Century" panose="02040604050505020304" pitchFamily="18" charset="0"/>
              </a:rPr>
              <a:t>Requests</a:t>
            </a:r>
            <a:r>
              <a:rPr lang="es-ES" dirty="0">
                <a:effectLst/>
                <a:latin typeface="Century" panose="02040604050505020304" pitchFamily="18" charset="0"/>
              </a:rPr>
              <a:t> are </a:t>
            </a:r>
            <a:r>
              <a:rPr lang="es-ES" dirty="0" err="1">
                <a:effectLst/>
                <a:latin typeface="Century" panose="02040604050505020304" pitchFamily="18" charset="0"/>
              </a:rPr>
              <a:t>serviced</a:t>
            </a:r>
            <a:r>
              <a:rPr lang="es-ES" dirty="0">
                <a:effectLst/>
                <a:latin typeface="Century" panose="02040604050505020304" pitchFamily="18" charset="0"/>
              </a:rPr>
              <a:t> at </a:t>
            </a:r>
            <a:r>
              <a:rPr lang="es-ES" dirty="0" err="1">
                <a:effectLst/>
                <a:latin typeface="Century" panose="02040604050505020304" pitchFamily="18" charset="0"/>
              </a:rPr>
              <a:t>the</a:t>
            </a:r>
            <a:r>
              <a:rPr lang="es-ES" dirty="0">
                <a:effectLst/>
                <a:latin typeface="Century" panose="02040604050505020304" pitchFamily="18" charset="0"/>
              </a:rPr>
              <a:t> </a:t>
            </a:r>
            <a:r>
              <a:rPr lang="es-ES" u="sng" dirty="0" err="1">
                <a:effectLst/>
                <a:latin typeface="Century" panose="02040604050505020304" pitchFamily="18" charset="0"/>
              </a:rPr>
              <a:t>throughput</a:t>
            </a:r>
            <a:r>
              <a:rPr lang="es-ES" u="sng" dirty="0">
                <a:effectLst/>
                <a:latin typeface="Century" panose="02040604050505020304" pitchFamily="18" charset="0"/>
              </a:rPr>
              <a:t> </a:t>
            </a:r>
            <a:r>
              <a:rPr lang="es-ES" u="sng" dirty="0" err="1">
                <a:effectLst/>
                <a:latin typeface="Century" panose="02040604050505020304" pitchFamily="18" charset="0"/>
              </a:rPr>
              <a:t>of</a:t>
            </a:r>
            <a:r>
              <a:rPr lang="es-ES" u="sng" dirty="0">
                <a:effectLst/>
                <a:latin typeface="Century" panose="02040604050505020304" pitchFamily="18" charset="0"/>
              </a:rPr>
              <a:t> </a:t>
            </a:r>
            <a:r>
              <a:rPr lang="es-ES" u="sng" dirty="0" err="1">
                <a:effectLst/>
                <a:latin typeface="Century" panose="02040604050505020304" pitchFamily="18" charset="0"/>
              </a:rPr>
              <a:t>the</a:t>
            </a:r>
            <a:r>
              <a:rPr lang="es-ES" u="sng" dirty="0">
                <a:effectLst/>
                <a:latin typeface="Century" panose="02040604050505020304" pitchFamily="18" charset="0"/>
              </a:rPr>
              <a:t> </a:t>
            </a:r>
            <a:r>
              <a:rPr lang="es-ES" u="sng" dirty="0" err="1">
                <a:effectLst/>
                <a:latin typeface="Century" panose="02040604050505020304" pitchFamily="18" charset="0"/>
              </a:rPr>
              <a:t>constant</a:t>
            </a:r>
            <a:r>
              <a:rPr lang="es-ES" u="sng" dirty="0">
                <a:effectLst/>
                <a:latin typeface="Century" panose="02040604050505020304" pitchFamily="18" charset="0"/>
              </a:rPr>
              <a:t> cache</a:t>
            </a:r>
            <a:r>
              <a:rPr lang="es-ES" dirty="0">
                <a:effectLst/>
                <a:latin typeface="Century" panose="02040604050505020304" pitchFamily="18" charset="0"/>
              </a:rPr>
              <a:t> in case </a:t>
            </a:r>
            <a:r>
              <a:rPr lang="es-ES" dirty="0" err="1">
                <a:effectLst/>
                <a:latin typeface="Century" panose="02040604050505020304" pitchFamily="18" charset="0"/>
              </a:rPr>
              <a:t>of</a:t>
            </a:r>
            <a:r>
              <a:rPr lang="es-ES" dirty="0">
                <a:effectLst/>
                <a:latin typeface="Century" panose="02040604050505020304" pitchFamily="18" charset="0"/>
              </a:rPr>
              <a:t> a cache hit.</a:t>
            </a:r>
          </a:p>
          <a:p>
            <a:r>
              <a:rPr lang="es-ES" dirty="0" err="1">
                <a:effectLst/>
                <a:latin typeface="Century" panose="02040604050505020304" pitchFamily="18" charset="0"/>
              </a:rPr>
              <a:t>Texture</a:t>
            </a:r>
            <a:r>
              <a:rPr lang="es-ES" dirty="0">
                <a:effectLst/>
                <a:latin typeface="Century" panose="02040604050505020304" pitchFamily="18" charset="0"/>
              </a:rPr>
              <a:t> and Surface </a:t>
            </a:r>
            <a:r>
              <a:rPr lang="es-ES" dirty="0" err="1">
                <a:effectLst/>
                <a:latin typeface="Century" panose="02040604050505020304" pitchFamily="18" charset="0"/>
              </a:rPr>
              <a:t>Memory</a:t>
            </a:r>
            <a:r>
              <a:rPr lang="es-ES" dirty="0">
                <a:latin typeface="Century" panose="02040604050505020304" pitchFamily="18" charset="0"/>
              </a:rPr>
              <a:t>:</a:t>
            </a:r>
          </a:p>
          <a:p>
            <a:pPr lvl="1"/>
            <a:r>
              <a:rPr lang="es-ES" dirty="0" err="1">
                <a:effectLst/>
                <a:latin typeface="Century" panose="02040604050505020304" pitchFamily="18" charset="0"/>
              </a:rPr>
              <a:t>Both</a:t>
            </a:r>
            <a:r>
              <a:rPr lang="es-ES" dirty="0">
                <a:effectLst/>
                <a:latin typeface="Century" panose="02040604050505020304" pitchFamily="18" charset="0"/>
              </a:rPr>
              <a:t> </a:t>
            </a:r>
            <a:r>
              <a:rPr lang="es-ES" dirty="0" err="1">
                <a:effectLst/>
                <a:latin typeface="Century" panose="02040604050505020304" pitchFamily="18" charset="0"/>
              </a:rPr>
              <a:t>memory</a:t>
            </a:r>
            <a:r>
              <a:rPr lang="es-ES" dirty="0">
                <a:effectLst/>
                <a:latin typeface="Century" panose="02040604050505020304" pitchFamily="18" charset="0"/>
              </a:rPr>
              <a:t> </a:t>
            </a:r>
            <a:r>
              <a:rPr lang="es-ES" dirty="0" err="1">
                <a:effectLst/>
                <a:latin typeface="Century" panose="02040604050505020304" pitchFamily="18" charset="0"/>
              </a:rPr>
              <a:t>spaces</a:t>
            </a:r>
            <a:r>
              <a:rPr lang="es-ES" dirty="0">
                <a:effectLst/>
                <a:latin typeface="Century" panose="02040604050505020304" pitchFamily="18" charset="0"/>
              </a:rPr>
              <a:t> reside in </a:t>
            </a:r>
            <a:r>
              <a:rPr lang="es-ES" dirty="0" err="1">
                <a:effectLst/>
                <a:latin typeface="Century" panose="02040604050505020304" pitchFamily="18" charset="0"/>
              </a:rPr>
              <a:t>device</a:t>
            </a:r>
            <a:r>
              <a:rPr lang="es-ES" dirty="0">
                <a:effectLst/>
                <a:latin typeface="Century" panose="02040604050505020304" pitchFamily="18" charset="0"/>
              </a:rPr>
              <a:t> </a:t>
            </a:r>
            <a:r>
              <a:rPr lang="es-ES" dirty="0" err="1">
                <a:effectLst/>
                <a:latin typeface="Century" panose="02040604050505020304" pitchFamily="18" charset="0"/>
              </a:rPr>
              <a:t>memory</a:t>
            </a:r>
            <a:r>
              <a:rPr lang="es-ES" dirty="0">
                <a:effectLst/>
                <a:latin typeface="Century" panose="02040604050505020304" pitchFamily="18" charset="0"/>
              </a:rPr>
              <a:t> and are </a:t>
            </a:r>
            <a:r>
              <a:rPr lang="es-ES" u="sng" dirty="0" err="1">
                <a:effectLst/>
                <a:latin typeface="Century" panose="02040604050505020304" pitchFamily="18" charset="0"/>
              </a:rPr>
              <a:t>cached</a:t>
            </a:r>
            <a:r>
              <a:rPr lang="es-ES" u="sng" dirty="0">
                <a:effectLst/>
                <a:latin typeface="Century" panose="02040604050505020304" pitchFamily="18" charset="0"/>
              </a:rPr>
              <a:t> in </a:t>
            </a:r>
            <a:r>
              <a:rPr lang="es-ES" u="sng" dirty="0" err="1">
                <a:effectLst/>
                <a:latin typeface="Century" panose="02040604050505020304" pitchFamily="18" charset="0"/>
              </a:rPr>
              <a:t>texture</a:t>
            </a:r>
            <a:r>
              <a:rPr lang="es-ES" u="sng" dirty="0">
                <a:effectLst/>
                <a:latin typeface="Century" panose="02040604050505020304" pitchFamily="18" charset="0"/>
              </a:rPr>
              <a:t> cache</a:t>
            </a:r>
            <a:r>
              <a:rPr lang="es-ES" dirty="0">
                <a:effectLst/>
                <a:latin typeface="Century" panose="02040604050505020304" pitchFamily="18" charset="0"/>
              </a:rPr>
              <a:t>, so a </a:t>
            </a:r>
            <a:r>
              <a:rPr lang="es-ES" dirty="0" err="1">
                <a:effectLst/>
                <a:latin typeface="Century" panose="02040604050505020304" pitchFamily="18" charset="0"/>
              </a:rPr>
              <a:t>texture</a:t>
            </a:r>
            <a:r>
              <a:rPr lang="es-ES" dirty="0">
                <a:effectLst/>
                <a:latin typeface="Century" panose="02040604050505020304" pitchFamily="18" charset="0"/>
              </a:rPr>
              <a:t> </a:t>
            </a:r>
            <a:r>
              <a:rPr lang="es-ES" dirty="0" err="1">
                <a:effectLst/>
                <a:latin typeface="Century" panose="02040604050505020304" pitchFamily="18" charset="0"/>
              </a:rPr>
              <a:t>fetch</a:t>
            </a:r>
            <a:r>
              <a:rPr lang="es-ES" dirty="0">
                <a:effectLst/>
                <a:latin typeface="Century" panose="02040604050505020304" pitchFamily="18" charset="0"/>
              </a:rPr>
              <a:t> </a:t>
            </a:r>
            <a:r>
              <a:rPr lang="es-ES" dirty="0" err="1">
                <a:effectLst/>
                <a:latin typeface="Century" panose="02040604050505020304" pitchFamily="18" charset="0"/>
              </a:rPr>
              <a:t>or</a:t>
            </a:r>
            <a:r>
              <a:rPr lang="es-ES" dirty="0">
                <a:effectLst/>
                <a:latin typeface="Century" panose="02040604050505020304" pitchFamily="18" charset="0"/>
              </a:rPr>
              <a:t> </a:t>
            </a:r>
            <a:r>
              <a:rPr lang="es-ES" dirty="0" err="1">
                <a:effectLst/>
                <a:latin typeface="Century" panose="02040604050505020304" pitchFamily="18" charset="0"/>
              </a:rPr>
              <a:t>surface</a:t>
            </a:r>
            <a:r>
              <a:rPr lang="es-ES" dirty="0">
                <a:effectLst/>
                <a:latin typeface="Century" panose="02040604050505020304" pitchFamily="18" charset="0"/>
              </a:rPr>
              <a:t> </a:t>
            </a:r>
            <a:r>
              <a:rPr lang="es-ES" dirty="0" err="1">
                <a:effectLst/>
                <a:latin typeface="Century" panose="02040604050505020304" pitchFamily="18" charset="0"/>
              </a:rPr>
              <a:t>read</a:t>
            </a:r>
            <a:r>
              <a:rPr lang="es-ES" dirty="0">
                <a:effectLst/>
                <a:latin typeface="Century" panose="02040604050505020304" pitchFamily="18" charset="0"/>
              </a:rPr>
              <a:t> </a:t>
            </a:r>
            <a:r>
              <a:rPr lang="es-ES" dirty="0" err="1">
                <a:effectLst/>
                <a:latin typeface="Century" panose="02040604050505020304" pitchFamily="18" charset="0"/>
              </a:rPr>
              <a:t>costs</a:t>
            </a:r>
            <a:r>
              <a:rPr lang="es-ES" dirty="0">
                <a:effectLst/>
                <a:latin typeface="Century" panose="02040604050505020304" pitchFamily="18" charset="0"/>
              </a:rPr>
              <a:t> </a:t>
            </a:r>
            <a:r>
              <a:rPr lang="es-ES" dirty="0" err="1">
                <a:effectLst/>
                <a:latin typeface="Century" panose="02040604050505020304" pitchFamily="18" charset="0"/>
              </a:rPr>
              <a:t>one</a:t>
            </a:r>
            <a:r>
              <a:rPr lang="es-ES" dirty="0">
                <a:effectLst/>
                <a:latin typeface="Century" panose="02040604050505020304" pitchFamily="18" charset="0"/>
              </a:rPr>
              <a:t> </a:t>
            </a:r>
            <a:r>
              <a:rPr lang="es-ES" dirty="0" err="1">
                <a:effectLst/>
                <a:latin typeface="Century" panose="02040604050505020304" pitchFamily="18" charset="0"/>
              </a:rPr>
              <a:t>memory</a:t>
            </a:r>
            <a:r>
              <a:rPr lang="es-ES" dirty="0">
                <a:effectLst/>
                <a:latin typeface="Century" panose="02040604050505020304" pitchFamily="18" charset="0"/>
              </a:rPr>
              <a:t> </a:t>
            </a:r>
            <a:r>
              <a:rPr lang="es-ES" dirty="0" err="1">
                <a:effectLst/>
                <a:latin typeface="Century" panose="02040604050505020304" pitchFamily="18" charset="0"/>
              </a:rPr>
              <a:t>read</a:t>
            </a:r>
            <a:r>
              <a:rPr lang="es-ES" dirty="0">
                <a:effectLst/>
                <a:latin typeface="Century" panose="02040604050505020304" pitchFamily="18" charset="0"/>
              </a:rPr>
              <a:t> </a:t>
            </a:r>
            <a:r>
              <a:rPr lang="es-ES" dirty="0" err="1">
                <a:effectLst/>
                <a:latin typeface="Century" panose="02040604050505020304" pitchFamily="18" charset="0"/>
              </a:rPr>
              <a:t>from</a:t>
            </a:r>
            <a:r>
              <a:rPr lang="es-ES" dirty="0">
                <a:effectLst/>
                <a:latin typeface="Century" panose="02040604050505020304" pitchFamily="18" charset="0"/>
              </a:rPr>
              <a:t> </a:t>
            </a:r>
            <a:r>
              <a:rPr lang="es-ES" dirty="0" err="1">
                <a:effectLst/>
                <a:latin typeface="Century" panose="02040604050505020304" pitchFamily="18" charset="0"/>
              </a:rPr>
              <a:t>device</a:t>
            </a:r>
            <a:r>
              <a:rPr lang="es-ES" dirty="0">
                <a:effectLst/>
                <a:latin typeface="Century" panose="02040604050505020304" pitchFamily="18" charset="0"/>
              </a:rPr>
              <a:t> </a:t>
            </a:r>
            <a:r>
              <a:rPr lang="es-ES" dirty="0" err="1">
                <a:effectLst/>
                <a:latin typeface="Century" panose="02040604050505020304" pitchFamily="18" charset="0"/>
              </a:rPr>
              <a:t>memory</a:t>
            </a:r>
            <a:r>
              <a:rPr lang="es-ES" dirty="0">
                <a:effectLst/>
                <a:latin typeface="Century" panose="02040604050505020304" pitchFamily="18" charset="0"/>
              </a:rPr>
              <a:t> </a:t>
            </a:r>
            <a:r>
              <a:rPr lang="es-ES" dirty="0" err="1">
                <a:effectLst/>
                <a:latin typeface="Century" panose="02040604050505020304" pitchFamily="18" charset="0"/>
              </a:rPr>
              <a:t>only</a:t>
            </a:r>
            <a:r>
              <a:rPr lang="es-ES" dirty="0">
                <a:effectLst/>
                <a:latin typeface="Century" panose="02040604050505020304" pitchFamily="18" charset="0"/>
              </a:rPr>
              <a:t> </a:t>
            </a:r>
            <a:r>
              <a:rPr lang="es-ES" dirty="0" err="1">
                <a:effectLst/>
                <a:latin typeface="Century" panose="02040604050505020304" pitchFamily="18" charset="0"/>
              </a:rPr>
              <a:t>on</a:t>
            </a:r>
            <a:r>
              <a:rPr lang="es-ES" dirty="0">
                <a:effectLst/>
                <a:latin typeface="Century" panose="02040604050505020304" pitchFamily="18" charset="0"/>
              </a:rPr>
              <a:t> a cache miss, </a:t>
            </a:r>
            <a:r>
              <a:rPr lang="es-ES" dirty="0" err="1">
                <a:effectLst/>
                <a:latin typeface="Century" panose="02040604050505020304" pitchFamily="18" charset="0"/>
              </a:rPr>
              <a:t>otherwise</a:t>
            </a:r>
            <a:r>
              <a:rPr lang="es-ES" dirty="0">
                <a:effectLst/>
                <a:latin typeface="Century" panose="02040604050505020304" pitchFamily="18" charset="0"/>
              </a:rPr>
              <a:t> </a:t>
            </a:r>
            <a:r>
              <a:rPr lang="es-ES" dirty="0" err="1">
                <a:effectLst/>
                <a:latin typeface="Century" panose="02040604050505020304" pitchFamily="18" charset="0"/>
              </a:rPr>
              <a:t>it</a:t>
            </a:r>
            <a:r>
              <a:rPr lang="es-ES" dirty="0">
                <a:effectLst/>
                <a:latin typeface="Century" panose="02040604050505020304" pitchFamily="18" charset="0"/>
              </a:rPr>
              <a:t> </a:t>
            </a:r>
            <a:r>
              <a:rPr lang="es-ES" dirty="0" err="1">
                <a:effectLst/>
                <a:latin typeface="Century" panose="02040604050505020304" pitchFamily="18" charset="0"/>
              </a:rPr>
              <a:t>just</a:t>
            </a:r>
            <a:r>
              <a:rPr lang="es-ES" dirty="0">
                <a:effectLst/>
                <a:latin typeface="Century" panose="02040604050505020304" pitchFamily="18" charset="0"/>
              </a:rPr>
              <a:t> </a:t>
            </a:r>
            <a:r>
              <a:rPr lang="es-ES" dirty="0" err="1">
                <a:effectLst/>
                <a:latin typeface="Century" panose="02040604050505020304" pitchFamily="18" charset="0"/>
              </a:rPr>
              <a:t>costs</a:t>
            </a:r>
            <a:r>
              <a:rPr lang="es-ES" dirty="0">
                <a:effectLst/>
                <a:latin typeface="Century" panose="02040604050505020304" pitchFamily="18" charset="0"/>
              </a:rPr>
              <a:t> </a:t>
            </a:r>
            <a:r>
              <a:rPr lang="es-ES" dirty="0" err="1">
                <a:effectLst/>
                <a:latin typeface="Century" panose="02040604050505020304" pitchFamily="18" charset="0"/>
              </a:rPr>
              <a:t>one</a:t>
            </a:r>
            <a:r>
              <a:rPr lang="es-ES" dirty="0">
                <a:effectLst/>
                <a:latin typeface="Century" panose="02040604050505020304" pitchFamily="18" charset="0"/>
              </a:rPr>
              <a:t> </a:t>
            </a:r>
            <a:r>
              <a:rPr lang="es-ES" dirty="0" err="1">
                <a:effectLst/>
                <a:latin typeface="Century" panose="02040604050505020304" pitchFamily="18" charset="0"/>
              </a:rPr>
              <a:t>read</a:t>
            </a:r>
            <a:r>
              <a:rPr lang="es-ES" dirty="0">
                <a:effectLst/>
                <a:latin typeface="Century" panose="02040604050505020304" pitchFamily="18" charset="0"/>
              </a:rPr>
              <a:t> </a:t>
            </a:r>
            <a:r>
              <a:rPr lang="es-ES" dirty="0" err="1">
                <a:effectLst/>
                <a:latin typeface="Century" panose="02040604050505020304" pitchFamily="18" charset="0"/>
              </a:rPr>
              <a:t>from</a:t>
            </a:r>
            <a:r>
              <a:rPr lang="es-ES" dirty="0">
                <a:effectLst/>
                <a:latin typeface="Century" panose="02040604050505020304" pitchFamily="18" charset="0"/>
              </a:rPr>
              <a:t> </a:t>
            </a:r>
            <a:r>
              <a:rPr lang="es-ES" dirty="0" err="1">
                <a:effectLst/>
                <a:latin typeface="Century" panose="02040604050505020304" pitchFamily="18" charset="0"/>
              </a:rPr>
              <a:t>texture</a:t>
            </a:r>
            <a:r>
              <a:rPr lang="es-ES" dirty="0">
                <a:effectLst/>
                <a:latin typeface="Century" panose="02040604050505020304" pitchFamily="18" charset="0"/>
              </a:rPr>
              <a:t> cache.</a:t>
            </a:r>
          </a:p>
          <a:p>
            <a:pPr lvl="1"/>
            <a:r>
              <a:rPr lang="es-ES" dirty="0" err="1">
                <a:effectLst/>
                <a:latin typeface="Century" panose="02040604050505020304" pitchFamily="18" charset="0"/>
              </a:rPr>
              <a:t>Texture</a:t>
            </a:r>
            <a:r>
              <a:rPr lang="es-ES" dirty="0">
                <a:effectLst/>
                <a:latin typeface="Century" panose="02040604050505020304" pitchFamily="18" charset="0"/>
              </a:rPr>
              <a:t> cache </a:t>
            </a:r>
            <a:r>
              <a:rPr lang="es-ES" dirty="0" err="1">
                <a:effectLst/>
                <a:latin typeface="Century" panose="02040604050505020304" pitchFamily="18" charset="0"/>
              </a:rPr>
              <a:t>is</a:t>
            </a:r>
            <a:r>
              <a:rPr lang="es-ES" dirty="0">
                <a:effectLst/>
                <a:latin typeface="Century" panose="02040604050505020304" pitchFamily="18" charset="0"/>
              </a:rPr>
              <a:t> </a:t>
            </a:r>
            <a:r>
              <a:rPr lang="es-ES" u="sng" dirty="0" err="1">
                <a:effectLst/>
                <a:latin typeface="Century" panose="02040604050505020304" pitchFamily="18" charset="0"/>
              </a:rPr>
              <a:t>optimized</a:t>
            </a:r>
            <a:r>
              <a:rPr lang="es-ES" u="sng" dirty="0">
                <a:effectLst/>
                <a:latin typeface="Century" panose="02040604050505020304" pitchFamily="18" charset="0"/>
              </a:rPr>
              <a:t> </a:t>
            </a:r>
            <a:r>
              <a:rPr lang="es-ES" u="sng" dirty="0" err="1">
                <a:effectLst/>
                <a:latin typeface="Century" panose="02040604050505020304" pitchFamily="18" charset="0"/>
              </a:rPr>
              <a:t>for</a:t>
            </a:r>
            <a:r>
              <a:rPr lang="es-ES" u="sng" dirty="0">
                <a:effectLst/>
                <a:latin typeface="Century" panose="02040604050505020304" pitchFamily="18" charset="0"/>
              </a:rPr>
              <a:t> 2D </a:t>
            </a:r>
            <a:r>
              <a:rPr lang="es-ES" u="sng" dirty="0" err="1">
                <a:effectLst/>
                <a:latin typeface="Century" panose="02040604050505020304" pitchFamily="18" charset="0"/>
              </a:rPr>
              <a:t>spatial</a:t>
            </a:r>
            <a:r>
              <a:rPr lang="es-ES" u="sng" dirty="0">
                <a:effectLst/>
                <a:latin typeface="Century" panose="02040604050505020304" pitchFamily="18" charset="0"/>
              </a:rPr>
              <a:t> </a:t>
            </a:r>
            <a:r>
              <a:rPr lang="es-ES" u="sng" dirty="0" err="1">
                <a:effectLst/>
                <a:latin typeface="Century" panose="02040604050505020304" pitchFamily="18" charset="0"/>
              </a:rPr>
              <a:t>locality</a:t>
            </a:r>
            <a:r>
              <a:rPr lang="es-ES" dirty="0">
                <a:effectLst/>
                <a:latin typeface="Century" panose="02040604050505020304" pitchFamily="18" charset="0"/>
              </a:rPr>
              <a:t>, so </a:t>
            </a:r>
            <a:r>
              <a:rPr lang="es-ES" dirty="0" err="1">
                <a:effectLst/>
                <a:latin typeface="Century" panose="02040604050505020304" pitchFamily="18" charset="0"/>
              </a:rPr>
              <a:t>threads</a:t>
            </a:r>
            <a:r>
              <a:rPr lang="es-ES" dirty="0">
                <a:effectLst/>
                <a:latin typeface="Century" panose="02040604050505020304" pitchFamily="18" charset="0"/>
              </a:rPr>
              <a:t> </a:t>
            </a:r>
            <a:r>
              <a:rPr lang="es-ES" dirty="0" err="1">
                <a:effectLst/>
                <a:latin typeface="Century" panose="02040604050505020304" pitchFamily="18" charset="0"/>
              </a:rPr>
              <a:t>of</a:t>
            </a:r>
            <a:r>
              <a:rPr lang="es-ES" dirty="0">
                <a:effectLst/>
                <a:latin typeface="Century" panose="02040604050505020304" pitchFamily="18" charset="0"/>
              </a:rPr>
              <a:t> </a:t>
            </a:r>
            <a:r>
              <a:rPr lang="es-ES" dirty="0" err="1">
                <a:effectLst/>
                <a:latin typeface="Century" panose="02040604050505020304" pitchFamily="18" charset="0"/>
              </a:rPr>
              <a:t>the</a:t>
            </a:r>
            <a:r>
              <a:rPr lang="es-ES" dirty="0">
                <a:effectLst/>
                <a:latin typeface="Century" panose="02040604050505020304" pitchFamily="18" charset="0"/>
              </a:rPr>
              <a:t> </a:t>
            </a:r>
            <a:r>
              <a:rPr lang="es-ES" dirty="0" err="1">
                <a:effectLst/>
                <a:latin typeface="Century" panose="02040604050505020304" pitchFamily="18" charset="0"/>
              </a:rPr>
              <a:t>same</a:t>
            </a:r>
            <a:r>
              <a:rPr lang="es-ES" dirty="0">
                <a:effectLst/>
                <a:latin typeface="Century" panose="02040604050505020304" pitchFamily="18" charset="0"/>
              </a:rPr>
              <a:t> </a:t>
            </a:r>
            <a:r>
              <a:rPr lang="es-ES" dirty="0" err="1">
                <a:effectLst/>
                <a:latin typeface="Century" panose="02040604050505020304" pitchFamily="18" charset="0"/>
              </a:rPr>
              <a:t>warp</a:t>
            </a:r>
            <a:r>
              <a:rPr lang="es-ES" dirty="0">
                <a:effectLst/>
                <a:latin typeface="Century" panose="02040604050505020304" pitchFamily="18" charset="0"/>
              </a:rPr>
              <a:t> </a:t>
            </a:r>
            <a:r>
              <a:rPr lang="es-ES" dirty="0" err="1">
                <a:effectLst/>
                <a:latin typeface="Century" panose="02040604050505020304" pitchFamily="18" charset="0"/>
              </a:rPr>
              <a:t>that</a:t>
            </a:r>
            <a:r>
              <a:rPr lang="es-ES" dirty="0">
                <a:effectLst/>
                <a:latin typeface="Century" panose="02040604050505020304" pitchFamily="18" charset="0"/>
              </a:rPr>
              <a:t> </a:t>
            </a:r>
            <a:r>
              <a:rPr lang="es-ES" dirty="0" err="1">
                <a:effectLst/>
                <a:latin typeface="Century" panose="02040604050505020304" pitchFamily="18" charset="0"/>
              </a:rPr>
              <a:t>read</a:t>
            </a:r>
            <a:r>
              <a:rPr lang="es-ES" dirty="0">
                <a:effectLst/>
                <a:latin typeface="Century" panose="02040604050505020304" pitchFamily="18" charset="0"/>
              </a:rPr>
              <a:t> </a:t>
            </a:r>
            <a:r>
              <a:rPr lang="es-ES" dirty="0" err="1">
                <a:effectLst/>
                <a:latin typeface="Century" panose="02040604050505020304" pitchFamily="18" charset="0"/>
              </a:rPr>
              <a:t>texture</a:t>
            </a:r>
            <a:r>
              <a:rPr lang="es-ES" dirty="0">
                <a:effectLst/>
                <a:latin typeface="Century" panose="02040604050505020304" pitchFamily="18" charset="0"/>
              </a:rPr>
              <a:t> </a:t>
            </a:r>
            <a:r>
              <a:rPr lang="es-ES" dirty="0" err="1">
                <a:effectLst/>
                <a:latin typeface="Century" panose="02040604050505020304" pitchFamily="18" charset="0"/>
              </a:rPr>
              <a:t>or</a:t>
            </a:r>
            <a:r>
              <a:rPr lang="es-ES" dirty="0">
                <a:effectLst/>
                <a:latin typeface="Century" panose="02040604050505020304" pitchFamily="18" charset="0"/>
              </a:rPr>
              <a:t> </a:t>
            </a:r>
            <a:r>
              <a:rPr lang="es-ES" dirty="0" err="1">
                <a:effectLst/>
                <a:latin typeface="Century" panose="02040604050505020304" pitchFamily="18" charset="0"/>
              </a:rPr>
              <a:t>surface</a:t>
            </a:r>
            <a:r>
              <a:rPr lang="es-ES" dirty="0">
                <a:effectLst/>
                <a:latin typeface="Century" panose="02040604050505020304" pitchFamily="18" charset="0"/>
              </a:rPr>
              <a:t> </a:t>
            </a:r>
            <a:r>
              <a:rPr lang="es-ES" dirty="0" err="1">
                <a:effectLst/>
                <a:latin typeface="Century" panose="02040604050505020304" pitchFamily="18" charset="0"/>
              </a:rPr>
              <a:t>addresses</a:t>
            </a:r>
            <a:r>
              <a:rPr lang="es-ES" dirty="0">
                <a:effectLst/>
                <a:latin typeface="Century" panose="02040604050505020304" pitchFamily="18" charset="0"/>
              </a:rPr>
              <a:t> </a:t>
            </a:r>
            <a:r>
              <a:rPr lang="es-ES" dirty="0" err="1">
                <a:effectLst/>
                <a:latin typeface="Century" panose="02040604050505020304" pitchFamily="18" charset="0"/>
              </a:rPr>
              <a:t>that</a:t>
            </a:r>
            <a:r>
              <a:rPr lang="es-ES" dirty="0">
                <a:effectLst/>
                <a:latin typeface="Century" panose="02040604050505020304" pitchFamily="18" charset="0"/>
              </a:rPr>
              <a:t> are </a:t>
            </a:r>
            <a:r>
              <a:rPr lang="es-ES" dirty="0" err="1">
                <a:effectLst/>
                <a:latin typeface="Century" panose="02040604050505020304" pitchFamily="18" charset="0"/>
              </a:rPr>
              <a:t>close</a:t>
            </a:r>
            <a:r>
              <a:rPr lang="es-ES" dirty="0">
                <a:effectLst/>
                <a:latin typeface="Century" panose="02040604050505020304" pitchFamily="18" charset="0"/>
              </a:rPr>
              <a:t> </a:t>
            </a:r>
            <a:r>
              <a:rPr lang="es-ES" dirty="0" err="1">
                <a:effectLst/>
                <a:latin typeface="Century" panose="02040604050505020304" pitchFamily="18" charset="0"/>
              </a:rPr>
              <a:t>together</a:t>
            </a:r>
            <a:r>
              <a:rPr lang="es-ES" dirty="0">
                <a:effectLst/>
                <a:latin typeface="Century" panose="02040604050505020304" pitchFamily="18" charset="0"/>
              </a:rPr>
              <a:t> in 2D </a:t>
            </a:r>
            <a:r>
              <a:rPr lang="es-ES" dirty="0" err="1">
                <a:effectLst/>
                <a:latin typeface="Century" panose="02040604050505020304" pitchFamily="18" charset="0"/>
              </a:rPr>
              <a:t>will</a:t>
            </a:r>
            <a:r>
              <a:rPr lang="es-ES" dirty="0">
                <a:effectLst/>
                <a:latin typeface="Century" panose="02040604050505020304" pitchFamily="18" charset="0"/>
              </a:rPr>
              <a:t> </a:t>
            </a:r>
            <a:r>
              <a:rPr lang="es-ES" dirty="0" err="1">
                <a:effectLst/>
                <a:latin typeface="Century" panose="02040604050505020304" pitchFamily="18" charset="0"/>
              </a:rPr>
              <a:t>achieve</a:t>
            </a:r>
            <a:r>
              <a:rPr lang="es-ES" dirty="0">
                <a:effectLst/>
                <a:latin typeface="Century" panose="02040604050505020304" pitchFamily="18" charset="0"/>
              </a:rPr>
              <a:t> </a:t>
            </a:r>
            <a:r>
              <a:rPr lang="es-ES" dirty="0" err="1">
                <a:effectLst/>
                <a:latin typeface="Century" panose="02040604050505020304" pitchFamily="18" charset="0"/>
              </a:rPr>
              <a:t>best</a:t>
            </a:r>
            <a:r>
              <a:rPr lang="es-ES" dirty="0">
                <a:effectLst/>
                <a:latin typeface="Century" panose="02040604050505020304" pitchFamily="18" charset="0"/>
              </a:rPr>
              <a:t> performance. </a:t>
            </a:r>
          </a:p>
          <a:p>
            <a:pPr lvl="1"/>
            <a:r>
              <a:rPr lang="es-ES" dirty="0">
                <a:effectLst/>
                <a:latin typeface="Century" panose="02040604050505020304" pitchFamily="18" charset="0"/>
              </a:rPr>
              <a:t>Reading </a:t>
            </a:r>
            <a:r>
              <a:rPr lang="es-ES" dirty="0" err="1">
                <a:effectLst/>
                <a:latin typeface="Century" panose="02040604050505020304" pitchFamily="18" charset="0"/>
              </a:rPr>
              <a:t>device</a:t>
            </a:r>
            <a:r>
              <a:rPr lang="es-ES" dirty="0">
                <a:effectLst/>
                <a:latin typeface="Century" panose="02040604050505020304" pitchFamily="18" charset="0"/>
              </a:rPr>
              <a:t> </a:t>
            </a:r>
            <a:r>
              <a:rPr lang="es-ES" dirty="0" err="1">
                <a:effectLst/>
                <a:latin typeface="Century" panose="02040604050505020304" pitchFamily="18" charset="0"/>
              </a:rPr>
              <a:t>memory</a:t>
            </a:r>
            <a:r>
              <a:rPr lang="es-ES" dirty="0">
                <a:effectLst/>
                <a:latin typeface="Century" panose="02040604050505020304" pitchFamily="18" charset="0"/>
              </a:rPr>
              <a:t> </a:t>
            </a:r>
            <a:r>
              <a:rPr lang="es-ES" dirty="0" err="1">
                <a:effectLst/>
                <a:latin typeface="Century" panose="02040604050505020304" pitchFamily="18" charset="0"/>
              </a:rPr>
              <a:t>through</a:t>
            </a:r>
            <a:r>
              <a:rPr lang="es-ES" dirty="0">
                <a:effectLst/>
                <a:latin typeface="Century" panose="02040604050505020304" pitchFamily="18" charset="0"/>
              </a:rPr>
              <a:t> </a:t>
            </a:r>
            <a:r>
              <a:rPr lang="es-ES" dirty="0" err="1">
                <a:effectLst/>
                <a:latin typeface="Century" panose="02040604050505020304" pitchFamily="18" charset="0"/>
              </a:rPr>
              <a:t>texture</a:t>
            </a:r>
            <a:r>
              <a:rPr lang="es-ES" dirty="0">
                <a:effectLst/>
                <a:latin typeface="Century" panose="02040604050505020304" pitchFamily="18" charset="0"/>
              </a:rPr>
              <a:t> </a:t>
            </a:r>
            <a:r>
              <a:rPr lang="es-ES" dirty="0" err="1">
                <a:effectLst/>
                <a:latin typeface="Century" panose="02040604050505020304" pitchFamily="18" charset="0"/>
              </a:rPr>
              <a:t>or</a:t>
            </a:r>
            <a:r>
              <a:rPr lang="es-ES" dirty="0">
                <a:effectLst/>
                <a:latin typeface="Century" panose="02040604050505020304" pitchFamily="18" charset="0"/>
              </a:rPr>
              <a:t> </a:t>
            </a:r>
            <a:r>
              <a:rPr lang="es-ES" dirty="0" err="1">
                <a:effectLst/>
                <a:latin typeface="Century" panose="02040604050505020304" pitchFamily="18" charset="0"/>
              </a:rPr>
              <a:t>surface</a:t>
            </a:r>
            <a:r>
              <a:rPr lang="es-ES" dirty="0">
                <a:effectLst/>
                <a:latin typeface="Century" panose="02040604050505020304" pitchFamily="18" charset="0"/>
              </a:rPr>
              <a:t> </a:t>
            </a:r>
            <a:r>
              <a:rPr lang="es-ES" dirty="0" err="1">
                <a:effectLst/>
                <a:latin typeface="Century" panose="02040604050505020304" pitchFamily="18" charset="0"/>
              </a:rPr>
              <a:t>fetching</a:t>
            </a:r>
            <a:r>
              <a:rPr lang="es-ES" dirty="0">
                <a:effectLst/>
                <a:latin typeface="Century" panose="02040604050505020304" pitchFamily="18" charset="0"/>
              </a:rPr>
              <a:t> </a:t>
            </a:r>
            <a:r>
              <a:rPr lang="es-ES" dirty="0" err="1">
                <a:effectLst/>
                <a:latin typeface="Century" panose="02040604050505020304" pitchFamily="18" charset="0"/>
              </a:rPr>
              <a:t>present</a:t>
            </a:r>
            <a:r>
              <a:rPr lang="es-ES" dirty="0">
                <a:effectLst/>
                <a:latin typeface="Century" panose="02040604050505020304" pitchFamily="18" charset="0"/>
              </a:rPr>
              <a:t> </a:t>
            </a:r>
            <a:r>
              <a:rPr lang="es-ES" u="sng" dirty="0" err="1">
                <a:effectLst/>
                <a:latin typeface="Century" panose="02040604050505020304" pitchFamily="18" charset="0"/>
              </a:rPr>
              <a:t>some</a:t>
            </a:r>
            <a:r>
              <a:rPr lang="es-ES" u="sng" dirty="0">
                <a:effectLst/>
                <a:latin typeface="Century" panose="02040604050505020304" pitchFamily="18" charset="0"/>
              </a:rPr>
              <a:t> </a:t>
            </a:r>
            <a:r>
              <a:rPr lang="es-ES" u="sng" dirty="0" err="1">
                <a:effectLst/>
                <a:latin typeface="Century" panose="02040604050505020304" pitchFamily="18" charset="0"/>
              </a:rPr>
              <a:t>benefits</a:t>
            </a:r>
            <a:r>
              <a:rPr lang="es-ES" dirty="0">
                <a:effectLst/>
                <a:latin typeface="Century" panose="02040604050505020304" pitchFamily="18" charset="0"/>
              </a:rPr>
              <a:t>.</a:t>
            </a:r>
          </a:p>
        </p:txBody>
      </p:sp>
    </p:spTree>
    <p:extLst>
      <p:ext uri="{BB962C8B-B14F-4D97-AF65-F5344CB8AC3E}">
        <p14:creationId xmlns:p14="http://schemas.microsoft.com/office/powerpoint/2010/main" val="143767216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Negro .thmx</Template>
  <TotalTime>3731</TotalTime>
  <Words>3252</Words>
  <Application>Microsoft Macintosh PowerPoint</Application>
  <PresentationFormat>Presentación en pantalla (4:3)</PresentationFormat>
  <Paragraphs>371</Paragraphs>
  <Slides>44</Slides>
  <Notes>7</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44</vt:i4>
      </vt:variant>
    </vt:vector>
  </HeadingPairs>
  <TitlesOfParts>
    <vt:vector size="51" baseType="lpstr">
      <vt:lpstr>Arial</vt:lpstr>
      <vt:lpstr>Calibri</vt:lpstr>
      <vt:lpstr>Century</vt:lpstr>
      <vt:lpstr>Courier New</vt:lpstr>
      <vt:lpstr>NVIDIA</vt:lpstr>
      <vt:lpstr>Tema de Office</vt:lpstr>
      <vt:lpstr>Ecuación</vt:lpstr>
      <vt:lpstr>CUDA: Modelo de Hardware</vt:lpstr>
      <vt:lpstr>Hardware implementation: Architecture</vt:lpstr>
      <vt:lpstr>Hardware implementation: Architecture</vt:lpstr>
      <vt:lpstr>SIMT</vt:lpstr>
      <vt:lpstr>SIMT</vt:lpstr>
      <vt:lpstr>SIMT</vt:lpstr>
      <vt:lpstr>Thread Multithreading</vt:lpstr>
      <vt:lpstr>A Streaming Multiprocessor</vt:lpstr>
      <vt:lpstr>Thread Multithreading</vt:lpstr>
      <vt:lpstr>Chip G90 of the GeForce 8800 GTX</vt:lpstr>
      <vt:lpstr>deviceQuery</vt:lpstr>
      <vt:lpstr>Fermi Architecture (GF100)</vt:lpstr>
      <vt:lpstr>Fermi Architecture</vt:lpstr>
      <vt:lpstr>Fermi SM</vt:lpstr>
      <vt:lpstr>Fermi SM</vt:lpstr>
      <vt:lpstr>Fermi SM</vt:lpstr>
      <vt:lpstr>Concurrent kernel execution</vt:lpstr>
      <vt:lpstr>Kepler GK110</vt:lpstr>
      <vt:lpstr>Presentación de PowerPoint</vt:lpstr>
      <vt:lpstr>Streaming Multiprocessor (SMX) </vt:lpstr>
      <vt:lpstr>Presentación de PowerPoint</vt:lpstr>
      <vt:lpstr>Fermi-Kepler comparison</vt:lpstr>
      <vt:lpstr>Maxwell GM10x and GM20x</vt:lpstr>
      <vt:lpstr>Pascal GP100 SM</vt:lpstr>
      <vt:lpstr>Pascal GP100 GPU</vt:lpstr>
      <vt:lpstr>Pascal GP100</vt:lpstr>
      <vt:lpstr>Volta V100</vt:lpstr>
      <vt:lpstr>Turing TU102</vt:lpstr>
      <vt:lpstr>Ampere GA100</vt:lpstr>
      <vt:lpstr>GPUs actuales</vt:lpstr>
      <vt:lpstr>Listado de GPUs y arquitecturas</vt:lpstr>
      <vt:lpstr>Memory Hierarchy</vt:lpstr>
      <vt:lpstr>Memory Hierarchy</vt:lpstr>
      <vt:lpstr>Memory Spaces</vt:lpstr>
      <vt:lpstr>Device memory</vt:lpstr>
      <vt:lpstr>Device memory</vt:lpstr>
      <vt:lpstr>Shared Memory</vt:lpstr>
      <vt:lpstr>Example: c = A * v</vt:lpstr>
      <vt:lpstr>Example: c = A * v</vt:lpstr>
      <vt:lpstr>Example: c = A * v</vt:lpstr>
      <vt:lpstr>Registers</vt:lpstr>
      <vt:lpstr>Local memory</vt:lpstr>
      <vt:lpstr>Distributed Shared Memory</vt:lpstr>
      <vt:lpstr>Other memories</vt:lpstr>
    </vt:vector>
  </TitlesOfParts>
  <Company>DSIC-UPV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CUDA Programming Model</dc:title>
  <dc:creator>Pedro Alonso Jordá</dc:creator>
  <cp:lastModifiedBy>Adrian Castello Gimeno</cp:lastModifiedBy>
  <cp:revision>252</cp:revision>
  <cp:lastPrinted>2020-01-10T11:48:26Z</cp:lastPrinted>
  <dcterms:created xsi:type="dcterms:W3CDTF">2012-02-15T10:04:18Z</dcterms:created>
  <dcterms:modified xsi:type="dcterms:W3CDTF">2025-12-02T10:51:03Z</dcterms:modified>
</cp:coreProperties>
</file>
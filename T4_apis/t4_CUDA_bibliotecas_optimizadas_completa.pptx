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74" r:id="rId5"/>
    <p:sldId id="275" r:id="rId6"/>
    <p:sldId id="262" r:id="rId7"/>
    <p:sldId id="265" r:id="rId8"/>
    <p:sldId id="266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4" r:id="rId17"/>
    <p:sldId id="259" r:id="rId18"/>
    <p:sldId id="264" r:id="rId19"/>
    <p:sldId id="260" r:id="rId20"/>
    <p:sldId id="261" r:id="rId21"/>
    <p:sldId id="283" r:id="rId22"/>
    <p:sldId id="263" r:id="rId23"/>
    <p:sldId id="285" r:id="rId24"/>
    <p:sldId id="286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01CC12-0239-49CE-B22B-9DFC32E53AF9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03D6E59-CA08-4C7A-8E84-FD9BF7BDD488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Optimización avanzada para hardware GPU</a:t>
          </a:r>
          <a:endParaRPr lang="en-US"/>
        </a:p>
      </dgm:t>
    </dgm:pt>
    <dgm:pt modelId="{4B2F3138-891D-45D4-8AAB-F09397FA1E87}" type="parTrans" cxnId="{2FA9B001-526D-4874-985E-A37961F5902F}">
      <dgm:prSet/>
      <dgm:spPr/>
      <dgm:t>
        <a:bodyPr/>
        <a:lstStyle/>
        <a:p>
          <a:endParaRPr lang="en-US"/>
        </a:p>
      </dgm:t>
    </dgm:pt>
    <dgm:pt modelId="{C5062B45-07E0-4D6A-AC5E-30B66D84F5A2}" type="sibTrans" cxnId="{2FA9B001-526D-4874-985E-A37961F5902F}">
      <dgm:prSet/>
      <dgm:spPr/>
      <dgm:t>
        <a:bodyPr/>
        <a:lstStyle/>
        <a:p>
          <a:endParaRPr lang="en-US"/>
        </a:p>
      </dgm:t>
    </dgm:pt>
    <dgm:pt modelId="{8B16D1DD-AF1C-4FD5-9925-4F52A6579771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Reducción significativa del tiempo de ejecución</a:t>
          </a:r>
          <a:endParaRPr lang="en-US"/>
        </a:p>
      </dgm:t>
    </dgm:pt>
    <dgm:pt modelId="{6237D7A0-ABD2-40CA-9AE5-06E0C13C186D}" type="parTrans" cxnId="{DB4F1439-095D-4996-988E-8ECDA09C9303}">
      <dgm:prSet/>
      <dgm:spPr/>
      <dgm:t>
        <a:bodyPr/>
        <a:lstStyle/>
        <a:p>
          <a:endParaRPr lang="en-US"/>
        </a:p>
      </dgm:t>
    </dgm:pt>
    <dgm:pt modelId="{205098D0-0348-4D2E-A33F-E31F61C9C9BA}" type="sibTrans" cxnId="{DB4F1439-095D-4996-988E-8ECDA09C9303}">
      <dgm:prSet/>
      <dgm:spPr/>
      <dgm:t>
        <a:bodyPr/>
        <a:lstStyle/>
        <a:p>
          <a:endParaRPr lang="en-US"/>
        </a:p>
      </dgm:t>
    </dgm:pt>
    <dgm:pt modelId="{4393FC67-7A5A-45E5-9FDF-DFBD6F31F3BF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Facilidad de desarrollo y menor complejidad</a:t>
          </a:r>
          <a:endParaRPr lang="en-US"/>
        </a:p>
      </dgm:t>
    </dgm:pt>
    <dgm:pt modelId="{065C5255-8F47-4FD2-9FDA-3B422C4704DA}" type="parTrans" cxnId="{DBE9D533-F292-4261-A1CC-20F719C2C777}">
      <dgm:prSet/>
      <dgm:spPr/>
      <dgm:t>
        <a:bodyPr/>
        <a:lstStyle/>
        <a:p>
          <a:endParaRPr lang="en-US"/>
        </a:p>
      </dgm:t>
    </dgm:pt>
    <dgm:pt modelId="{BE2615D1-F49E-4622-9A60-606C4E9F624B}" type="sibTrans" cxnId="{DBE9D533-F292-4261-A1CC-20F719C2C777}">
      <dgm:prSet/>
      <dgm:spPr/>
      <dgm:t>
        <a:bodyPr/>
        <a:lstStyle/>
        <a:p>
          <a:endParaRPr lang="en-US"/>
        </a:p>
      </dgm:t>
    </dgm:pt>
    <dgm:pt modelId="{904F7408-8243-454B-8D5F-8ABE08646FE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Mejora en precisión numérica y escalabilidad</a:t>
          </a:r>
          <a:endParaRPr lang="en-US"/>
        </a:p>
      </dgm:t>
    </dgm:pt>
    <dgm:pt modelId="{1E3CB305-20A8-4A89-99FB-902BAD9576FE}" type="parTrans" cxnId="{9D81D71A-5368-43DC-ABBF-C55DD9089D2D}">
      <dgm:prSet/>
      <dgm:spPr/>
      <dgm:t>
        <a:bodyPr/>
        <a:lstStyle/>
        <a:p>
          <a:endParaRPr lang="en-US"/>
        </a:p>
      </dgm:t>
    </dgm:pt>
    <dgm:pt modelId="{E9C19D79-3CD7-4C65-B98A-9CA0ED5DA2F4}" type="sibTrans" cxnId="{9D81D71A-5368-43DC-ABBF-C55DD9089D2D}">
      <dgm:prSet/>
      <dgm:spPr/>
      <dgm:t>
        <a:bodyPr/>
        <a:lstStyle/>
        <a:p>
          <a:endParaRPr lang="en-US"/>
        </a:p>
      </dgm:t>
    </dgm:pt>
    <dgm:pt modelId="{4DE61C8A-4FB3-4B2A-93FA-B2CB3DEDB2FC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Integración con frameworks y ecosistemas</a:t>
          </a:r>
          <a:endParaRPr lang="en-US"/>
        </a:p>
      </dgm:t>
    </dgm:pt>
    <dgm:pt modelId="{218F2A7A-FC25-401A-A581-55CC07924478}" type="parTrans" cxnId="{1A6EAB08-3E29-45EB-8C99-96D951E4DAC4}">
      <dgm:prSet/>
      <dgm:spPr/>
      <dgm:t>
        <a:bodyPr/>
        <a:lstStyle/>
        <a:p>
          <a:endParaRPr lang="en-US"/>
        </a:p>
      </dgm:t>
    </dgm:pt>
    <dgm:pt modelId="{85A7DDF0-AE23-4F91-A95A-AE752C062CCB}" type="sibTrans" cxnId="{1A6EAB08-3E29-45EB-8C99-96D951E4DAC4}">
      <dgm:prSet/>
      <dgm:spPr/>
      <dgm:t>
        <a:bodyPr/>
        <a:lstStyle/>
        <a:p>
          <a:endParaRPr lang="en-US"/>
        </a:p>
      </dgm:t>
    </dgm:pt>
    <dgm:pt modelId="{32E7C43D-501B-4CB3-A5EA-91194FA0EF44}" type="pres">
      <dgm:prSet presAssocID="{DE01CC12-0239-49CE-B22B-9DFC32E53AF9}" presName="root" presStyleCnt="0">
        <dgm:presLayoutVars>
          <dgm:dir/>
          <dgm:resizeHandles val="exact"/>
        </dgm:presLayoutVars>
      </dgm:prSet>
      <dgm:spPr/>
    </dgm:pt>
    <dgm:pt modelId="{595AB4C2-D484-42A2-90BA-FF432D31FCB7}" type="pres">
      <dgm:prSet presAssocID="{B03D6E59-CA08-4C7A-8E84-FD9BF7BDD488}" presName="compNode" presStyleCnt="0"/>
      <dgm:spPr/>
    </dgm:pt>
    <dgm:pt modelId="{2F76B68E-B48E-488B-98DE-8ECDFA2FDF33}" type="pres">
      <dgm:prSet presAssocID="{B03D6E59-CA08-4C7A-8E84-FD9BF7BDD48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CB9F27E5-1C21-4672-BC72-F5E6819C1452}" type="pres">
      <dgm:prSet presAssocID="{B03D6E59-CA08-4C7A-8E84-FD9BF7BDD488}" presName="spaceRect" presStyleCnt="0"/>
      <dgm:spPr/>
    </dgm:pt>
    <dgm:pt modelId="{2099FE86-5179-4790-BB20-60A2E010AAF2}" type="pres">
      <dgm:prSet presAssocID="{B03D6E59-CA08-4C7A-8E84-FD9BF7BDD488}" presName="textRect" presStyleLbl="revTx" presStyleIdx="0" presStyleCnt="5">
        <dgm:presLayoutVars>
          <dgm:chMax val="1"/>
          <dgm:chPref val="1"/>
        </dgm:presLayoutVars>
      </dgm:prSet>
      <dgm:spPr/>
    </dgm:pt>
    <dgm:pt modelId="{50D8134C-8614-402A-85B0-148FE062492E}" type="pres">
      <dgm:prSet presAssocID="{C5062B45-07E0-4D6A-AC5E-30B66D84F5A2}" presName="sibTrans" presStyleCnt="0"/>
      <dgm:spPr/>
    </dgm:pt>
    <dgm:pt modelId="{00BAA488-7C0F-4EAC-BEF2-FE27B28CCF81}" type="pres">
      <dgm:prSet presAssocID="{8B16D1DD-AF1C-4FD5-9925-4F52A6579771}" presName="compNode" presStyleCnt="0"/>
      <dgm:spPr/>
    </dgm:pt>
    <dgm:pt modelId="{E6473EBB-566F-443B-BE6C-0690E2540526}" type="pres">
      <dgm:prSet presAssocID="{8B16D1DD-AF1C-4FD5-9925-4F52A657977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361DA08-90D4-4DDF-82A5-A23F2C6FF662}" type="pres">
      <dgm:prSet presAssocID="{8B16D1DD-AF1C-4FD5-9925-4F52A6579771}" presName="spaceRect" presStyleCnt="0"/>
      <dgm:spPr/>
    </dgm:pt>
    <dgm:pt modelId="{75A69D3D-DC94-4F52-A651-5831D2E4F629}" type="pres">
      <dgm:prSet presAssocID="{8B16D1DD-AF1C-4FD5-9925-4F52A6579771}" presName="textRect" presStyleLbl="revTx" presStyleIdx="1" presStyleCnt="5">
        <dgm:presLayoutVars>
          <dgm:chMax val="1"/>
          <dgm:chPref val="1"/>
        </dgm:presLayoutVars>
      </dgm:prSet>
      <dgm:spPr/>
    </dgm:pt>
    <dgm:pt modelId="{495D2D81-3944-4519-B34A-A540D7C495B1}" type="pres">
      <dgm:prSet presAssocID="{205098D0-0348-4D2E-A33F-E31F61C9C9BA}" presName="sibTrans" presStyleCnt="0"/>
      <dgm:spPr/>
    </dgm:pt>
    <dgm:pt modelId="{4673B794-4680-426B-AB2E-AEDCDC2D697C}" type="pres">
      <dgm:prSet presAssocID="{4393FC67-7A5A-45E5-9FDF-DFBD6F31F3BF}" presName="compNode" presStyleCnt="0"/>
      <dgm:spPr/>
    </dgm:pt>
    <dgm:pt modelId="{D6F67FC9-4979-4BF0-BDFE-542F9F2F2F0A}" type="pres">
      <dgm:prSet presAssocID="{4393FC67-7A5A-45E5-9FDF-DFBD6F31F3B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7A6A1879-79F5-4C93-B7BE-AC6CF5C17A76}" type="pres">
      <dgm:prSet presAssocID="{4393FC67-7A5A-45E5-9FDF-DFBD6F31F3BF}" presName="spaceRect" presStyleCnt="0"/>
      <dgm:spPr/>
    </dgm:pt>
    <dgm:pt modelId="{E333FB45-C07F-428F-9D85-B014A7112D5B}" type="pres">
      <dgm:prSet presAssocID="{4393FC67-7A5A-45E5-9FDF-DFBD6F31F3BF}" presName="textRect" presStyleLbl="revTx" presStyleIdx="2" presStyleCnt="5">
        <dgm:presLayoutVars>
          <dgm:chMax val="1"/>
          <dgm:chPref val="1"/>
        </dgm:presLayoutVars>
      </dgm:prSet>
      <dgm:spPr/>
    </dgm:pt>
    <dgm:pt modelId="{E30F868D-8973-41E5-BC85-7F5DB65064A8}" type="pres">
      <dgm:prSet presAssocID="{BE2615D1-F49E-4622-9A60-606C4E9F624B}" presName="sibTrans" presStyleCnt="0"/>
      <dgm:spPr/>
    </dgm:pt>
    <dgm:pt modelId="{AF2C6B86-3003-43A7-8F9E-1D6E2CEAC691}" type="pres">
      <dgm:prSet presAssocID="{904F7408-8243-454B-8D5F-8ABE08646FE6}" presName="compNode" presStyleCnt="0"/>
      <dgm:spPr/>
    </dgm:pt>
    <dgm:pt modelId="{25ADAD28-2537-497D-9B51-8F899CCCA040}" type="pres">
      <dgm:prSet presAssocID="{904F7408-8243-454B-8D5F-8ABE08646FE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B4AEDA0D-3F86-4592-A157-65879454CB64}" type="pres">
      <dgm:prSet presAssocID="{904F7408-8243-454B-8D5F-8ABE08646FE6}" presName="spaceRect" presStyleCnt="0"/>
      <dgm:spPr/>
    </dgm:pt>
    <dgm:pt modelId="{2ACA1201-DE33-45F9-B9DC-17839E65EBD2}" type="pres">
      <dgm:prSet presAssocID="{904F7408-8243-454B-8D5F-8ABE08646FE6}" presName="textRect" presStyleLbl="revTx" presStyleIdx="3" presStyleCnt="5">
        <dgm:presLayoutVars>
          <dgm:chMax val="1"/>
          <dgm:chPref val="1"/>
        </dgm:presLayoutVars>
      </dgm:prSet>
      <dgm:spPr/>
    </dgm:pt>
    <dgm:pt modelId="{0B34ED52-2F27-4E91-9EA1-9F445AE379CA}" type="pres">
      <dgm:prSet presAssocID="{E9C19D79-3CD7-4C65-B98A-9CA0ED5DA2F4}" presName="sibTrans" presStyleCnt="0"/>
      <dgm:spPr/>
    </dgm:pt>
    <dgm:pt modelId="{8CB6C7DF-619B-4AB6-A25B-332B902A9542}" type="pres">
      <dgm:prSet presAssocID="{4DE61C8A-4FB3-4B2A-93FA-B2CB3DEDB2FC}" presName="compNode" presStyleCnt="0"/>
      <dgm:spPr/>
    </dgm:pt>
    <dgm:pt modelId="{17F48C39-38CE-4346-997F-B68D3733C783}" type="pres">
      <dgm:prSet presAssocID="{4DE61C8A-4FB3-4B2A-93FA-B2CB3DEDB2F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d"/>
        </a:ext>
      </dgm:extLst>
    </dgm:pt>
    <dgm:pt modelId="{B10ACA28-4DE2-4EE5-B9F3-E1F0405A9EEA}" type="pres">
      <dgm:prSet presAssocID="{4DE61C8A-4FB3-4B2A-93FA-B2CB3DEDB2FC}" presName="spaceRect" presStyleCnt="0"/>
      <dgm:spPr/>
    </dgm:pt>
    <dgm:pt modelId="{C31DAA83-5211-41FB-A617-0A996F5505AA}" type="pres">
      <dgm:prSet presAssocID="{4DE61C8A-4FB3-4B2A-93FA-B2CB3DEDB2F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FA9B001-526D-4874-985E-A37961F5902F}" srcId="{DE01CC12-0239-49CE-B22B-9DFC32E53AF9}" destId="{B03D6E59-CA08-4C7A-8E84-FD9BF7BDD488}" srcOrd="0" destOrd="0" parTransId="{4B2F3138-891D-45D4-8AAB-F09397FA1E87}" sibTransId="{C5062B45-07E0-4D6A-AC5E-30B66D84F5A2}"/>
    <dgm:cxn modelId="{1A6EAB08-3E29-45EB-8C99-96D951E4DAC4}" srcId="{DE01CC12-0239-49CE-B22B-9DFC32E53AF9}" destId="{4DE61C8A-4FB3-4B2A-93FA-B2CB3DEDB2FC}" srcOrd="4" destOrd="0" parTransId="{218F2A7A-FC25-401A-A581-55CC07924478}" sibTransId="{85A7DDF0-AE23-4F91-A95A-AE752C062CCB}"/>
    <dgm:cxn modelId="{9D81D71A-5368-43DC-ABBF-C55DD9089D2D}" srcId="{DE01CC12-0239-49CE-B22B-9DFC32E53AF9}" destId="{904F7408-8243-454B-8D5F-8ABE08646FE6}" srcOrd="3" destOrd="0" parTransId="{1E3CB305-20A8-4A89-99FB-902BAD9576FE}" sibTransId="{E9C19D79-3CD7-4C65-B98A-9CA0ED5DA2F4}"/>
    <dgm:cxn modelId="{DBE9D533-F292-4261-A1CC-20F719C2C777}" srcId="{DE01CC12-0239-49CE-B22B-9DFC32E53AF9}" destId="{4393FC67-7A5A-45E5-9FDF-DFBD6F31F3BF}" srcOrd="2" destOrd="0" parTransId="{065C5255-8F47-4FD2-9FDA-3B422C4704DA}" sibTransId="{BE2615D1-F49E-4622-9A60-606C4E9F624B}"/>
    <dgm:cxn modelId="{DB4F1439-095D-4996-988E-8ECDA09C9303}" srcId="{DE01CC12-0239-49CE-B22B-9DFC32E53AF9}" destId="{8B16D1DD-AF1C-4FD5-9925-4F52A6579771}" srcOrd="1" destOrd="0" parTransId="{6237D7A0-ABD2-40CA-9AE5-06E0C13C186D}" sibTransId="{205098D0-0348-4D2E-A33F-E31F61C9C9BA}"/>
    <dgm:cxn modelId="{9324EE50-F592-4F5C-A3D4-6BEB0F12B1E1}" type="presOf" srcId="{4393FC67-7A5A-45E5-9FDF-DFBD6F31F3BF}" destId="{E333FB45-C07F-428F-9D85-B014A7112D5B}" srcOrd="0" destOrd="0" presId="urn:microsoft.com/office/officeart/2018/2/layout/IconLabelList"/>
    <dgm:cxn modelId="{5618A457-9FE2-4860-BA67-BB4981259ED3}" type="presOf" srcId="{904F7408-8243-454B-8D5F-8ABE08646FE6}" destId="{2ACA1201-DE33-45F9-B9DC-17839E65EBD2}" srcOrd="0" destOrd="0" presId="urn:microsoft.com/office/officeart/2018/2/layout/IconLabelList"/>
    <dgm:cxn modelId="{42991C6F-A730-432D-9B21-81E1BA64442A}" type="presOf" srcId="{DE01CC12-0239-49CE-B22B-9DFC32E53AF9}" destId="{32E7C43D-501B-4CB3-A5EA-91194FA0EF44}" srcOrd="0" destOrd="0" presId="urn:microsoft.com/office/officeart/2018/2/layout/IconLabelList"/>
    <dgm:cxn modelId="{F426118D-448A-4A1B-B4F4-85147DE9570C}" type="presOf" srcId="{8B16D1DD-AF1C-4FD5-9925-4F52A6579771}" destId="{75A69D3D-DC94-4F52-A651-5831D2E4F629}" srcOrd="0" destOrd="0" presId="urn:microsoft.com/office/officeart/2018/2/layout/IconLabelList"/>
    <dgm:cxn modelId="{07DE93AD-4851-43A8-A0C2-7CCF802E7D5F}" type="presOf" srcId="{B03D6E59-CA08-4C7A-8E84-FD9BF7BDD488}" destId="{2099FE86-5179-4790-BB20-60A2E010AAF2}" srcOrd="0" destOrd="0" presId="urn:microsoft.com/office/officeart/2018/2/layout/IconLabelList"/>
    <dgm:cxn modelId="{9D6031E9-6DBA-460E-86E1-20BA4D27AC78}" type="presOf" srcId="{4DE61C8A-4FB3-4B2A-93FA-B2CB3DEDB2FC}" destId="{C31DAA83-5211-41FB-A617-0A996F5505AA}" srcOrd="0" destOrd="0" presId="urn:microsoft.com/office/officeart/2018/2/layout/IconLabelList"/>
    <dgm:cxn modelId="{02A30FFA-753C-4965-9128-0005853B20C7}" type="presParOf" srcId="{32E7C43D-501B-4CB3-A5EA-91194FA0EF44}" destId="{595AB4C2-D484-42A2-90BA-FF432D31FCB7}" srcOrd="0" destOrd="0" presId="urn:microsoft.com/office/officeart/2018/2/layout/IconLabelList"/>
    <dgm:cxn modelId="{E2BA71E9-5744-46B4-A1A7-F4342A7D6881}" type="presParOf" srcId="{595AB4C2-D484-42A2-90BA-FF432D31FCB7}" destId="{2F76B68E-B48E-488B-98DE-8ECDFA2FDF33}" srcOrd="0" destOrd="0" presId="urn:microsoft.com/office/officeart/2018/2/layout/IconLabelList"/>
    <dgm:cxn modelId="{5F22868D-F20C-45D0-A764-5E0F5751009F}" type="presParOf" srcId="{595AB4C2-D484-42A2-90BA-FF432D31FCB7}" destId="{CB9F27E5-1C21-4672-BC72-F5E6819C1452}" srcOrd="1" destOrd="0" presId="urn:microsoft.com/office/officeart/2018/2/layout/IconLabelList"/>
    <dgm:cxn modelId="{DFC10CFF-E946-41BA-A9D4-41A9F00E7D82}" type="presParOf" srcId="{595AB4C2-D484-42A2-90BA-FF432D31FCB7}" destId="{2099FE86-5179-4790-BB20-60A2E010AAF2}" srcOrd="2" destOrd="0" presId="urn:microsoft.com/office/officeart/2018/2/layout/IconLabelList"/>
    <dgm:cxn modelId="{EBD07D5E-E4D7-4D8F-9B00-BA2AE4EA9AA4}" type="presParOf" srcId="{32E7C43D-501B-4CB3-A5EA-91194FA0EF44}" destId="{50D8134C-8614-402A-85B0-148FE062492E}" srcOrd="1" destOrd="0" presId="urn:microsoft.com/office/officeart/2018/2/layout/IconLabelList"/>
    <dgm:cxn modelId="{1155A565-FC13-4198-B3E6-F5F68AE66798}" type="presParOf" srcId="{32E7C43D-501B-4CB3-A5EA-91194FA0EF44}" destId="{00BAA488-7C0F-4EAC-BEF2-FE27B28CCF81}" srcOrd="2" destOrd="0" presId="urn:microsoft.com/office/officeart/2018/2/layout/IconLabelList"/>
    <dgm:cxn modelId="{B1E52ACB-5259-46E9-A713-B640E4C5FEDC}" type="presParOf" srcId="{00BAA488-7C0F-4EAC-BEF2-FE27B28CCF81}" destId="{E6473EBB-566F-443B-BE6C-0690E2540526}" srcOrd="0" destOrd="0" presId="urn:microsoft.com/office/officeart/2018/2/layout/IconLabelList"/>
    <dgm:cxn modelId="{64D56D4E-DB38-40D6-A20F-E9D33F55C3CB}" type="presParOf" srcId="{00BAA488-7C0F-4EAC-BEF2-FE27B28CCF81}" destId="{8361DA08-90D4-4DDF-82A5-A23F2C6FF662}" srcOrd="1" destOrd="0" presId="urn:microsoft.com/office/officeart/2018/2/layout/IconLabelList"/>
    <dgm:cxn modelId="{EF53C16E-C11F-491A-AC47-44FAD693ACF1}" type="presParOf" srcId="{00BAA488-7C0F-4EAC-BEF2-FE27B28CCF81}" destId="{75A69D3D-DC94-4F52-A651-5831D2E4F629}" srcOrd="2" destOrd="0" presId="urn:microsoft.com/office/officeart/2018/2/layout/IconLabelList"/>
    <dgm:cxn modelId="{DBF41499-CEC5-4697-B1E7-1EA71C8932D4}" type="presParOf" srcId="{32E7C43D-501B-4CB3-A5EA-91194FA0EF44}" destId="{495D2D81-3944-4519-B34A-A540D7C495B1}" srcOrd="3" destOrd="0" presId="urn:microsoft.com/office/officeart/2018/2/layout/IconLabelList"/>
    <dgm:cxn modelId="{5595146D-4A8F-4366-822E-C93A26F9DAA4}" type="presParOf" srcId="{32E7C43D-501B-4CB3-A5EA-91194FA0EF44}" destId="{4673B794-4680-426B-AB2E-AEDCDC2D697C}" srcOrd="4" destOrd="0" presId="urn:microsoft.com/office/officeart/2018/2/layout/IconLabelList"/>
    <dgm:cxn modelId="{D40AF15D-3341-47B5-A4FB-BD11CC521578}" type="presParOf" srcId="{4673B794-4680-426B-AB2E-AEDCDC2D697C}" destId="{D6F67FC9-4979-4BF0-BDFE-542F9F2F2F0A}" srcOrd="0" destOrd="0" presId="urn:microsoft.com/office/officeart/2018/2/layout/IconLabelList"/>
    <dgm:cxn modelId="{66B6611E-B0B8-4600-998A-C46DC2B0D625}" type="presParOf" srcId="{4673B794-4680-426B-AB2E-AEDCDC2D697C}" destId="{7A6A1879-79F5-4C93-B7BE-AC6CF5C17A76}" srcOrd="1" destOrd="0" presId="urn:microsoft.com/office/officeart/2018/2/layout/IconLabelList"/>
    <dgm:cxn modelId="{4E750B05-6E1F-4012-9BB7-2E6EE954350E}" type="presParOf" srcId="{4673B794-4680-426B-AB2E-AEDCDC2D697C}" destId="{E333FB45-C07F-428F-9D85-B014A7112D5B}" srcOrd="2" destOrd="0" presId="urn:microsoft.com/office/officeart/2018/2/layout/IconLabelList"/>
    <dgm:cxn modelId="{A7E1E100-520C-4546-80E0-CE058AD85319}" type="presParOf" srcId="{32E7C43D-501B-4CB3-A5EA-91194FA0EF44}" destId="{E30F868D-8973-41E5-BC85-7F5DB65064A8}" srcOrd="5" destOrd="0" presId="urn:microsoft.com/office/officeart/2018/2/layout/IconLabelList"/>
    <dgm:cxn modelId="{5D067FBB-6E1B-431D-8D50-19085517ED62}" type="presParOf" srcId="{32E7C43D-501B-4CB3-A5EA-91194FA0EF44}" destId="{AF2C6B86-3003-43A7-8F9E-1D6E2CEAC691}" srcOrd="6" destOrd="0" presId="urn:microsoft.com/office/officeart/2018/2/layout/IconLabelList"/>
    <dgm:cxn modelId="{47CDF4F7-C938-465A-AD60-DE04CB806E96}" type="presParOf" srcId="{AF2C6B86-3003-43A7-8F9E-1D6E2CEAC691}" destId="{25ADAD28-2537-497D-9B51-8F899CCCA040}" srcOrd="0" destOrd="0" presId="urn:microsoft.com/office/officeart/2018/2/layout/IconLabelList"/>
    <dgm:cxn modelId="{D3BF359C-2BF5-48BC-88FC-A6A899203B92}" type="presParOf" srcId="{AF2C6B86-3003-43A7-8F9E-1D6E2CEAC691}" destId="{B4AEDA0D-3F86-4592-A157-65879454CB64}" srcOrd="1" destOrd="0" presId="urn:microsoft.com/office/officeart/2018/2/layout/IconLabelList"/>
    <dgm:cxn modelId="{5BA01D07-6ABD-44E1-801A-4CF8BC775D15}" type="presParOf" srcId="{AF2C6B86-3003-43A7-8F9E-1D6E2CEAC691}" destId="{2ACA1201-DE33-45F9-B9DC-17839E65EBD2}" srcOrd="2" destOrd="0" presId="urn:microsoft.com/office/officeart/2018/2/layout/IconLabelList"/>
    <dgm:cxn modelId="{394922AD-D242-41FE-BC0B-2993014CED95}" type="presParOf" srcId="{32E7C43D-501B-4CB3-A5EA-91194FA0EF44}" destId="{0B34ED52-2F27-4E91-9EA1-9F445AE379CA}" srcOrd="7" destOrd="0" presId="urn:microsoft.com/office/officeart/2018/2/layout/IconLabelList"/>
    <dgm:cxn modelId="{EA8658A5-E0C7-4119-844A-9C362DC0EDF9}" type="presParOf" srcId="{32E7C43D-501B-4CB3-A5EA-91194FA0EF44}" destId="{8CB6C7DF-619B-4AB6-A25B-332B902A9542}" srcOrd="8" destOrd="0" presId="urn:microsoft.com/office/officeart/2018/2/layout/IconLabelList"/>
    <dgm:cxn modelId="{81B1F153-F3F1-40A7-9C82-AE37761F2086}" type="presParOf" srcId="{8CB6C7DF-619B-4AB6-A25B-332B902A9542}" destId="{17F48C39-38CE-4346-997F-B68D3733C783}" srcOrd="0" destOrd="0" presId="urn:microsoft.com/office/officeart/2018/2/layout/IconLabelList"/>
    <dgm:cxn modelId="{02710C90-3A95-47C3-86B2-C840C8804252}" type="presParOf" srcId="{8CB6C7DF-619B-4AB6-A25B-332B902A9542}" destId="{B10ACA28-4DE2-4EE5-B9F3-E1F0405A9EEA}" srcOrd="1" destOrd="0" presId="urn:microsoft.com/office/officeart/2018/2/layout/IconLabelList"/>
    <dgm:cxn modelId="{CB744B37-EAC6-4B0D-B073-4CDF948903CE}" type="presParOf" srcId="{8CB6C7DF-619B-4AB6-A25B-332B902A9542}" destId="{C31DAA83-5211-41FB-A617-0A996F5505AA}" srcOrd="2" destOrd="0" presId="urn:microsoft.com/office/officeart/2018/2/layout/IconLabelList"/>
  </dgm:cxnLst>
  <dgm:bg/>
  <dgm:whole>
    <a:ln>
      <a:solidFill>
        <a:srgbClr val="00B050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051CFF-8881-D04F-BD04-DFC014D0DAF1}" type="doc">
      <dgm:prSet loTypeId="urn:microsoft.com/office/officeart/2005/8/layout/vList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5BE08689-3AA9-104E-81A4-12868E553484}">
      <dgm:prSet phldrT="[Texto]"/>
      <dgm:spPr>
        <a:solidFill>
          <a:srgbClr val="00B0F0"/>
        </a:solidFill>
      </dgm:spPr>
      <dgm:t>
        <a:bodyPr/>
        <a:lstStyle/>
        <a:p>
          <a:r>
            <a:rPr lang="es-ES" dirty="0"/>
            <a:t>CPU</a:t>
          </a:r>
        </a:p>
      </dgm:t>
    </dgm:pt>
    <dgm:pt modelId="{01833C51-8EE4-154F-819B-F60023C6EF7C}" type="parTrans" cxnId="{D340CFA7-6742-4349-9FD2-C5F7296A6BF9}">
      <dgm:prSet/>
      <dgm:spPr/>
      <dgm:t>
        <a:bodyPr/>
        <a:lstStyle/>
        <a:p>
          <a:endParaRPr lang="es-ES"/>
        </a:p>
      </dgm:t>
    </dgm:pt>
    <dgm:pt modelId="{F0D94DDE-77FE-2B40-BA16-42E5A383E9ED}" type="sibTrans" cxnId="{D340CFA7-6742-4349-9FD2-C5F7296A6BF9}">
      <dgm:prSet/>
      <dgm:spPr/>
      <dgm:t>
        <a:bodyPr/>
        <a:lstStyle/>
        <a:p>
          <a:endParaRPr lang="es-ES"/>
        </a:p>
      </dgm:t>
    </dgm:pt>
    <dgm:pt modelId="{C9ADBB25-1B11-6949-946F-8475489FF196}">
      <dgm:prSet phldrT="[Texto]"/>
      <dgm:spPr/>
      <dgm:t>
        <a:bodyPr/>
        <a:lstStyle/>
        <a:p>
          <a:r>
            <a:rPr lang="es-ES" dirty="0" err="1"/>
            <a:t>Malloc</a:t>
          </a:r>
          <a:r>
            <a:rPr lang="es-ES" dirty="0"/>
            <a:t> &amp; </a:t>
          </a:r>
          <a:r>
            <a:rPr lang="es-ES" dirty="0" err="1"/>
            <a:t>cudaMalloc</a:t>
          </a:r>
          <a:endParaRPr lang="es-ES" dirty="0"/>
        </a:p>
      </dgm:t>
    </dgm:pt>
    <dgm:pt modelId="{654D8542-1667-3949-9FF5-C156746AF9A4}" type="parTrans" cxnId="{C8DFAE2B-B2ED-974D-8AA8-35242C8A2374}">
      <dgm:prSet/>
      <dgm:spPr/>
      <dgm:t>
        <a:bodyPr/>
        <a:lstStyle/>
        <a:p>
          <a:endParaRPr lang="es-ES"/>
        </a:p>
      </dgm:t>
    </dgm:pt>
    <dgm:pt modelId="{69B2B6A1-D134-A84C-8D7B-93D85773AE2A}" type="sibTrans" cxnId="{C8DFAE2B-B2ED-974D-8AA8-35242C8A2374}">
      <dgm:prSet/>
      <dgm:spPr/>
      <dgm:t>
        <a:bodyPr/>
        <a:lstStyle/>
        <a:p>
          <a:endParaRPr lang="es-ES"/>
        </a:p>
      </dgm:t>
    </dgm:pt>
    <dgm:pt modelId="{ACFF29D7-7C78-5842-908F-7F3E6388AE63}">
      <dgm:prSet phldrT="[Texto]"/>
      <dgm:spPr/>
      <dgm:t>
        <a:bodyPr/>
        <a:lstStyle/>
        <a:p>
          <a:r>
            <a:rPr lang="es-ES" dirty="0" err="1"/>
            <a:t>cudaMemcpy</a:t>
          </a:r>
          <a:r>
            <a:rPr lang="es-ES" dirty="0"/>
            <a:t> (host2device)</a:t>
          </a:r>
        </a:p>
      </dgm:t>
    </dgm:pt>
    <dgm:pt modelId="{DA2210F8-4A49-144C-A869-5209AAE21C99}" type="parTrans" cxnId="{F47BF55F-7E4F-524B-AECA-7E3A98547462}">
      <dgm:prSet/>
      <dgm:spPr/>
      <dgm:t>
        <a:bodyPr/>
        <a:lstStyle/>
        <a:p>
          <a:endParaRPr lang="es-ES"/>
        </a:p>
      </dgm:t>
    </dgm:pt>
    <dgm:pt modelId="{ACBDAA6B-97D0-9A4E-B17E-E1B478CA5636}" type="sibTrans" cxnId="{F47BF55F-7E4F-524B-AECA-7E3A98547462}">
      <dgm:prSet/>
      <dgm:spPr/>
      <dgm:t>
        <a:bodyPr/>
        <a:lstStyle/>
        <a:p>
          <a:endParaRPr lang="es-ES"/>
        </a:p>
      </dgm:t>
    </dgm:pt>
    <dgm:pt modelId="{8A10FC11-B339-7E4B-9C82-BF7D73076529}">
      <dgm:prSet phldrT="[Texto]"/>
      <dgm:spPr>
        <a:solidFill>
          <a:srgbClr val="92D050"/>
        </a:solidFill>
      </dgm:spPr>
      <dgm:t>
        <a:bodyPr/>
        <a:lstStyle/>
        <a:p>
          <a:r>
            <a:rPr lang="es-ES" dirty="0"/>
            <a:t>GPU</a:t>
          </a:r>
        </a:p>
      </dgm:t>
    </dgm:pt>
    <dgm:pt modelId="{F5C0DAD7-1FB2-FA42-AD6D-31CA508FC198}" type="parTrans" cxnId="{1FC78091-5CAD-FA40-B77B-93409FE39A38}">
      <dgm:prSet/>
      <dgm:spPr/>
      <dgm:t>
        <a:bodyPr/>
        <a:lstStyle/>
        <a:p>
          <a:endParaRPr lang="es-ES"/>
        </a:p>
      </dgm:t>
    </dgm:pt>
    <dgm:pt modelId="{BE6CDEA2-33DA-FA49-A065-30859774E0CE}" type="sibTrans" cxnId="{1FC78091-5CAD-FA40-B77B-93409FE39A38}">
      <dgm:prSet/>
      <dgm:spPr/>
      <dgm:t>
        <a:bodyPr/>
        <a:lstStyle/>
        <a:p>
          <a:endParaRPr lang="es-ES"/>
        </a:p>
      </dgm:t>
    </dgm:pt>
    <dgm:pt modelId="{11AD9FC1-8F3F-7644-9055-6FEA621AB2FF}">
      <dgm:prSet phldrT="[Texto]"/>
      <dgm:spPr/>
      <dgm:t>
        <a:bodyPr/>
        <a:lstStyle/>
        <a:p>
          <a:r>
            <a:rPr lang="es-ES" dirty="0" err="1"/>
            <a:t>Kernel</a:t>
          </a:r>
          <a:endParaRPr lang="es-ES" dirty="0"/>
        </a:p>
      </dgm:t>
    </dgm:pt>
    <dgm:pt modelId="{B9BE5660-D187-3742-AAE4-013269B18CD3}" type="parTrans" cxnId="{A96751EC-DF2A-B54C-9802-87234F611092}">
      <dgm:prSet/>
      <dgm:spPr/>
      <dgm:t>
        <a:bodyPr/>
        <a:lstStyle/>
        <a:p>
          <a:endParaRPr lang="es-ES"/>
        </a:p>
      </dgm:t>
    </dgm:pt>
    <dgm:pt modelId="{A4499FA3-7182-7241-A98A-1AB46B449273}" type="sibTrans" cxnId="{A96751EC-DF2A-B54C-9802-87234F611092}">
      <dgm:prSet/>
      <dgm:spPr/>
      <dgm:t>
        <a:bodyPr/>
        <a:lstStyle/>
        <a:p>
          <a:endParaRPr lang="es-ES"/>
        </a:p>
      </dgm:t>
    </dgm:pt>
    <dgm:pt modelId="{DDF6325B-D2A4-1E4F-A4DA-D6E86E908CF4}">
      <dgm:prSet phldrT="[Texto]"/>
      <dgm:spPr>
        <a:solidFill>
          <a:srgbClr val="00B0F0"/>
        </a:solidFill>
      </dgm:spPr>
      <dgm:t>
        <a:bodyPr/>
        <a:lstStyle/>
        <a:p>
          <a:r>
            <a:rPr lang="es-ES" dirty="0"/>
            <a:t>CPU</a:t>
          </a:r>
        </a:p>
      </dgm:t>
    </dgm:pt>
    <dgm:pt modelId="{9BC93C8A-A696-2C4B-893B-7F90D1AD4527}" type="parTrans" cxnId="{2697DACD-8DF9-EB4A-ACAD-BF9C6C40F21E}">
      <dgm:prSet/>
      <dgm:spPr/>
      <dgm:t>
        <a:bodyPr/>
        <a:lstStyle/>
        <a:p>
          <a:endParaRPr lang="es-ES"/>
        </a:p>
      </dgm:t>
    </dgm:pt>
    <dgm:pt modelId="{FE25CD52-311B-1549-BC72-7AF5B01B3DE0}" type="sibTrans" cxnId="{2697DACD-8DF9-EB4A-ACAD-BF9C6C40F21E}">
      <dgm:prSet/>
      <dgm:spPr/>
      <dgm:t>
        <a:bodyPr/>
        <a:lstStyle/>
        <a:p>
          <a:endParaRPr lang="es-ES"/>
        </a:p>
      </dgm:t>
    </dgm:pt>
    <dgm:pt modelId="{DB2FB364-4EAD-4343-AEBD-790C5F4C51E2}">
      <dgm:prSet phldrT="[Texto]"/>
      <dgm:spPr/>
      <dgm:t>
        <a:bodyPr/>
        <a:lstStyle/>
        <a:p>
          <a:r>
            <a:rPr lang="es-ES" dirty="0" err="1"/>
            <a:t>cudaMemcpy</a:t>
          </a:r>
          <a:r>
            <a:rPr lang="es-ES" dirty="0"/>
            <a:t> (device2host)</a:t>
          </a:r>
        </a:p>
      </dgm:t>
    </dgm:pt>
    <dgm:pt modelId="{FC11B10E-1E83-DD40-B908-326FACEABAD8}" type="parTrans" cxnId="{B3CCD627-AADB-1745-89F6-1B2D017AB34D}">
      <dgm:prSet/>
      <dgm:spPr/>
      <dgm:t>
        <a:bodyPr/>
        <a:lstStyle/>
        <a:p>
          <a:endParaRPr lang="es-ES"/>
        </a:p>
      </dgm:t>
    </dgm:pt>
    <dgm:pt modelId="{08FFF999-6579-9946-AEC2-F5CF5399E2B6}" type="sibTrans" cxnId="{B3CCD627-AADB-1745-89F6-1B2D017AB34D}">
      <dgm:prSet/>
      <dgm:spPr/>
      <dgm:t>
        <a:bodyPr/>
        <a:lstStyle/>
        <a:p>
          <a:endParaRPr lang="es-ES"/>
        </a:p>
      </dgm:t>
    </dgm:pt>
    <dgm:pt modelId="{5CFAB2EA-3473-494D-96A5-90AD3C34FD4A}">
      <dgm:prSet phldrT="[Texto]"/>
      <dgm:spPr/>
      <dgm:t>
        <a:bodyPr/>
        <a:lstStyle/>
        <a:p>
          <a:r>
            <a:rPr lang="es-ES" dirty="0"/>
            <a:t>Free &amp; </a:t>
          </a:r>
          <a:r>
            <a:rPr lang="es-ES" dirty="0" err="1"/>
            <a:t>cudaFree</a:t>
          </a:r>
          <a:endParaRPr lang="es-ES" dirty="0"/>
        </a:p>
      </dgm:t>
    </dgm:pt>
    <dgm:pt modelId="{4BA0E4F5-EA91-9140-9214-DEA3494B2017}" type="parTrans" cxnId="{156B4007-1B36-C447-A594-C9A0FC8A074C}">
      <dgm:prSet/>
      <dgm:spPr/>
      <dgm:t>
        <a:bodyPr/>
        <a:lstStyle/>
        <a:p>
          <a:endParaRPr lang="es-ES"/>
        </a:p>
      </dgm:t>
    </dgm:pt>
    <dgm:pt modelId="{E3D21D64-4902-5B45-AF4E-93413331474B}" type="sibTrans" cxnId="{156B4007-1B36-C447-A594-C9A0FC8A074C}">
      <dgm:prSet/>
      <dgm:spPr/>
      <dgm:t>
        <a:bodyPr/>
        <a:lstStyle/>
        <a:p>
          <a:endParaRPr lang="es-ES"/>
        </a:p>
      </dgm:t>
    </dgm:pt>
    <dgm:pt modelId="{A6465908-A096-E54E-8EDE-025FDCF0EA5A}" type="pres">
      <dgm:prSet presAssocID="{BE051CFF-8881-D04F-BD04-DFC014D0DAF1}" presName="Name0" presStyleCnt="0">
        <dgm:presLayoutVars>
          <dgm:dir/>
          <dgm:animLvl val="lvl"/>
          <dgm:resizeHandles val="exact"/>
        </dgm:presLayoutVars>
      </dgm:prSet>
      <dgm:spPr/>
    </dgm:pt>
    <dgm:pt modelId="{A84FD008-0632-D849-ABB1-6C17D7BC8A95}" type="pres">
      <dgm:prSet presAssocID="{5BE08689-3AA9-104E-81A4-12868E553484}" presName="linNode" presStyleCnt="0"/>
      <dgm:spPr/>
    </dgm:pt>
    <dgm:pt modelId="{9E21883B-CCBF-064E-8249-6BA629C3D753}" type="pres">
      <dgm:prSet presAssocID="{5BE08689-3AA9-104E-81A4-12868E553484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375FE634-B8D1-1240-ACC6-A313704A3E38}" type="pres">
      <dgm:prSet presAssocID="{5BE08689-3AA9-104E-81A4-12868E553484}" presName="descendantText" presStyleLbl="alignAccFollowNode1" presStyleIdx="0" presStyleCnt="3">
        <dgm:presLayoutVars>
          <dgm:bulletEnabled val="1"/>
        </dgm:presLayoutVars>
      </dgm:prSet>
      <dgm:spPr/>
    </dgm:pt>
    <dgm:pt modelId="{E7515A31-6E2D-2245-B198-72194C019753}" type="pres">
      <dgm:prSet presAssocID="{F0D94DDE-77FE-2B40-BA16-42E5A383E9ED}" presName="sp" presStyleCnt="0"/>
      <dgm:spPr/>
    </dgm:pt>
    <dgm:pt modelId="{C00A8752-A394-4F47-A7A8-1B15FA5DE831}" type="pres">
      <dgm:prSet presAssocID="{8A10FC11-B339-7E4B-9C82-BF7D73076529}" presName="linNode" presStyleCnt="0"/>
      <dgm:spPr/>
    </dgm:pt>
    <dgm:pt modelId="{BE842771-CD70-CD4B-B1E6-E994C8E09E9A}" type="pres">
      <dgm:prSet presAssocID="{8A10FC11-B339-7E4B-9C82-BF7D73076529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E4469F9-8266-0542-B9E3-48EC754A2F33}" type="pres">
      <dgm:prSet presAssocID="{8A10FC11-B339-7E4B-9C82-BF7D73076529}" presName="descendantText" presStyleLbl="alignAccFollowNode1" presStyleIdx="1" presStyleCnt="3">
        <dgm:presLayoutVars>
          <dgm:bulletEnabled val="1"/>
        </dgm:presLayoutVars>
      </dgm:prSet>
      <dgm:spPr/>
    </dgm:pt>
    <dgm:pt modelId="{FA32C4BD-DD08-C147-AE58-BD2872C30029}" type="pres">
      <dgm:prSet presAssocID="{BE6CDEA2-33DA-FA49-A065-30859774E0CE}" presName="sp" presStyleCnt="0"/>
      <dgm:spPr/>
    </dgm:pt>
    <dgm:pt modelId="{011D87AE-110D-0F4C-B604-4C347EB16344}" type="pres">
      <dgm:prSet presAssocID="{DDF6325B-D2A4-1E4F-A4DA-D6E86E908CF4}" presName="linNode" presStyleCnt="0"/>
      <dgm:spPr/>
    </dgm:pt>
    <dgm:pt modelId="{D017B7D8-7BD6-B241-BBC2-F0221D2E884F}" type="pres">
      <dgm:prSet presAssocID="{DDF6325B-D2A4-1E4F-A4DA-D6E86E908CF4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0A56D6F-8DE4-6B44-97C6-6A960873A09A}" type="pres">
      <dgm:prSet presAssocID="{DDF6325B-D2A4-1E4F-A4DA-D6E86E908CF4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959F700-A0E4-1B44-A3FE-F2E09D4B3AAC}" type="presOf" srcId="{8A10FC11-B339-7E4B-9C82-BF7D73076529}" destId="{BE842771-CD70-CD4B-B1E6-E994C8E09E9A}" srcOrd="0" destOrd="0" presId="urn:microsoft.com/office/officeart/2005/8/layout/vList5"/>
    <dgm:cxn modelId="{156B4007-1B36-C447-A594-C9A0FC8A074C}" srcId="{DDF6325B-D2A4-1E4F-A4DA-D6E86E908CF4}" destId="{5CFAB2EA-3473-494D-96A5-90AD3C34FD4A}" srcOrd="1" destOrd="0" parTransId="{4BA0E4F5-EA91-9140-9214-DEA3494B2017}" sibTransId="{E3D21D64-4902-5B45-AF4E-93413331474B}"/>
    <dgm:cxn modelId="{49D17711-8EEA-8D43-8962-BE6D489144E5}" type="presOf" srcId="{DB2FB364-4EAD-4343-AEBD-790C5F4C51E2}" destId="{E0A56D6F-8DE4-6B44-97C6-6A960873A09A}" srcOrd="0" destOrd="0" presId="urn:microsoft.com/office/officeart/2005/8/layout/vList5"/>
    <dgm:cxn modelId="{B3CCD627-AADB-1745-89F6-1B2D017AB34D}" srcId="{DDF6325B-D2A4-1E4F-A4DA-D6E86E908CF4}" destId="{DB2FB364-4EAD-4343-AEBD-790C5F4C51E2}" srcOrd="0" destOrd="0" parTransId="{FC11B10E-1E83-DD40-B908-326FACEABAD8}" sibTransId="{08FFF999-6579-9946-AEC2-F5CF5399E2B6}"/>
    <dgm:cxn modelId="{C8DFAE2B-B2ED-974D-8AA8-35242C8A2374}" srcId="{5BE08689-3AA9-104E-81A4-12868E553484}" destId="{C9ADBB25-1B11-6949-946F-8475489FF196}" srcOrd="0" destOrd="0" parTransId="{654D8542-1667-3949-9FF5-C156746AF9A4}" sibTransId="{69B2B6A1-D134-A84C-8D7B-93D85773AE2A}"/>
    <dgm:cxn modelId="{F47BF55F-7E4F-524B-AECA-7E3A98547462}" srcId="{5BE08689-3AA9-104E-81A4-12868E553484}" destId="{ACFF29D7-7C78-5842-908F-7F3E6388AE63}" srcOrd="1" destOrd="0" parTransId="{DA2210F8-4A49-144C-A869-5209AAE21C99}" sibTransId="{ACBDAA6B-97D0-9A4E-B17E-E1B478CA5636}"/>
    <dgm:cxn modelId="{A6D1AA71-9CBB-4647-A94E-7C51B3F0AD6B}" type="presOf" srcId="{11AD9FC1-8F3F-7644-9055-6FEA621AB2FF}" destId="{0E4469F9-8266-0542-B9E3-48EC754A2F33}" srcOrd="0" destOrd="0" presId="urn:microsoft.com/office/officeart/2005/8/layout/vList5"/>
    <dgm:cxn modelId="{26F4AB79-D017-314E-9EC8-FAD244002B19}" type="presOf" srcId="{DDF6325B-D2A4-1E4F-A4DA-D6E86E908CF4}" destId="{D017B7D8-7BD6-B241-BBC2-F0221D2E884F}" srcOrd="0" destOrd="0" presId="urn:microsoft.com/office/officeart/2005/8/layout/vList5"/>
    <dgm:cxn modelId="{1FC78091-5CAD-FA40-B77B-93409FE39A38}" srcId="{BE051CFF-8881-D04F-BD04-DFC014D0DAF1}" destId="{8A10FC11-B339-7E4B-9C82-BF7D73076529}" srcOrd="1" destOrd="0" parTransId="{F5C0DAD7-1FB2-FA42-AD6D-31CA508FC198}" sibTransId="{BE6CDEA2-33DA-FA49-A065-30859774E0CE}"/>
    <dgm:cxn modelId="{D340CFA7-6742-4349-9FD2-C5F7296A6BF9}" srcId="{BE051CFF-8881-D04F-BD04-DFC014D0DAF1}" destId="{5BE08689-3AA9-104E-81A4-12868E553484}" srcOrd="0" destOrd="0" parTransId="{01833C51-8EE4-154F-819B-F60023C6EF7C}" sibTransId="{F0D94DDE-77FE-2B40-BA16-42E5A383E9ED}"/>
    <dgm:cxn modelId="{ACC0DEC4-10B9-394C-975B-A60B6794376B}" type="presOf" srcId="{5BE08689-3AA9-104E-81A4-12868E553484}" destId="{9E21883B-CCBF-064E-8249-6BA629C3D753}" srcOrd="0" destOrd="0" presId="urn:microsoft.com/office/officeart/2005/8/layout/vList5"/>
    <dgm:cxn modelId="{38E6DECA-1F94-9B4B-8986-E07AF341744A}" type="presOf" srcId="{C9ADBB25-1B11-6949-946F-8475489FF196}" destId="{375FE634-B8D1-1240-ACC6-A313704A3E38}" srcOrd="0" destOrd="0" presId="urn:microsoft.com/office/officeart/2005/8/layout/vList5"/>
    <dgm:cxn modelId="{2697DACD-8DF9-EB4A-ACAD-BF9C6C40F21E}" srcId="{BE051CFF-8881-D04F-BD04-DFC014D0DAF1}" destId="{DDF6325B-D2A4-1E4F-A4DA-D6E86E908CF4}" srcOrd="2" destOrd="0" parTransId="{9BC93C8A-A696-2C4B-893B-7F90D1AD4527}" sibTransId="{FE25CD52-311B-1549-BC72-7AF5B01B3DE0}"/>
    <dgm:cxn modelId="{B35A84E0-3CFF-5842-8294-E0DA91A4BF86}" type="presOf" srcId="{ACFF29D7-7C78-5842-908F-7F3E6388AE63}" destId="{375FE634-B8D1-1240-ACC6-A313704A3E38}" srcOrd="0" destOrd="1" presId="urn:microsoft.com/office/officeart/2005/8/layout/vList5"/>
    <dgm:cxn modelId="{A96751EC-DF2A-B54C-9802-87234F611092}" srcId="{8A10FC11-B339-7E4B-9C82-BF7D73076529}" destId="{11AD9FC1-8F3F-7644-9055-6FEA621AB2FF}" srcOrd="0" destOrd="0" parTransId="{B9BE5660-D187-3742-AAE4-013269B18CD3}" sibTransId="{A4499FA3-7182-7241-A98A-1AB46B449273}"/>
    <dgm:cxn modelId="{9134EDEF-54BF-1C49-97F8-7A35D5006233}" type="presOf" srcId="{BE051CFF-8881-D04F-BD04-DFC014D0DAF1}" destId="{A6465908-A096-E54E-8EDE-025FDCF0EA5A}" srcOrd="0" destOrd="0" presId="urn:microsoft.com/office/officeart/2005/8/layout/vList5"/>
    <dgm:cxn modelId="{3A2B5DF2-3BD2-934F-BD18-460453FAA867}" type="presOf" srcId="{5CFAB2EA-3473-494D-96A5-90AD3C34FD4A}" destId="{E0A56D6F-8DE4-6B44-97C6-6A960873A09A}" srcOrd="0" destOrd="1" presId="urn:microsoft.com/office/officeart/2005/8/layout/vList5"/>
    <dgm:cxn modelId="{B0D33985-85C4-1E4D-A4FB-8074F7E0DB41}" type="presParOf" srcId="{A6465908-A096-E54E-8EDE-025FDCF0EA5A}" destId="{A84FD008-0632-D849-ABB1-6C17D7BC8A95}" srcOrd="0" destOrd="0" presId="urn:microsoft.com/office/officeart/2005/8/layout/vList5"/>
    <dgm:cxn modelId="{F83107F7-95FB-824C-8AC7-A37FF37E1EDC}" type="presParOf" srcId="{A84FD008-0632-D849-ABB1-6C17D7BC8A95}" destId="{9E21883B-CCBF-064E-8249-6BA629C3D753}" srcOrd="0" destOrd="0" presId="urn:microsoft.com/office/officeart/2005/8/layout/vList5"/>
    <dgm:cxn modelId="{B5668B76-C2BC-1443-A57A-F50CFD4A1A55}" type="presParOf" srcId="{A84FD008-0632-D849-ABB1-6C17D7BC8A95}" destId="{375FE634-B8D1-1240-ACC6-A313704A3E38}" srcOrd="1" destOrd="0" presId="urn:microsoft.com/office/officeart/2005/8/layout/vList5"/>
    <dgm:cxn modelId="{E2B3778A-B963-0041-99AB-B13C3BF2148A}" type="presParOf" srcId="{A6465908-A096-E54E-8EDE-025FDCF0EA5A}" destId="{E7515A31-6E2D-2245-B198-72194C019753}" srcOrd="1" destOrd="0" presId="urn:microsoft.com/office/officeart/2005/8/layout/vList5"/>
    <dgm:cxn modelId="{C550EC15-DDEF-4D48-998D-DC2982B71936}" type="presParOf" srcId="{A6465908-A096-E54E-8EDE-025FDCF0EA5A}" destId="{C00A8752-A394-4F47-A7A8-1B15FA5DE831}" srcOrd="2" destOrd="0" presId="urn:microsoft.com/office/officeart/2005/8/layout/vList5"/>
    <dgm:cxn modelId="{B183DB2D-989D-6448-8F8D-446D70C08072}" type="presParOf" srcId="{C00A8752-A394-4F47-A7A8-1B15FA5DE831}" destId="{BE842771-CD70-CD4B-B1E6-E994C8E09E9A}" srcOrd="0" destOrd="0" presId="urn:microsoft.com/office/officeart/2005/8/layout/vList5"/>
    <dgm:cxn modelId="{63759A4C-2151-E54E-BFC8-D62A6EF826F4}" type="presParOf" srcId="{C00A8752-A394-4F47-A7A8-1B15FA5DE831}" destId="{0E4469F9-8266-0542-B9E3-48EC754A2F33}" srcOrd="1" destOrd="0" presId="urn:microsoft.com/office/officeart/2005/8/layout/vList5"/>
    <dgm:cxn modelId="{FAC3B040-DC83-1448-9652-0BE304741F9D}" type="presParOf" srcId="{A6465908-A096-E54E-8EDE-025FDCF0EA5A}" destId="{FA32C4BD-DD08-C147-AE58-BD2872C30029}" srcOrd="3" destOrd="0" presId="urn:microsoft.com/office/officeart/2005/8/layout/vList5"/>
    <dgm:cxn modelId="{B4168C32-376C-1441-9FE6-8B91FF762A41}" type="presParOf" srcId="{A6465908-A096-E54E-8EDE-025FDCF0EA5A}" destId="{011D87AE-110D-0F4C-B604-4C347EB16344}" srcOrd="4" destOrd="0" presId="urn:microsoft.com/office/officeart/2005/8/layout/vList5"/>
    <dgm:cxn modelId="{888069CE-040B-C845-A1BE-1C6DEAC4C6E2}" type="presParOf" srcId="{011D87AE-110D-0F4C-B604-4C347EB16344}" destId="{D017B7D8-7BD6-B241-BBC2-F0221D2E884F}" srcOrd="0" destOrd="0" presId="urn:microsoft.com/office/officeart/2005/8/layout/vList5"/>
    <dgm:cxn modelId="{EDC401C1-F08E-3D48-A2BD-A912813A7EC4}" type="presParOf" srcId="{011D87AE-110D-0F4C-B604-4C347EB16344}" destId="{E0A56D6F-8DE4-6B44-97C6-6A960873A09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051CFF-8881-D04F-BD04-DFC014D0DAF1}" type="doc">
      <dgm:prSet loTypeId="urn:microsoft.com/office/officeart/2005/8/layout/vList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5BE08689-3AA9-104E-81A4-12868E553484}">
      <dgm:prSet phldrT="[Texto]"/>
      <dgm:spPr>
        <a:solidFill>
          <a:srgbClr val="00B0F0"/>
        </a:solidFill>
      </dgm:spPr>
      <dgm:t>
        <a:bodyPr/>
        <a:lstStyle/>
        <a:p>
          <a:r>
            <a:rPr lang="es-ES" dirty="0"/>
            <a:t>GPU -&gt; RAM</a:t>
          </a:r>
        </a:p>
      </dgm:t>
    </dgm:pt>
    <dgm:pt modelId="{01833C51-8EE4-154F-819B-F60023C6EF7C}" type="parTrans" cxnId="{D340CFA7-6742-4349-9FD2-C5F7296A6BF9}">
      <dgm:prSet/>
      <dgm:spPr/>
      <dgm:t>
        <a:bodyPr/>
        <a:lstStyle/>
        <a:p>
          <a:endParaRPr lang="es-ES"/>
        </a:p>
      </dgm:t>
    </dgm:pt>
    <dgm:pt modelId="{F0D94DDE-77FE-2B40-BA16-42E5A383E9ED}" type="sibTrans" cxnId="{D340CFA7-6742-4349-9FD2-C5F7296A6BF9}">
      <dgm:prSet/>
      <dgm:spPr/>
      <dgm:t>
        <a:bodyPr/>
        <a:lstStyle/>
        <a:p>
          <a:endParaRPr lang="es-ES"/>
        </a:p>
      </dgm:t>
    </dgm:pt>
    <dgm:pt modelId="{8A10FC11-B339-7E4B-9C82-BF7D73076529}">
      <dgm:prSet phldrT="[Texto]"/>
      <dgm:spPr>
        <a:solidFill>
          <a:schemeClr val="accent1"/>
        </a:solidFill>
      </dgm:spPr>
      <dgm:t>
        <a:bodyPr/>
        <a:lstStyle/>
        <a:p>
          <a:r>
            <a:rPr lang="es-ES" dirty="0"/>
            <a:t>RAM -&gt; RAM</a:t>
          </a:r>
        </a:p>
      </dgm:t>
    </dgm:pt>
    <dgm:pt modelId="{F5C0DAD7-1FB2-FA42-AD6D-31CA508FC198}" type="parTrans" cxnId="{1FC78091-5CAD-FA40-B77B-93409FE39A38}">
      <dgm:prSet/>
      <dgm:spPr/>
      <dgm:t>
        <a:bodyPr/>
        <a:lstStyle/>
        <a:p>
          <a:endParaRPr lang="es-ES"/>
        </a:p>
      </dgm:t>
    </dgm:pt>
    <dgm:pt modelId="{BE6CDEA2-33DA-FA49-A065-30859774E0CE}" type="sibTrans" cxnId="{1FC78091-5CAD-FA40-B77B-93409FE39A38}">
      <dgm:prSet/>
      <dgm:spPr/>
      <dgm:t>
        <a:bodyPr/>
        <a:lstStyle/>
        <a:p>
          <a:endParaRPr lang="es-ES"/>
        </a:p>
      </dgm:t>
    </dgm:pt>
    <dgm:pt modelId="{DDF6325B-D2A4-1E4F-A4DA-D6E86E908CF4}">
      <dgm:prSet phldrT="[Texto]"/>
      <dgm:spPr>
        <a:solidFill>
          <a:srgbClr val="FF0000"/>
        </a:solidFill>
      </dgm:spPr>
      <dgm:t>
        <a:bodyPr/>
        <a:lstStyle/>
        <a:p>
          <a:r>
            <a:rPr lang="es-ES" dirty="0"/>
            <a:t>RAM -&gt; Network</a:t>
          </a:r>
        </a:p>
      </dgm:t>
    </dgm:pt>
    <dgm:pt modelId="{9BC93C8A-A696-2C4B-893B-7F90D1AD4527}" type="parTrans" cxnId="{2697DACD-8DF9-EB4A-ACAD-BF9C6C40F21E}">
      <dgm:prSet/>
      <dgm:spPr/>
      <dgm:t>
        <a:bodyPr/>
        <a:lstStyle/>
        <a:p>
          <a:endParaRPr lang="es-ES"/>
        </a:p>
      </dgm:t>
    </dgm:pt>
    <dgm:pt modelId="{FE25CD52-311B-1549-BC72-7AF5B01B3DE0}" type="sibTrans" cxnId="{2697DACD-8DF9-EB4A-ACAD-BF9C6C40F21E}">
      <dgm:prSet/>
      <dgm:spPr/>
      <dgm:t>
        <a:bodyPr/>
        <a:lstStyle/>
        <a:p>
          <a:endParaRPr lang="es-ES"/>
        </a:p>
      </dgm:t>
    </dgm:pt>
    <dgm:pt modelId="{A6465908-A096-E54E-8EDE-025FDCF0EA5A}" type="pres">
      <dgm:prSet presAssocID="{BE051CFF-8881-D04F-BD04-DFC014D0DAF1}" presName="Name0" presStyleCnt="0">
        <dgm:presLayoutVars>
          <dgm:dir/>
          <dgm:animLvl val="lvl"/>
          <dgm:resizeHandles val="exact"/>
        </dgm:presLayoutVars>
      </dgm:prSet>
      <dgm:spPr/>
    </dgm:pt>
    <dgm:pt modelId="{A84FD008-0632-D849-ABB1-6C17D7BC8A95}" type="pres">
      <dgm:prSet presAssocID="{5BE08689-3AA9-104E-81A4-12868E553484}" presName="linNode" presStyleCnt="0"/>
      <dgm:spPr/>
    </dgm:pt>
    <dgm:pt modelId="{9E21883B-CCBF-064E-8249-6BA629C3D753}" type="pres">
      <dgm:prSet presAssocID="{5BE08689-3AA9-104E-81A4-12868E553484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7515A31-6E2D-2245-B198-72194C019753}" type="pres">
      <dgm:prSet presAssocID="{F0D94DDE-77FE-2B40-BA16-42E5A383E9ED}" presName="sp" presStyleCnt="0"/>
      <dgm:spPr/>
    </dgm:pt>
    <dgm:pt modelId="{C00A8752-A394-4F47-A7A8-1B15FA5DE831}" type="pres">
      <dgm:prSet presAssocID="{8A10FC11-B339-7E4B-9C82-BF7D73076529}" presName="linNode" presStyleCnt="0"/>
      <dgm:spPr/>
    </dgm:pt>
    <dgm:pt modelId="{BE842771-CD70-CD4B-B1E6-E994C8E09E9A}" type="pres">
      <dgm:prSet presAssocID="{8A10FC11-B339-7E4B-9C82-BF7D73076529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FA32C4BD-DD08-C147-AE58-BD2872C30029}" type="pres">
      <dgm:prSet presAssocID="{BE6CDEA2-33DA-FA49-A065-30859774E0CE}" presName="sp" presStyleCnt="0"/>
      <dgm:spPr/>
    </dgm:pt>
    <dgm:pt modelId="{011D87AE-110D-0F4C-B604-4C347EB16344}" type="pres">
      <dgm:prSet presAssocID="{DDF6325B-D2A4-1E4F-A4DA-D6E86E908CF4}" presName="linNode" presStyleCnt="0"/>
      <dgm:spPr/>
    </dgm:pt>
    <dgm:pt modelId="{D017B7D8-7BD6-B241-BBC2-F0221D2E884F}" type="pres">
      <dgm:prSet presAssocID="{DDF6325B-D2A4-1E4F-A4DA-D6E86E908CF4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C959F700-A0E4-1B44-A3FE-F2E09D4B3AAC}" type="presOf" srcId="{8A10FC11-B339-7E4B-9C82-BF7D73076529}" destId="{BE842771-CD70-CD4B-B1E6-E994C8E09E9A}" srcOrd="0" destOrd="0" presId="urn:microsoft.com/office/officeart/2005/8/layout/vList5"/>
    <dgm:cxn modelId="{26F4AB79-D017-314E-9EC8-FAD244002B19}" type="presOf" srcId="{DDF6325B-D2A4-1E4F-A4DA-D6E86E908CF4}" destId="{D017B7D8-7BD6-B241-BBC2-F0221D2E884F}" srcOrd="0" destOrd="0" presId="urn:microsoft.com/office/officeart/2005/8/layout/vList5"/>
    <dgm:cxn modelId="{1FC78091-5CAD-FA40-B77B-93409FE39A38}" srcId="{BE051CFF-8881-D04F-BD04-DFC014D0DAF1}" destId="{8A10FC11-B339-7E4B-9C82-BF7D73076529}" srcOrd="1" destOrd="0" parTransId="{F5C0DAD7-1FB2-FA42-AD6D-31CA508FC198}" sibTransId="{BE6CDEA2-33DA-FA49-A065-30859774E0CE}"/>
    <dgm:cxn modelId="{D340CFA7-6742-4349-9FD2-C5F7296A6BF9}" srcId="{BE051CFF-8881-D04F-BD04-DFC014D0DAF1}" destId="{5BE08689-3AA9-104E-81A4-12868E553484}" srcOrd="0" destOrd="0" parTransId="{01833C51-8EE4-154F-819B-F60023C6EF7C}" sibTransId="{F0D94DDE-77FE-2B40-BA16-42E5A383E9ED}"/>
    <dgm:cxn modelId="{ACC0DEC4-10B9-394C-975B-A60B6794376B}" type="presOf" srcId="{5BE08689-3AA9-104E-81A4-12868E553484}" destId="{9E21883B-CCBF-064E-8249-6BA629C3D753}" srcOrd="0" destOrd="0" presId="urn:microsoft.com/office/officeart/2005/8/layout/vList5"/>
    <dgm:cxn modelId="{2697DACD-8DF9-EB4A-ACAD-BF9C6C40F21E}" srcId="{BE051CFF-8881-D04F-BD04-DFC014D0DAF1}" destId="{DDF6325B-D2A4-1E4F-A4DA-D6E86E908CF4}" srcOrd="2" destOrd="0" parTransId="{9BC93C8A-A696-2C4B-893B-7F90D1AD4527}" sibTransId="{FE25CD52-311B-1549-BC72-7AF5B01B3DE0}"/>
    <dgm:cxn modelId="{9134EDEF-54BF-1C49-97F8-7A35D5006233}" type="presOf" srcId="{BE051CFF-8881-D04F-BD04-DFC014D0DAF1}" destId="{A6465908-A096-E54E-8EDE-025FDCF0EA5A}" srcOrd="0" destOrd="0" presId="urn:microsoft.com/office/officeart/2005/8/layout/vList5"/>
    <dgm:cxn modelId="{B0D33985-85C4-1E4D-A4FB-8074F7E0DB41}" type="presParOf" srcId="{A6465908-A096-E54E-8EDE-025FDCF0EA5A}" destId="{A84FD008-0632-D849-ABB1-6C17D7BC8A95}" srcOrd="0" destOrd="0" presId="urn:microsoft.com/office/officeart/2005/8/layout/vList5"/>
    <dgm:cxn modelId="{F83107F7-95FB-824C-8AC7-A37FF37E1EDC}" type="presParOf" srcId="{A84FD008-0632-D849-ABB1-6C17D7BC8A95}" destId="{9E21883B-CCBF-064E-8249-6BA629C3D753}" srcOrd="0" destOrd="0" presId="urn:microsoft.com/office/officeart/2005/8/layout/vList5"/>
    <dgm:cxn modelId="{E2B3778A-B963-0041-99AB-B13C3BF2148A}" type="presParOf" srcId="{A6465908-A096-E54E-8EDE-025FDCF0EA5A}" destId="{E7515A31-6E2D-2245-B198-72194C019753}" srcOrd="1" destOrd="0" presId="urn:microsoft.com/office/officeart/2005/8/layout/vList5"/>
    <dgm:cxn modelId="{C550EC15-DDEF-4D48-998D-DC2982B71936}" type="presParOf" srcId="{A6465908-A096-E54E-8EDE-025FDCF0EA5A}" destId="{C00A8752-A394-4F47-A7A8-1B15FA5DE831}" srcOrd="2" destOrd="0" presId="urn:microsoft.com/office/officeart/2005/8/layout/vList5"/>
    <dgm:cxn modelId="{B183DB2D-989D-6448-8F8D-446D70C08072}" type="presParOf" srcId="{C00A8752-A394-4F47-A7A8-1B15FA5DE831}" destId="{BE842771-CD70-CD4B-B1E6-E994C8E09E9A}" srcOrd="0" destOrd="0" presId="urn:microsoft.com/office/officeart/2005/8/layout/vList5"/>
    <dgm:cxn modelId="{FAC3B040-DC83-1448-9652-0BE304741F9D}" type="presParOf" srcId="{A6465908-A096-E54E-8EDE-025FDCF0EA5A}" destId="{FA32C4BD-DD08-C147-AE58-BD2872C30029}" srcOrd="3" destOrd="0" presId="urn:microsoft.com/office/officeart/2005/8/layout/vList5"/>
    <dgm:cxn modelId="{B4168C32-376C-1441-9FE6-8B91FF762A41}" type="presParOf" srcId="{A6465908-A096-E54E-8EDE-025FDCF0EA5A}" destId="{011D87AE-110D-0F4C-B604-4C347EB16344}" srcOrd="4" destOrd="0" presId="urn:microsoft.com/office/officeart/2005/8/layout/vList5"/>
    <dgm:cxn modelId="{888069CE-040B-C845-A1BE-1C6DEAC4C6E2}" type="presParOf" srcId="{011D87AE-110D-0F4C-B604-4C347EB16344}" destId="{D017B7D8-7BD6-B241-BBC2-F0221D2E884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E051CFF-8881-D04F-BD04-DFC014D0DAF1}" type="doc">
      <dgm:prSet loTypeId="urn:microsoft.com/office/officeart/2005/8/layout/vList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5BE08689-3AA9-104E-81A4-12868E553484}">
      <dgm:prSet phldrT="[Texto]"/>
      <dgm:spPr>
        <a:solidFill>
          <a:srgbClr val="00B0F0"/>
        </a:solidFill>
      </dgm:spPr>
      <dgm:t>
        <a:bodyPr/>
        <a:lstStyle/>
        <a:p>
          <a:r>
            <a:rPr lang="es-ES" dirty="0"/>
            <a:t>GPU -&gt; RAM</a:t>
          </a:r>
        </a:p>
      </dgm:t>
    </dgm:pt>
    <dgm:pt modelId="{01833C51-8EE4-154F-819B-F60023C6EF7C}" type="parTrans" cxnId="{D340CFA7-6742-4349-9FD2-C5F7296A6BF9}">
      <dgm:prSet/>
      <dgm:spPr/>
      <dgm:t>
        <a:bodyPr/>
        <a:lstStyle/>
        <a:p>
          <a:endParaRPr lang="es-ES"/>
        </a:p>
      </dgm:t>
    </dgm:pt>
    <dgm:pt modelId="{F0D94DDE-77FE-2B40-BA16-42E5A383E9ED}" type="sibTrans" cxnId="{D340CFA7-6742-4349-9FD2-C5F7296A6BF9}">
      <dgm:prSet/>
      <dgm:spPr/>
      <dgm:t>
        <a:bodyPr/>
        <a:lstStyle/>
        <a:p>
          <a:endParaRPr lang="es-ES"/>
        </a:p>
      </dgm:t>
    </dgm:pt>
    <dgm:pt modelId="{DDF6325B-D2A4-1E4F-A4DA-D6E86E908CF4}">
      <dgm:prSet phldrT="[Texto]"/>
      <dgm:spPr>
        <a:solidFill>
          <a:srgbClr val="FF0000"/>
        </a:solidFill>
      </dgm:spPr>
      <dgm:t>
        <a:bodyPr/>
        <a:lstStyle/>
        <a:p>
          <a:r>
            <a:rPr lang="es-ES" dirty="0"/>
            <a:t>RAM -&gt; Network</a:t>
          </a:r>
        </a:p>
      </dgm:t>
    </dgm:pt>
    <dgm:pt modelId="{9BC93C8A-A696-2C4B-893B-7F90D1AD4527}" type="parTrans" cxnId="{2697DACD-8DF9-EB4A-ACAD-BF9C6C40F21E}">
      <dgm:prSet/>
      <dgm:spPr/>
      <dgm:t>
        <a:bodyPr/>
        <a:lstStyle/>
        <a:p>
          <a:endParaRPr lang="es-ES"/>
        </a:p>
      </dgm:t>
    </dgm:pt>
    <dgm:pt modelId="{FE25CD52-311B-1549-BC72-7AF5B01B3DE0}" type="sibTrans" cxnId="{2697DACD-8DF9-EB4A-ACAD-BF9C6C40F21E}">
      <dgm:prSet/>
      <dgm:spPr/>
      <dgm:t>
        <a:bodyPr/>
        <a:lstStyle/>
        <a:p>
          <a:endParaRPr lang="es-ES"/>
        </a:p>
      </dgm:t>
    </dgm:pt>
    <dgm:pt modelId="{A6465908-A096-E54E-8EDE-025FDCF0EA5A}" type="pres">
      <dgm:prSet presAssocID="{BE051CFF-8881-D04F-BD04-DFC014D0DAF1}" presName="Name0" presStyleCnt="0">
        <dgm:presLayoutVars>
          <dgm:dir/>
          <dgm:animLvl val="lvl"/>
          <dgm:resizeHandles val="exact"/>
        </dgm:presLayoutVars>
      </dgm:prSet>
      <dgm:spPr/>
    </dgm:pt>
    <dgm:pt modelId="{A84FD008-0632-D849-ABB1-6C17D7BC8A95}" type="pres">
      <dgm:prSet presAssocID="{5BE08689-3AA9-104E-81A4-12868E553484}" presName="linNode" presStyleCnt="0"/>
      <dgm:spPr/>
    </dgm:pt>
    <dgm:pt modelId="{9E21883B-CCBF-064E-8249-6BA629C3D753}" type="pres">
      <dgm:prSet presAssocID="{5BE08689-3AA9-104E-81A4-12868E553484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E7515A31-6E2D-2245-B198-72194C019753}" type="pres">
      <dgm:prSet presAssocID="{F0D94DDE-77FE-2B40-BA16-42E5A383E9ED}" presName="sp" presStyleCnt="0"/>
      <dgm:spPr/>
    </dgm:pt>
    <dgm:pt modelId="{011D87AE-110D-0F4C-B604-4C347EB16344}" type="pres">
      <dgm:prSet presAssocID="{DDF6325B-D2A4-1E4F-A4DA-D6E86E908CF4}" presName="linNode" presStyleCnt="0"/>
      <dgm:spPr/>
    </dgm:pt>
    <dgm:pt modelId="{D017B7D8-7BD6-B241-BBC2-F0221D2E884F}" type="pres">
      <dgm:prSet presAssocID="{DDF6325B-D2A4-1E4F-A4DA-D6E86E908CF4}" presName="parentText" presStyleLbl="node1" presStyleIdx="1" presStyleCnt="2">
        <dgm:presLayoutVars>
          <dgm:chMax val="1"/>
          <dgm:bulletEnabled val="1"/>
        </dgm:presLayoutVars>
      </dgm:prSet>
      <dgm:spPr/>
    </dgm:pt>
  </dgm:ptLst>
  <dgm:cxnLst>
    <dgm:cxn modelId="{26F4AB79-D017-314E-9EC8-FAD244002B19}" type="presOf" srcId="{DDF6325B-D2A4-1E4F-A4DA-D6E86E908CF4}" destId="{D017B7D8-7BD6-B241-BBC2-F0221D2E884F}" srcOrd="0" destOrd="0" presId="urn:microsoft.com/office/officeart/2005/8/layout/vList5"/>
    <dgm:cxn modelId="{D340CFA7-6742-4349-9FD2-C5F7296A6BF9}" srcId="{BE051CFF-8881-D04F-BD04-DFC014D0DAF1}" destId="{5BE08689-3AA9-104E-81A4-12868E553484}" srcOrd="0" destOrd="0" parTransId="{01833C51-8EE4-154F-819B-F60023C6EF7C}" sibTransId="{F0D94DDE-77FE-2B40-BA16-42E5A383E9ED}"/>
    <dgm:cxn modelId="{ACC0DEC4-10B9-394C-975B-A60B6794376B}" type="presOf" srcId="{5BE08689-3AA9-104E-81A4-12868E553484}" destId="{9E21883B-CCBF-064E-8249-6BA629C3D753}" srcOrd="0" destOrd="0" presId="urn:microsoft.com/office/officeart/2005/8/layout/vList5"/>
    <dgm:cxn modelId="{2697DACD-8DF9-EB4A-ACAD-BF9C6C40F21E}" srcId="{BE051CFF-8881-D04F-BD04-DFC014D0DAF1}" destId="{DDF6325B-D2A4-1E4F-A4DA-D6E86E908CF4}" srcOrd="1" destOrd="0" parTransId="{9BC93C8A-A696-2C4B-893B-7F90D1AD4527}" sibTransId="{FE25CD52-311B-1549-BC72-7AF5B01B3DE0}"/>
    <dgm:cxn modelId="{9134EDEF-54BF-1C49-97F8-7A35D5006233}" type="presOf" srcId="{BE051CFF-8881-D04F-BD04-DFC014D0DAF1}" destId="{A6465908-A096-E54E-8EDE-025FDCF0EA5A}" srcOrd="0" destOrd="0" presId="urn:microsoft.com/office/officeart/2005/8/layout/vList5"/>
    <dgm:cxn modelId="{B0D33985-85C4-1E4D-A4FB-8074F7E0DB41}" type="presParOf" srcId="{A6465908-A096-E54E-8EDE-025FDCF0EA5A}" destId="{A84FD008-0632-D849-ABB1-6C17D7BC8A95}" srcOrd="0" destOrd="0" presId="urn:microsoft.com/office/officeart/2005/8/layout/vList5"/>
    <dgm:cxn modelId="{F83107F7-95FB-824C-8AC7-A37FF37E1EDC}" type="presParOf" srcId="{A84FD008-0632-D849-ABB1-6C17D7BC8A95}" destId="{9E21883B-CCBF-064E-8249-6BA629C3D753}" srcOrd="0" destOrd="0" presId="urn:microsoft.com/office/officeart/2005/8/layout/vList5"/>
    <dgm:cxn modelId="{E2B3778A-B963-0041-99AB-B13C3BF2148A}" type="presParOf" srcId="{A6465908-A096-E54E-8EDE-025FDCF0EA5A}" destId="{E7515A31-6E2D-2245-B198-72194C019753}" srcOrd="1" destOrd="0" presId="urn:microsoft.com/office/officeart/2005/8/layout/vList5"/>
    <dgm:cxn modelId="{B4168C32-376C-1441-9FE6-8B91FF762A41}" type="presParOf" srcId="{A6465908-A096-E54E-8EDE-025FDCF0EA5A}" destId="{011D87AE-110D-0F4C-B604-4C347EB16344}" srcOrd="2" destOrd="0" presId="urn:microsoft.com/office/officeart/2005/8/layout/vList5"/>
    <dgm:cxn modelId="{888069CE-040B-C845-A1BE-1C6DEAC4C6E2}" type="presParOf" srcId="{011D87AE-110D-0F4C-B604-4C347EB16344}" destId="{D017B7D8-7BD6-B241-BBC2-F0221D2E884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76B68E-B48E-488B-98DE-8ECDFA2FDF33}">
      <dsp:nvSpPr>
        <dsp:cNvPr id="0" name=""/>
        <dsp:cNvSpPr/>
      </dsp:nvSpPr>
      <dsp:spPr>
        <a:xfrm>
          <a:off x="426768" y="1392189"/>
          <a:ext cx="691347" cy="6913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99FE86-5179-4790-BB20-60A2E010AAF2}">
      <dsp:nvSpPr>
        <dsp:cNvPr id="0" name=""/>
        <dsp:cNvSpPr/>
      </dsp:nvSpPr>
      <dsp:spPr>
        <a:xfrm>
          <a:off x="4278" y="2344617"/>
          <a:ext cx="1536328" cy="61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Optimización avanzada para hardware GPU</a:t>
          </a:r>
          <a:endParaRPr lang="en-US" sz="1300" kern="1200"/>
        </a:p>
      </dsp:txBody>
      <dsp:txXfrm>
        <a:off x="4278" y="2344617"/>
        <a:ext cx="1536328" cy="614531"/>
      </dsp:txXfrm>
    </dsp:sp>
    <dsp:sp modelId="{E6473EBB-566F-443B-BE6C-0690E2540526}">
      <dsp:nvSpPr>
        <dsp:cNvPr id="0" name=""/>
        <dsp:cNvSpPr/>
      </dsp:nvSpPr>
      <dsp:spPr>
        <a:xfrm>
          <a:off x="2231954" y="1392189"/>
          <a:ext cx="691347" cy="6913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69D3D-DC94-4F52-A651-5831D2E4F629}">
      <dsp:nvSpPr>
        <dsp:cNvPr id="0" name=""/>
        <dsp:cNvSpPr/>
      </dsp:nvSpPr>
      <dsp:spPr>
        <a:xfrm>
          <a:off x="1809463" y="2344617"/>
          <a:ext cx="1536328" cy="61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Reducción significativa del tiempo de ejecución</a:t>
          </a:r>
          <a:endParaRPr lang="en-US" sz="1300" kern="1200"/>
        </a:p>
      </dsp:txBody>
      <dsp:txXfrm>
        <a:off x="1809463" y="2344617"/>
        <a:ext cx="1536328" cy="614531"/>
      </dsp:txXfrm>
    </dsp:sp>
    <dsp:sp modelId="{D6F67FC9-4979-4BF0-BDFE-542F9F2F2F0A}">
      <dsp:nvSpPr>
        <dsp:cNvPr id="0" name=""/>
        <dsp:cNvSpPr/>
      </dsp:nvSpPr>
      <dsp:spPr>
        <a:xfrm>
          <a:off x="4037139" y="1392189"/>
          <a:ext cx="691347" cy="6913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33FB45-C07F-428F-9D85-B014A7112D5B}">
      <dsp:nvSpPr>
        <dsp:cNvPr id="0" name=""/>
        <dsp:cNvSpPr/>
      </dsp:nvSpPr>
      <dsp:spPr>
        <a:xfrm>
          <a:off x="3614649" y="2344617"/>
          <a:ext cx="1536328" cy="61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Facilidad de desarrollo y menor complejidad</a:t>
          </a:r>
          <a:endParaRPr lang="en-US" sz="1300" kern="1200"/>
        </a:p>
      </dsp:txBody>
      <dsp:txXfrm>
        <a:off x="3614649" y="2344617"/>
        <a:ext cx="1536328" cy="614531"/>
      </dsp:txXfrm>
    </dsp:sp>
    <dsp:sp modelId="{25ADAD28-2537-497D-9B51-8F899CCCA040}">
      <dsp:nvSpPr>
        <dsp:cNvPr id="0" name=""/>
        <dsp:cNvSpPr/>
      </dsp:nvSpPr>
      <dsp:spPr>
        <a:xfrm>
          <a:off x="5842325" y="1392189"/>
          <a:ext cx="691347" cy="6913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CA1201-DE33-45F9-B9DC-17839E65EBD2}">
      <dsp:nvSpPr>
        <dsp:cNvPr id="0" name=""/>
        <dsp:cNvSpPr/>
      </dsp:nvSpPr>
      <dsp:spPr>
        <a:xfrm>
          <a:off x="5419834" y="2344617"/>
          <a:ext cx="1536328" cy="61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Mejora en precisión numérica y escalabilidad</a:t>
          </a:r>
          <a:endParaRPr lang="en-US" sz="1300" kern="1200"/>
        </a:p>
      </dsp:txBody>
      <dsp:txXfrm>
        <a:off x="5419834" y="2344617"/>
        <a:ext cx="1536328" cy="614531"/>
      </dsp:txXfrm>
    </dsp:sp>
    <dsp:sp modelId="{17F48C39-38CE-4346-997F-B68D3733C783}">
      <dsp:nvSpPr>
        <dsp:cNvPr id="0" name=""/>
        <dsp:cNvSpPr/>
      </dsp:nvSpPr>
      <dsp:spPr>
        <a:xfrm>
          <a:off x="7647510" y="1392189"/>
          <a:ext cx="691347" cy="6913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1DAA83-5211-41FB-A617-0A996F5505AA}">
      <dsp:nvSpPr>
        <dsp:cNvPr id="0" name=""/>
        <dsp:cNvSpPr/>
      </dsp:nvSpPr>
      <dsp:spPr>
        <a:xfrm>
          <a:off x="7225020" y="2344617"/>
          <a:ext cx="1536328" cy="614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Integración con frameworks y ecosistemas</a:t>
          </a:r>
          <a:endParaRPr lang="en-US" sz="1300" kern="1200"/>
        </a:p>
      </dsp:txBody>
      <dsp:txXfrm>
        <a:off x="7225020" y="2344617"/>
        <a:ext cx="1536328" cy="6145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5FE634-B8D1-1240-ACC6-A313704A3E38}">
      <dsp:nvSpPr>
        <dsp:cNvPr id="0" name=""/>
        <dsp:cNvSpPr/>
      </dsp:nvSpPr>
      <dsp:spPr>
        <a:xfrm rot="5400000">
          <a:off x="1962569" y="-701206"/>
          <a:ext cx="567813" cy="211433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300" kern="1200" dirty="0" err="1"/>
            <a:t>Malloc</a:t>
          </a:r>
          <a:r>
            <a:rPr lang="es-ES" sz="1300" kern="1200" dirty="0"/>
            <a:t> &amp; </a:t>
          </a:r>
          <a:r>
            <a:rPr lang="es-ES" sz="1300" kern="1200" dirty="0" err="1"/>
            <a:t>cudaMalloc</a:t>
          </a:r>
          <a:endParaRPr lang="es-E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300" kern="1200" dirty="0" err="1"/>
            <a:t>cudaMemcpy</a:t>
          </a:r>
          <a:r>
            <a:rPr lang="es-ES" sz="1300" kern="1200" dirty="0"/>
            <a:t> (host2device)</a:t>
          </a:r>
        </a:p>
      </dsp:txBody>
      <dsp:txXfrm rot="-5400000">
        <a:off x="1189311" y="99770"/>
        <a:ext cx="2086612" cy="512377"/>
      </dsp:txXfrm>
    </dsp:sp>
    <dsp:sp modelId="{9E21883B-CCBF-064E-8249-6BA629C3D753}">
      <dsp:nvSpPr>
        <dsp:cNvPr id="0" name=""/>
        <dsp:cNvSpPr/>
      </dsp:nvSpPr>
      <dsp:spPr>
        <a:xfrm>
          <a:off x="0" y="1075"/>
          <a:ext cx="1189311" cy="709766"/>
        </a:xfrm>
        <a:prstGeom prst="roundRect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 dirty="0"/>
            <a:t>CPU</a:t>
          </a:r>
        </a:p>
      </dsp:txBody>
      <dsp:txXfrm>
        <a:off x="34648" y="35723"/>
        <a:ext cx="1120015" cy="640470"/>
      </dsp:txXfrm>
    </dsp:sp>
    <dsp:sp modelId="{0E4469F9-8266-0542-B9E3-48EC754A2F33}">
      <dsp:nvSpPr>
        <dsp:cNvPr id="0" name=""/>
        <dsp:cNvSpPr/>
      </dsp:nvSpPr>
      <dsp:spPr>
        <a:xfrm rot="5400000">
          <a:off x="1962569" y="44048"/>
          <a:ext cx="567813" cy="211433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300" kern="1200" dirty="0" err="1"/>
            <a:t>Kernel</a:t>
          </a:r>
          <a:endParaRPr lang="es-ES" sz="1300" kern="1200" dirty="0"/>
        </a:p>
      </dsp:txBody>
      <dsp:txXfrm rot="-5400000">
        <a:off x="1189311" y="845024"/>
        <a:ext cx="2086612" cy="512377"/>
      </dsp:txXfrm>
    </dsp:sp>
    <dsp:sp modelId="{BE842771-CD70-CD4B-B1E6-E994C8E09E9A}">
      <dsp:nvSpPr>
        <dsp:cNvPr id="0" name=""/>
        <dsp:cNvSpPr/>
      </dsp:nvSpPr>
      <dsp:spPr>
        <a:xfrm>
          <a:off x="0" y="746330"/>
          <a:ext cx="1189311" cy="709766"/>
        </a:xfrm>
        <a:prstGeom prst="roundRect">
          <a:avLst/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 dirty="0"/>
            <a:t>GPU</a:t>
          </a:r>
        </a:p>
      </dsp:txBody>
      <dsp:txXfrm>
        <a:off x="34648" y="780978"/>
        <a:ext cx="1120015" cy="640470"/>
      </dsp:txXfrm>
    </dsp:sp>
    <dsp:sp modelId="{E0A56D6F-8DE4-6B44-97C6-6A960873A09A}">
      <dsp:nvSpPr>
        <dsp:cNvPr id="0" name=""/>
        <dsp:cNvSpPr/>
      </dsp:nvSpPr>
      <dsp:spPr>
        <a:xfrm rot="5400000">
          <a:off x="1962569" y="789303"/>
          <a:ext cx="567813" cy="211433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300" kern="1200" dirty="0" err="1"/>
            <a:t>cudaMemcpy</a:t>
          </a:r>
          <a:r>
            <a:rPr lang="es-ES" sz="1300" kern="1200" dirty="0"/>
            <a:t> (device2host)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300" kern="1200" dirty="0"/>
            <a:t>Free &amp; </a:t>
          </a:r>
          <a:r>
            <a:rPr lang="es-ES" sz="1300" kern="1200" dirty="0" err="1"/>
            <a:t>cudaFree</a:t>
          </a:r>
          <a:endParaRPr lang="es-ES" sz="1300" kern="1200" dirty="0"/>
        </a:p>
      </dsp:txBody>
      <dsp:txXfrm rot="-5400000">
        <a:off x="1189311" y="1590279"/>
        <a:ext cx="2086612" cy="512377"/>
      </dsp:txXfrm>
    </dsp:sp>
    <dsp:sp modelId="{D017B7D8-7BD6-B241-BBC2-F0221D2E884F}">
      <dsp:nvSpPr>
        <dsp:cNvPr id="0" name=""/>
        <dsp:cNvSpPr/>
      </dsp:nvSpPr>
      <dsp:spPr>
        <a:xfrm>
          <a:off x="0" y="1491585"/>
          <a:ext cx="1189311" cy="709766"/>
        </a:xfrm>
        <a:prstGeom prst="roundRect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 dirty="0"/>
            <a:t>CPU</a:t>
          </a:r>
        </a:p>
      </dsp:txBody>
      <dsp:txXfrm>
        <a:off x="34648" y="1526233"/>
        <a:ext cx="1120015" cy="6404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21883B-CCBF-064E-8249-6BA629C3D753}">
      <dsp:nvSpPr>
        <dsp:cNvPr id="0" name=""/>
        <dsp:cNvSpPr/>
      </dsp:nvSpPr>
      <dsp:spPr>
        <a:xfrm>
          <a:off x="974420" y="653"/>
          <a:ext cx="1096222" cy="431605"/>
        </a:xfrm>
        <a:prstGeom prst="roundRect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GPU -&gt; RAM</a:t>
          </a:r>
        </a:p>
      </dsp:txBody>
      <dsp:txXfrm>
        <a:off x="995489" y="21722"/>
        <a:ext cx="1054084" cy="389467"/>
      </dsp:txXfrm>
    </dsp:sp>
    <dsp:sp modelId="{BE842771-CD70-CD4B-B1E6-E994C8E09E9A}">
      <dsp:nvSpPr>
        <dsp:cNvPr id="0" name=""/>
        <dsp:cNvSpPr/>
      </dsp:nvSpPr>
      <dsp:spPr>
        <a:xfrm>
          <a:off x="974420" y="453840"/>
          <a:ext cx="1096222" cy="431605"/>
        </a:xfrm>
        <a:prstGeom prst="round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RAM -&gt; RAM</a:t>
          </a:r>
        </a:p>
      </dsp:txBody>
      <dsp:txXfrm>
        <a:off x="995489" y="474909"/>
        <a:ext cx="1054084" cy="389467"/>
      </dsp:txXfrm>
    </dsp:sp>
    <dsp:sp modelId="{D017B7D8-7BD6-B241-BBC2-F0221D2E884F}">
      <dsp:nvSpPr>
        <dsp:cNvPr id="0" name=""/>
        <dsp:cNvSpPr/>
      </dsp:nvSpPr>
      <dsp:spPr>
        <a:xfrm>
          <a:off x="974420" y="907026"/>
          <a:ext cx="1096222" cy="431605"/>
        </a:xfrm>
        <a:prstGeom prst="roundRect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RAM -&gt; Network</a:t>
          </a:r>
        </a:p>
      </dsp:txBody>
      <dsp:txXfrm>
        <a:off x="995489" y="928095"/>
        <a:ext cx="1054084" cy="3894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21883B-CCBF-064E-8249-6BA629C3D753}">
      <dsp:nvSpPr>
        <dsp:cNvPr id="0" name=""/>
        <dsp:cNvSpPr/>
      </dsp:nvSpPr>
      <dsp:spPr>
        <a:xfrm>
          <a:off x="974420" y="10"/>
          <a:ext cx="1096222" cy="438732"/>
        </a:xfrm>
        <a:prstGeom prst="roundRect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GPU -&gt; RAM</a:t>
          </a:r>
        </a:p>
      </dsp:txBody>
      <dsp:txXfrm>
        <a:off x="995837" y="21427"/>
        <a:ext cx="1053388" cy="395898"/>
      </dsp:txXfrm>
    </dsp:sp>
    <dsp:sp modelId="{D017B7D8-7BD6-B241-BBC2-F0221D2E884F}">
      <dsp:nvSpPr>
        <dsp:cNvPr id="0" name=""/>
        <dsp:cNvSpPr/>
      </dsp:nvSpPr>
      <dsp:spPr>
        <a:xfrm>
          <a:off x="974420" y="460680"/>
          <a:ext cx="1096222" cy="438732"/>
        </a:xfrm>
        <a:prstGeom prst="roundRect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RAM -&gt; Network</a:t>
          </a:r>
        </a:p>
      </dsp:txBody>
      <dsp:txXfrm>
        <a:off x="995837" y="482097"/>
        <a:ext cx="1053388" cy="3958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75B4B9-A29B-9A42-9CAD-0AF6981C3315}" type="datetimeFigureOut">
              <a:rPr lang="es-ES" smtClean="0"/>
              <a:t>2/12/25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738EA-FC7F-AE45-A1FD-53767B45DD7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2817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403C0-913A-7742-B5FC-9A042B5855A5}" type="datetime1">
              <a:rPr lang="es-E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321F-0E61-E643-87CC-2541499331BC}" type="datetime1">
              <a:rPr lang="es-E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FBAE0-F077-C240-A74A-0C8CD5FEC2C4}" type="datetime1">
              <a:rPr lang="es-E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AE7E-EEB7-174A-8E8D-A515C09B213B}" type="datetime1">
              <a:rPr lang="es-ES" smtClean="0"/>
              <a:t>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E95C-740C-6346-9154-87682A9E9A0C}" type="datetime1">
              <a:rPr lang="es-ES" smtClean="0"/>
              <a:t>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AECE7-57A0-774B-8D62-1FF0D625EDBF}" type="datetime1">
              <a:rPr lang="es-ES" smtClean="0"/>
              <a:t>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F7CC5-9923-674D-AABE-F97F7FA2E55B}" type="datetime1">
              <a:rPr lang="es-ES" smtClean="0"/>
              <a:t>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67CAD-A726-354E-A5FA-69BA67C7C123}" type="datetime1">
              <a:rPr lang="es-ES" smtClean="0"/>
              <a:t>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AFC8-D6A4-AA4E-9BB5-3A72955852E5}" type="datetime1">
              <a:rPr lang="es-ES" smtClean="0"/>
              <a:t>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52B2-2067-1044-9A82-A8DD895AADD2}" type="datetime1">
              <a:rPr lang="es-E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5F301-E452-894A-B6E4-A94CF35B9548}" type="datetime1">
              <a:rPr lang="es-E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9F071-CF6F-AA46-B01B-C0058301FEE5}" type="datetime1">
              <a:rPr lang="es-E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14.png"/><Relationship Id="rId7" Type="http://schemas.openxmlformats.org/officeDocument/2006/relationships/diagramLayout" Target="../diagrams/layout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2.xml"/><Relationship Id="rId5" Type="http://schemas.openxmlformats.org/officeDocument/2006/relationships/image" Target="../media/image16.png"/><Relationship Id="rId10" Type="http://schemas.microsoft.com/office/2007/relationships/diagramDrawing" Target="../diagrams/drawing2.xml"/><Relationship Id="rId4" Type="http://schemas.openxmlformats.org/officeDocument/2006/relationships/image" Target="../media/image15.png"/><Relationship Id="rId9" Type="http://schemas.openxmlformats.org/officeDocument/2006/relationships/diagramColors" Target="../diagrams/colors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12" Type="http://schemas.microsoft.com/office/2007/relationships/diagramDrawing" Target="../diagrams/drawing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diagramColors" Target="../diagrams/colors3.xml"/><Relationship Id="rId5" Type="http://schemas.openxmlformats.org/officeDocument/2006/relationships/image" Target="../media/image16.png"/><Relationship Id="rId10" Type="http://schemas.openxmlformats.org/officeDocument/2006/relationships/diagramQuickStyle" Target="../diagrams/quickStyle3.xml"/><Relationship Id="rId4" Type="http://schemas.openxmlformats.org/officeDocument/2006/relationships/image" Target="../media/image15.png"/><Relationship Id="rId9" Type="http://schemas.openxmlformats.org/officeDocument/2006/relationships/diagramLayout" Target="../diagrams/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12" Type="http://schemas.microsoft.com/office/2007/relationships/diagramDrawing" Target="../diagrams/drawing4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diagramColors" Target="../diagrams/colors4.xml"/><Relationship Id="rId5" Type="http://schemas.openxmlformats.org/officeDocument/2006/relationships/image" Target="../media/image16.png"/><Relationship Id="rId10" Type="http://schemas.openxmlformats.org/officeDocument/2006/relationships/diagramQuickStyle" Target="../diagrams/quickStyle4.xml"/><Relationship Id="rId4" Type="http://schemas.openxmlformats.org/officeDocument/2006/relationships/image" Target="../media/image15.png"/><Relationship Id="rId9" Type="http://schemas.openxmlformats.org/officeDocument/2006/relationships/diagramLayout" Target="../diagrams/layout4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3.png"/><Relationship Id="rId7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microsoft.com/office/2007/relationships/hdphoto" Target="../media/hdphoto3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microsoft.com/office/2007/relationships/hdphoto" Target="../media/hdphoto4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Interfaces de Programación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Adrián Castelló y Pedro Alonso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B0EF75-8BD8-4321-E89C-04E7C7B6B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Introducció</a:t>
            </a:r>
            <a:r>
              <a:rPr lang="es-ES" dirty="0"/>
              <a:t>n</a:t>
            </a:r>
            <a:endParaRPr dirty="0"/>
          </a:p>
        </p:txBody>
      </p:sp>
      <p:pic>
        <p:nvPicPr>
          <p:cNvPr id="6" name="Imagen 5" descr="Gráfico, Gráfico de rectángulos&#10;&#10;Descripción generada automáticamente">
            <a:extLst>
              <a:ext uri="{FF2B5EF4-FFF2-40B4-BE49-F238E27FC236}">
                <a16:creationId xmlns:a16="http://schemas.microsoft.com/office/drawing/2014/main" id="{C49B1EB1-5EDD-2807-5306-7F0A30D56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626" y="1600200"/>
            <a:ext cx="5262747" cy="4525963"/>
          </a:xfrm>
          <a:prstGeom prst="rect">
            <a:avLst/>
          </a:prstGeom>
          <a:noFill/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A21AEF81-9634-5859-78FB-64F7884B57C2}"/>
              </a:ext>
            </a:extLst>
          </p:cNvPr>
          <p:cNvSpPr/>
          <p:nvPr/>
        </p:nvSpPr>
        <p:spPr>
          <a:xfrm>
            <a:off x="1639614" y="1965434"/>
            <a:ext cx="5812220" cy="146356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22BD282-D085-060B-456E-4D8205E4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s-ES" sz="4500"/>
              <a:t>Por qué usar bibliotecas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D604DA-F0AC-C455-2479-C6F349C76D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4022115"/>
              </p:ext>
            </p:extLst>
          </p:nvPr>
        </p:nvGraphicFramePr>
        <p:xfrm>
          <a:off x="147145" y="1825625"/>
          <a:ext cx="876562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23A0DC-7B56-0491-D6DE-3F5A19603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0183D-B837-734D-A01C-CD7ED25AE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9DA75-8FDD-949C-1281-A8B23AF52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s-ES" sz="4500" dirty="0"/>
              <a:t>¿Qué bibliotecas?</a:t>
            </a:r>
          </a:p>
        </p:txBody>
      </p:sp>
      <p:pic>
        <p:nvPicPr>
          <p:cNvPr id="1026" name="Picture 2" descr="CUDA 11 Features Revealed | NVIDIA Technical Blog">
            <a:extLst>
              <a:ext uri="{FF2B5EF4-FFF2-40B4-BE49-F238E27FC236}">
                <a16:creationId xmlns:a16="http://schemas.microsoft.com/office/drawing/2014/main" id="{7DF98D79-C539-1862-3967-D41B01CA1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93" y="1690688"/>
            <a:ext cx="7735614" cy="411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CF8124EE-D02E-0560-B6F1-65FF796EE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6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55FE4-0BCC-1A81-14CE-9659783EA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Bibliotecas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CBA9C786-617E-1289-0C98-45EDE26172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2811210"/>
              </p:ext>
            </p:extLst>
          </p:nvPr>
        </p:nvGraphicFramePr>
        <p:xfrm>
          <a:off x="809296" y="1417638"/>
          <a:ext cx="7493874" cy="4715864"/>
        </p:xfrm>
        <a:graphic>
          <a:graphicData uri="http://schemas.openxmlformats.org/drawingml/2006/table">
            <a:tbl>
              <a:tblPr/>
              <a:tblGrid>
                <a:gridCol w="1860332">
                  <a:extLst>
                    <a:ext uri="{9D8B030D-6E8A-4147-A177-3AD203B41FA5}">
                      <a16:colId xmlns:a16="http://schemas.microsoft.com/office/drawing/2014/main" val="3120331663"/>
                    </a:ext>
                  </a:extLst>
                </a:gridCol>
                <a:gridCol w="2669627">
                  <a:extLst>
                    <a:ext uri="{9D8B030D-6E8A-4147-A177-3AD203B41FA5}">
                      <a16:colId xmlns:a16="http://schemas.microsoft.com/office/drawing/2014/main" val="3700567231"/>
                    </a:ext>
                  </a:extLst>
                </a:gridCol>
                <a:gridCol w="2963915">
                  <a:extLst>
                    <a:ext uri="{9D8B030D-6E8A-4147-A177-3AD203B41FA5}">
                      <a16:colId xmlns:a16="http://schemas.microsoft.com/office/drawing/2014/main" val="1238351115"/>
                    </a:ext>
                  </a:extLst>
                </a:gridCol>
              </a:tblGrid>
              <a:tr h="2704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 b="1" dirty="0">
                          <a:effectLst/>
                        </a:rPr>
                        <a:t>Biblioteca CUDA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 b="1">
                          <a:effectLst/>
                        </a:rPr>
                        <a:t>Biblioteca CPU aproximada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 b="1" dirty="0">
                          <a:effectLst/>
                        </a:rPr>
                        <a:t>Campo científico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326626"/>
                  </a:ext>
                </a:extLst>
              </a:tr>
              <a:tr h="4445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cuBLAS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BLAS, Intel MKL, OpenBLAS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Álgebra lineal densa (BLAS) acelerada.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540055"/>
                  </a:ext>
                </a:extLst>
              </a:tr>
              <a:tr h="4445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 dirty="0" err="1">
                          <a:effectLst/>
                        </a:rPr>
                        <a:t>cuSOLVER</a:t>
                      </a:r>
                      <a:endParaRPr lang="es-ES" sz="1100" dirty="0">
                        <a:effectLst/>
                      </a:endParaRP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LAPACK, MKL LAPACK, oneMKL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 dirty="0">
                          <a:effectLst/>
                        </a:rPr>
                        <a:t>Factorizaciones y </a:t>
                      </a:r>
                      <a:r>
                        <a:rPr lang="es-ES" sz="1100" dirty="0" err="1">
                          <a:effectLst/>
                        </a:rPr>
                        <a:t>solvers</a:t>
                      </a:r>
                      <a:r>
                        <a:rPr lang="es-ES" sz="1100" dirty="0">
                          <a:effectLst/>
                        </a:rPr>
                        <a:t> tipo LAPACK.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000363"/>
                  </a:ext>
                </a:extLst>
              </a:tr>
              <a:tr h="4445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cuSPARSE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MKL Sparse, SuiteSparse, Eigen Sparse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Operaciones con matrices dispersas.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28446"/>
                  </a:ext>
                </a:extLst>
              </a:tr>
              <a:tr h="4445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cuFFT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FFTW, MKL FFT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Transformadas rápidas de Fourier.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227658"/>
                  </a:ext>
                </a:extLst>
              </a:tr>
              <a:tr h="4445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cuRAND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MKL RNG, PCG, Random123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Generación de números aleatorios.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868653"/>
                  </a:ext>
                </a:extLst>
              </a:tr>
              <a:tr h="4445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cuDNN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oneDNN (MKL‑DNN), ARM Compute Library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Primitivas de deep learning (convs, etc.).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279093"/>
                  </a:ext>
                </a:extLst>
              </a:tr>
              <a:tr h="4445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NPP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Intel IPP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Procesado de imagen, vídeo y señal.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061844"/>
                  </a:ext>
                </a:extLst>
              </a:tr>
              <a:tr h="4445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nvJPEG / nvJPEG2000 / nvTIFF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libjpeg‑turbo, libjpeg, libtiff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Codificación/decodificación de imágenes.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228431"/>
                  </a:ext>
                </a:extLst>
              </a:tr>
              <a:tr h="4445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nvCOMP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zlib, LZ4, zstd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Compresión y descompresión de datos.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032771"/>
                  </a:ext>
                </a:extLst>
              </a:tr>
              <a:tr h="4445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Thrust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>
                          <a:effectLst/>
                        </a:rPr>
                        <a:t>STL paralela, Intel TBB, OpenMP (algoritmos)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 dirty="0">
                          <a:effectLst/>
                        </a:rPr>
                        <a:t>Algoritmos y contenedores paralelos de alto nivel.</a:t>
                      </a:r>
                    </a:p>
                  </a:txBody>
                  <a:tcPr marL="46373" marR="46373" marT="46373" marB="46373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955012"/>
                  </a:ext>
                </a:extLst>
              </a:tr>
            </a:tbl>
          </a:graphicData>
        </a:graphic>
      </p:graphicFrame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613A1E-69D6-31EB-695F-1DFFF9C4D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73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Kernels manuales vs bibliotecas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Las bibliotecas están programadas con CUDA</a:t>
            </a:r>
          </a:p>
          <a:p>
            <a:r>
              <a:rPr lang="es-ES" dirty="0"/>
              <a:t>¿Por qué son mejores que el manual?</a:t>
            </a:r>
          </a:p>
          <a:p>
            <a:endParaRPr lang="es-ES" dirty="0"/>
          </a:p>
          <a:p>
            <a:r>
              <a:rPr lang="es-ES" dirty="0"/>
              <a:t>Conocimiento del hardware</a:t>
            </a:r>
          </a:p>
          <a:p>
            <a:r>
              <a:rPr lang="es-ES" dirty="0"/>
              <a:t>Optimización por modelo</a:t>
            </a:r>
          </a:p>
          <a:p>
            <a:r>
              <a:rPr lang="es-ES" dirty="0"/>
              <a:t>Funciones no documentadas…</a:t>
            </a:r>
            <a:endParaRPr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B8D032-7B05-E847-F3D9-CDA9C2534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SAXPY CUDA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7805E01-72A8-4B5A-9C35-E6C30C42F46B}"/>
              </a:ext>
            </a:extLst>
          </p:cNvPr>
          <p:cNvSpPr/>
          <p:nvPr/>
        </p:nvSpPr>
        <p:spPr>
          <a:xfrm>
            <a:off x="457200" y="1684283"/>
            <a:ext cx="8229600" cy="19943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__global__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saxpy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n,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*x,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*y){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 =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blockIdx.x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blockDim.x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threadIdx.x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 &lt; n) y[i] = a*x[i] + y[i];</a:t>
            </a:r>
          </a:p>
          <a:p>
            <a:endParaRPr lang="es-E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CB90B21-B3F5-0FCD-DF15-812A76124E58}"/>
              </a:ext>
            </a:extLst>
          </p:cNvPr>
          <p:cNvSpPr/>
          <p:nvPr/>
        </p:nvSpPr>
        <p:spPr>
          <a:xfrm>
            <a:off x="457200" y="4323693"/>
            <a:ext cx="8229600" cy="19943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cublasHandle_t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handle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cublasCreate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handle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cublasSaxpy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handle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N, &amp;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alpha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d_x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1,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d_y_cublas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1);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9D174A8-650F-73B3-C0B1-2DE118D16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SAXPY cuBLAS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2883C76-CBDB-D53C-A7AB-713EF70C0A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2468243"/>
              </p:ext>
            </p:extLst>
          </p:nvPr>
        </p:nvGraphicFramePr>
        <p:xfrm>
          <a:off x="457200" y="1600200"/>
          <a:ext cx="82296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241825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25668434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916270779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8451878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553503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811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840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cuBLAS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361357"/>
                  </a:ext>
                </a:extLst>
              </a:tr>
            </a:tbl>
          </a:graphicData>
        </a:graphic>
      </p:graphicFrame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7BF8FE70-ADB6-E3D3-24DA-8C76371C7706}"/>
              </a:ext>
            </a:extLst>
          </p:cNvPr>
          <p:cNvSpPr/>
          <p:nvPr/>
        </p:nvSpPr>
        <p:spPr>
          <a:xfrm>
            <a:off x="1797269" y="3857297"/>
            <a:ext cx="5549462" cy="1156138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EJERCICIO SAXPY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48165D-0CBA-20CA-6BC3-BE46B44A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F5800-34CA-6589-432B-396540E59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D419-128E-813C-9E14-A0D27A2B1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GEMM</a:t>
            </a:r>
            <a:r>
              <a:rPr dirty="0"/>
              <a:t> CUDA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80B04CF-A5F8-42AB-1C1B-FDCE0060F1FF}"/>
              </a:ext>
            </a:extLst>
          </p:cNvPr>
          <p:cNvSpPr/>
          <p:nvPr/>
        </p:nvSpPr>
        <p:spPr>
          <a:xfrm>
            <a:off x="457200" y="1219200"/>
            <a:ext cx="8229600" cy="31990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__global__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matmul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_(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*A,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*B,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				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*C,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N) {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row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blockIdx.y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blockDim.y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threadIdx.y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col =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blockIdx.x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blockDim.x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threadIdx.x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row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N &amp;&amp; col &lt; N) {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sum = 0.0f;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k = 0; k &lt; N; ++k)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sum += A[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row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N + k] * B[k * N + col];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C[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row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N + col] = sum;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512AD7F-3A71-4063-7EEB-5C4349C58F89}"/>
              </a:ext>
            </a:extLst>
          </p:cNvPr>
          <p:cNvSpPr/>
          <p:nvPr/>
        </p:nvSpPr>
        <p:spPr>
          <a:xfrm>
            <a:off x="457200" y="4589024"/>
            <a:ext cx="8229600" cy="19943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cublasHandle_t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handle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cublasCreate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handle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cublasSgemm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handle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CUBLAS_OP_N, CUBLAS_OP_N, N, N, N,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 &amp;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alpha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d_A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N,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d_B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N, &amp;beta,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d_C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N);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87A67D7-F84F-23D5-6E38-18A895837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142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65F46-74BB-B0BE-2312-F1FACC58D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3F519-1817-1E7D-499F-8560885D0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GEMM</a:t>
            </a:r>
            <a:r>
              <a:rPr dirty="0"/>
              <a:t> </a:t>
            </a:r>
            <a:r>
              <a:rPr dirty="0" err="1"/>
              <a:t>cuBLAS</a:t>
            </a:r>
            <a:endParaRPr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1637E0C0-E8EB-F7BF-D601-6D5C37F2616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241825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25668434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916270779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8451878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553503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811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840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cuBLAS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361357"/>
                  </a:ext>
                </a:extLst>
              </a:tr>
            </a:tbl>
          </a:graphicData>
        </a:graphic>
      </p:graphicFrame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45558F96-81E8-C9F9-58E8-1A854E45BD1D}"/>
              </a:ext>
            </a:extLst>
          </p:cNvPr>
          <p:cNvSpPr/>
          <p:nvPr/>
        </p:nvSpPr>
        <p:spPr>
          <a:xfrm>
            <a:off x="1797269" y="3857297"/>
            <a:ext cx="5549462" cy="1156138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EJERCICIO GEMM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CC97785-249B-F6FF-6B0E-70E16B47B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11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19DCB-964C-E860-E2A6-454D8CD9F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7D11-532F-2E88-FB5E-2CF2CE771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DFT</a:t>
            </a:r>
            <a:r>
              <a:rPr dirty="0"/>
              <a:t> CUDA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7EB7351-7C67-2FD7-544C-C3F0DC375087}"/>
              </a:ext>
            </a:extLst>
          </p:cNvPr>
          <p:cNvSpPr/>
          <p:nvPr/>
        </p:nvSpPr>
        <p:spPr>
          <a:xfrm>
            <a:off x="457200" y="1219200"/>
            <a:ext cx="8229600" cy="38152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__global__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dft_naive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cfloat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*in,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cfloat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n) {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k =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blockIdx.x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blockDim.x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threadIdx.x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(k &gt;= n)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TWO_PI = 6.283185307179586f;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cfloat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sum = {0.0f, 0.0f};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n0 = 0; n0 &lt; n; ++n0) {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angle = -TWO_PI * k * n0 / n;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cfloat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 = {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cosf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(angle),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sinf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(angle)};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sum =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cadd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(sum,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cmul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(in[n0], w));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[k] = sum;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85513C6-7FE2-2100-994D-6203E6050D0E}"/>
              </a:ext>
            </a:extLst>
          </p:cNvPr>
          <p:cNvSpPr/>
          <p:nvPr/>
        </p:nvSpPr>
        <p:spPr>
          <a:xfrm>
            <a:off x="457200" y="5118538"/>
            <a:ext cx="8229600" cy="14648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cufftHandle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plan;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cufftPlan1d(&amp;plan, N, CUFFT_C2C, 1); </a:t>
            </a:r>
          </a:p>
          <a:p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cufftExecC2C(plan,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d_in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s-E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d_out_cufft</a:t>
            </a:r>
            <a:r>
              <a:rPr lang="es-E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CUFFT_FORWARD);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50F18C1-2745-8E8E-26FA-1A5E68CFD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01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9B77E-B799-6D50-4656-C39715D3A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BEAEA-028C-3AFF-73C4-9B77D8D54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DFT</a:t>
            </a:r>
            <a:r>
              <a:rPr dirty="0"/>
              <a:t> </a:t>
            </a:r>
            <a:r>
              <a:rPr lang="es-ES" dirty="0" err="1"/>
              <a:t>cuFFT</a:t>
            </a:r>
            <a:endParaRPr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7D2E2463-DB65-488C-0642-D87A33B06F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8413858"/>
              </p:ext>
            </p:extLst>
          </p:nvPr>
        </p:nvGraphicFramePr>
        <p:xfrm>
          <a:off x="457200" y="1600200"/>
          <a:ext cx="82296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241825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25668434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916270779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8451878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553503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811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840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cuFFT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361357"/>
                  </a:ext>
                </a:extLst>
              </a:tr>
            </a:tbl>
          </a:graphicData>
        </a:graphic>
      </p:graphicFrame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9ECE6782-D5A3-3C12-021D-DBA6C8DD7A06}"/>
              </a:ext>
            </a:extLst>
          </p:cNvPr>
          <p:cNvSpPr/>
          <p:nvPr/>
        </p:nvSpPr>
        <p:spPr>
          <a:xfrm>
            <a:off x="1797269" y="3857297"/>
            <a:ext cx="5549462" cy="1156138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EJERCICIO </a:t>
            </a:r>
            <a:r>
              <a:rPr lang="es-ES" dirty="0" err="1"/>
              <a:t>cuFFT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4909056-6E01-6B8D-C711-1BDB4F45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3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CAEA5-B9A0-0218-79D1-D1B4A2DCF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F279-E902-C5B8-4FAD-69D46DC93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Convolución</a:t>
            </a:r>
            <a:r>
              <a:rPr dirty="0"/>
              <a:t> CUDA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3EF679A-B504-A3E9-DD2E-9FDDA414252A}"/>
              </a:ext>
            </a:extLst>
          </p:cNvPr>
          <p:cNvSpPr/>
          <p:nvPr/>
        </p:nvSpPr>
        <p:spPr>
          <a:xfrm>
            <a:off x="457200" y="1187668"/>
            <a:ext cx="8229600" cy="47296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__global__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conv2d_naive(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__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restrict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 in,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__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restrict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 k,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__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restrict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H,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W) {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 =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blockIdx.y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blockDim.y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threadIdx.y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// fila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 =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blockIdx.x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blockDim.x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threadIdx.x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// columna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(y &gt;= H || x &gt;= W)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sum = 0.0f;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ky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-1;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ky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&lt;= 1; ++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ky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kx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-1;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kx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&lt;= 1; ++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kx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iy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y +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ky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ix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x +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kx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iy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&gt;= 0 &amp;&amp;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iy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H &amp;&amp;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ix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&gt;= 0 &amp;&amp;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ix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W) {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val = in[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iy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W +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ix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 = k[(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ky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+ 1) * 3 + (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kx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+ 1)];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sum += val * w;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}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[y * W + x] = sum; </a:t>
            </a:r>
          </a:p>
          <a:p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5AA4D0E-D902-C8A2-EFE9-08B7A5729A9B}"/>
              </a:ext>
            </a:extLst>
          </p:cNvPr>
          <p:cNvSpPr/>
          <p:nvPr/>
        </p:nvSpPr>
        <p:spPr>
          <a:xfrm>
            <a:off x="457200" y="6012600"/>
            <a:ext cx="8229600" cy="817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cudnnConvolutionForward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handle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alpha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in_desc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d_in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filt_desc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d_filt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conv_desc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algo,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d_workspace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ws_bytes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&amp;beta,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out_desc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s-ES" sz="1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d_out_cudnn</a:t>
            </a:r>
            <a:r>
              <a:rPr lang="es-ES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BF27B0B-E6BD-167F-4FB2-17C1A5A0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68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95A61-57CD-44B4-8A16-2E370CFE8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ECB3E-5C69-321E-91B5-82528D7EE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Convolución</a:t>
            </a:r>
            <a:r>
              <a:rPr dirty="0"/>
              <a:t> </a:t>
            </a:r>
            <a:r>
              <a:rPr lang="es-ES" dirty="0" err="1"/>
              <a:t>cuDNN</a:t>
            </a:r>
            <a:endParaRPr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906D707D-0128-9FCC-623A-9FAACA0961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0380286"/>
              </p:ext>
            </p:extLst>
          </p:nvPr>
        </p:nvGraphicFramePr>
        <p:xfrm>
          <a:off x="457200" y="1600200"/>
          <a:ext cx="82296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241825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25668434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916270779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8451878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553503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811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840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cuDNN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361357"/>
                  </a:ext>
                </a:extLst>
              </a:tr>
            </a:tbl>
          </a:graphicData>
        </a:graphic>
      </p:graphicFrame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5A48B488-B4A3-3C0A-BB73-BDC430AE0DEB}"/>
              </a:ext>
            </a:extLst>
          </p:cNvPr>
          <p:cNvSpPr/>
          <p:nvPr/>
        </p:nvSpPr>
        <p:spPr>
          <a:xfrm>
            <a:off x="1797269" y="3857297"/>
            <a:ext cx="5549462" cy="1156138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EJERCICIO </a:t>
            </a:r>
            <a:r>
              <a:rPr lang="es-ES" dirty="0" err="1"/>
              <a:t>cuDNN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493C911-A6D1-C9C9-2898-4A990AF1C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99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3EEEF-73DD-F500-9202-31E3EE05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Otras </a:t>
            </a:r>
            <a:r>
              <a:rPr lang="es-ES" dirty="0" err="1"/>
              <a:t>APIs</a:t>
            </a:r>
            <a:r>
              <a:rPr lang="es-ES" dirty="0"/>
              <a:t>/soluciones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DE45F4-F196-BB1D-173C-3CF3B0A9D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 err="1"/>
              <a:t>GPUDirect</a:t>
            </a:r>
            <a:r>
              <a:rPr lang="es-ES" dirty="0"/>
              <a:t> </a:t>
            </a:r>
          </a:p>
          <a:p>
            <a:pPr lvl="1"/>
            <a:r>
              <a:rPr lang="es-ES" dirty="0"/>
              <a:t>permite que otros dispositivos (red, almacenamiento u otras GPU) accedan </a:t>
            </a:r>
            <a:r>
              <a:rPr lang="es-ES" b="1" dirty="0"/>
              <a:t>directamente</a:t>
            </a:r>
            <a:r>
              <a:rPr lang="es-ES" dirty="0"/>
              <a:t> a la memoria de la GPU vía </a:t>
            </a:r>
            <a:r>
              <a:rPr lang="es-ES" b="1" dirty="0"/>
              <a:t>DMA</a:t>
            </a:r>
          </a:p>
          <a:p>
            <a:r>
              <a:rPr lang="es-ES" dirty="0"/>
              <a:t>NCCL (NVIDIA </a:t>
            </a:r>
            <a:r>
              <a:rPr lang="es-ES" dirty="0" err="1"/>
              <a:t>Collective</a:t>
            </a:r>
            <a:r>
              <a:rPr lang="es-ES" dirty="0"/>
              <a:t> </a:t>
            </a:r>
            <a:r>
              <a:rPr lang="es-ES" dirty="0" err="1"/>
              <a:t>Communication</a:t>
            </a:r>
            <a:r>
              <a:rPr lang="es-ES" dirty="0"/>
              <a:t> Library) </a:t>
            </a:r>
          </a:p>
          <a:p>
            <a:pPr lvl="1"/>
            <a:r>
              <a:rPr lang="es-ES" dirty="0"/>
              <a:t>es una biblioteca de </a:t>
            </a:r>
            <a:r>
              <a:rPr lang="es-ES" b="1" dirty="0"/>
              <a:t>comunicaciones colectivas </a:t>
            </a:r>
            <a:r>
              <a:rPr lang="es-ES" dirty="0"/>
              <a:t>y punto a punto optimizada para </a:t>
            </a:r>
            <a:r>
              <a:rPr lang="es-ES" dirty="0" err="1"/>
              <a:t>GPUs</a:t>
            </a:r>
            <a:r>
              <a:rPr lang="es-ES" dirty="0"/>
              <a:t> NVIDIA</a:t>
            </a:r>
          </a:p>
          <a:p>
            <a:r>
              <a:rPr lang="es-ES" dirty="0"/>
              <a:t>DALI (Data </a:t>
            </a:r>
            <a:r>
              <a:rPr lang="es-ES" dirty="0" err="1"/>
              <a:t>Loading</a:t>
            </a:r>
            <a:r>
              <a:rPr lang="es-ES" dirty="0"/>
              <a:t> Library) </a:t>
            </a:r>
          </a:p>
          <a:p>
            <a:pPr lvl="1"/>
            <a:r>
              <a:rPr lang="es-ES" dirty="0"/>
              <a:t>es una biblioteca de código abierto acelerada por GPU diseñada </a:t>
            </a:r>
            <a:r>
              <a:rPr lang="es-ES" b="1" dirty="0"/>
              <a:t>para cargar y preprocesar datos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1CDCFB-99CC-BF5C-9DEB-F4ACABAAB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432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13C8F-0A1F-62BB-A320-681062F01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D1ECCA25-E03F-617C-A021-0328361A30CB}"/>
              </a:ext>
            </a:extLst>
          </p:cNvPr>
          <p:cNvGrpSpPr/>
          <p:nvPr/>
        </p:nvGrpSpPr>
        <p:grpSpPr>
          <a:xfrm>
            <a:off x="2909238" y="2322681"/>
            <a:ext cx="3325524" cy="2564807"/>
            <a:chOff x="4616479" y="1719128"/>
            <a:chExt cx="4434032" cy="3419743"/>
          </a:xfrm>
        </p:grpSpPr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14D74599-3891-8836-0981-AA87BB225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16479" y="2430413"/>
              <a:ext cx="2077479" cy="2077479"/>
            </a:xfrm>
            <a:prstGeom prst="rect">
              <a:avLst/>
            </a:prstGeom>
          </p:spPr>
        </p:pic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2D762181-C21E-A377-96FB-74574DCC5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84525" y="1719128"/>
              <a:ext cx="1422570" cy="1422570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BA36C5B4-970D-61C8-259E-044A4F003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700000">
              <a:off x="7667270" y="3755630"/>
              <a:ext cx="1383241" cy="1383241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A4B27BD1-9D9B-901D-A8C6-F456D0213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7684596" y="2793461"/>
              <a:ext cx="1222427" cy="1222427"/>
            </a:xfrm>
            <a:prstGeom prst="rect">
              <a:avLst/>
            </a:prstGeom>
          </p:spPr>
        </p:pic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5BBE9028-049F-C6CB-EFEC-FAD4AC2C0757}"/>
                </a:ext>
              </a:extLst>
            </p:cNvPr>
            <p:cNvSpPr/>
            <p:nvPr/>
          </p:nvSpPr>
          <p:spPr>
            <a:xfrm>
              <a:off x="6873444" y="2288122"/>
              <a:ext cx="358346" cy="236205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PCI</a:t>
              </a:r>
            </a:p>
          </p:txBody>
        </p:sp>
        <p:sp>
          <p:nvSpPr>
            <p:cNvPr id="8" name="Flecha izquierda y derecha 7">
              <a:extLst>
                <a:ext uri="{FF2B5EF4-FFF2-40B4-BE49-F238E27FC236}">
                  <a16:creationId xmlns:a16="http://schemas.microsoft.com/office/drawing/2014/main" id="{F738A4A0-2C39-3D6F-1164-E0200A278EB4}"/>
                </a:ext>
              </a:extLst>
            </p:cNvPr>
            <p:cNvSpPr/>
            <p:nvPr/>
          </p:nvSpPr>
          <p:spPr>
            <a:xfrm>
              <a:off x="6420638" y="3364047"/>
              <a:ext cx="422232" cy="212437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Flecha izquierda y derecha 8">
              <a:extLst>
                <a:ext uri="{FF2B5EF4-FFF2-40B4-BE49-F238E27FC236}">
                  <a16:creationId xmlns:a16="http://schemas.microsoft.com/office/drawing/2014/main" id="{7768A066-8151-A5C3-F0CE-7622E4AC6EFC}"/>
                </a:ext>
              </a:extLst>
            </p:cNvPr>
            <p:cNvSpPr/>
            <p:nvPr/>
          </p:nvSpPr>
          <p:spPr>
            <a:xfrm>
              <a:off x="7247077" y="4341031"/>
              <a:ext cx="422232" cy="212437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Flecha izquierda y derecha 9">
              <a:extLst>
                <a:ext uri="{FF2B5EF4-FFF2-40B4-BE49-F238E27FC236}">
                  <a16:creationId xmlns:a16="http://schemas.microsoft.com/office/drawing/2014/main" id="{AF8C54E9-A161-5668-A287-3115352DCC11}"/>
                </a:ext>
              </a:extLst>
            </p:cNvPr>
            <p:cNvSpPr/>
            <p:nvPr/>
          </p:nvSpPr>
          <p:spPr>
            <a:xfrm>
              <a:off x="7245221" y="3405810"/>
              <a:ext cx="422232" cy="212437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Flecha izquierda y derecha 10">
              <a:extLst>
                <a:ext uri="{FF2B5EF4-FFF2-40B4-BE49-F238E27FC236}">
                  <a16:creationId xmlns:a16="http://schemas.microsoft.com/office/drawing/2014/main" id="{B9026C37-8891-FA06-4C50-746AEFAB8A10}"/>
                </a:ext>
              </a:extLst>
            </p:cNvPr>
            <p:cNvSpPr/>
            <p:nvPr/>
          </p:nvSpPr>
          <p:spPr>
            <a:xfrm>
              <a:off x="7231790" y="2430413"/>
              <a:ext cx="422232" cy="212437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7F414C4-6B9D-3F70-7A69-E472DAE2598A}"/>
              </a:ext>
            </a:extLst>
          </p:cNvPr>
          <p:cNvSpPr txBox="1"/>
          <p:nvPr/>
        </p:nvSpPr>
        <p:spPr>
          <a:xfrm>
            <a:off x="2201640" y="1140717"/>
            <a:ext cx="401154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Un </a:t>
            </a:r>
            <a:r>
              <a:rPr lang="en-US" sz="3000" dirty="0" err="1"/>
              <a:t>servidor</a:t>
            </a:r>
            <a:r>
              <a:rPr lang="en-US" sz="3000" dirty="0"/>
              <a:t> </a:t>
            </a:r>
            <a:r>
              <a:rPr lang="en-US" sz="3000" dirty="0" err="1"/>
              <a:t>cualquiera</a:t>
            </a:r>
            <a:r>
              <a:rPr lang="en-US" sz="3000" dirty="0"/>
              <a:t>...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5500301-863C-3FCE-8277-B015663AC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GPUDirect</a:t>
            </a:r>
            <a:endParaRPr lang="es-ES" dirty="0"/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10CAB81A-DA5A-3F23-0291-D3F77BD5C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14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927FB-0409-B3CE-1EBE-9F8168FE2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F1B94A2-B60A-7413-1214-240E254AD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672" y="2740898"/>
            <a:ext cx="1558109" cy="155810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4AF025A-4DC3-226A-9095-FBE110EAB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705" y="2207434"/>
            <a:ext cx="1066928" cy="106692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0622034-BBB0-B5A1-DD22-4F1D6B04A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00000">
            <a:off x="6735765" y="3734811"/>
            <a:ext cx="1037431" cy="103743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3178FA7-C11D-762C-C7D0-B93048F35B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748759" y="3013184"/>
            <a:ext cx="916820" cy="916820"/>
          </a:xfrm>
          <a:prstGeom prst="rect">
            <a:avLst/>
          </a:prstGeom>
        </p:spPr>
      </p:pic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F4764B03-3513-C02B-5DE3-34EBAC7C6605}"/>
              </a:ext>
            </a:extLst>
          </p:cNvPr>
          <p:cNvSpPr/>
          <p:nvPr/>
        </p:nvSpPr>
        <p:spPr>
          <a:xfrm>
            <a:off x="6140395" y="2634179"/>
            <a:ext cx="268760" cy="177154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PCI</a:t>
            </a:r>
          </a:p>
        </p:txBody>
      </p:sp>
      <p:sp>
        <p:nvSpPr>
          <p:cNvPr id="8" name="Flecha izquierda y derecha 7">
            <a:extLst>
              <a:ext uri="{FF2B5EF4-FFF2-40B4-BE49-F238E27FC236}">
                <a16:creationId xmlns:a16="http://schemas.microsoft.com/office/drawing/2014/main" id="{75418DAF-091D-7D56-E7E8-7572D36C6CA6}"/>
              </a:ext>
            </a:extLst>
          </p:cNvPr>
          <p:cNvSpPr/>
          <p:nvPr/>
        </p:nvSpPr>
        <p:spPr>
          <a:xfrm>
            <a:off x="5800790" y="3441123"/>
            <a:ext cx="316674" cy="159328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Flecha izquierda y derecha 8">
            <a:extLst>
              <a:ext uri="{FF2B5EF4-FFF2-40B4-BE49-F238E27FC236}">
                <a16:creationId xmlns:a16="http://schemas.microsoft.com/office/drawing/2014/main" id="{E194D3AF-3546-8FBA-0012-58B3FB816CCF}"/>
              </a:ext>
            </a:extLst>
          </p:cNvPr>
          <p:cNvSpPr/>
          <p:nvPr/>
        </p:nvSpPr>
        <p:spPr>
          <a:xfrm>
            <a:off x="6420620" y="4173861"/>
            <a:ext cx="316674" cy="159328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Flecha izquierda y derecha 9">
            <a:extLst>
              <a:ext uri="{FF2B5EF4-FFF2-40B4-BE49-F238E27FC236}">
                <a16:creationId xmlns:a16="http://schemas.microsoft.com/office/drawing/2014/main" id="{32E55410-AEDC-9D8A-F606-740FD6128DAE}"/>
              </a:ext>
            </a:extLst>
          </p:cNvPr>
          <p:cNvSpPr/>
          <p:nvPr/>
        </p:nvSpPr>
        <p:spPr>
          <a:xfrm>
            <a:off x="6419228" y="3472446"/>
            <a:ext cx="316674" cy="159328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Flecha izquierda y derecha 10">
            <a:extLst>
              <a:ext uri="{FF2B5EF4-FFF2-40B4-BE49-F238E27FC236}">
                <a16:creationId xmlns:a16="http://schemas.microsoft.com/office/drawing/2014/main" id="{E15BD77B-2DE6-C3B5-BFB5-2ACFA508E669}"/>
              </a:ext>
            </a:extLst>
          </p:cNvPr>
          <p:cNvSpPr/>
          <p:nvPr/>
        </p:nvSpPr>
        <p:spPr>
          <a:xfrm>
            <a:off x="6409154" y="2740898"/>
            <a:ext cx="316674" cy="159328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2503806-2D63-9967-AB00-C53A57302227}"/>
              </a:ext>
            </a:extLst>
          </p:cNvPr>
          <p:cNvSpPr txBox="1"/>
          <p:nvPr/>
        </p:nvSpPr>
        <p:spPr>
          <a:xfrm>
            <a:off x="2208709" y="1155783"/>
            <a:ext cx="399930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/>
              <a:t>Programación</a:t>
            </a:r>
            <a:r>
              <a:rPr lang="en-US" sz="3000" dirty="0"/>
              <a:t> con CUDA</a:t>
            </a:r>
          </a:p>
        </p:txBody>
      </p:sp>
      <p:graphicFrame>
        <p:nvGraphicFramePr>
          <p:cNvPr id="15" name="Diagrama 14">
            <a:extLst>
              <a:ext uri="{FF2B5EF4-FFF2-40B4-BE49-F238E27FC236}">
                <a16:creationId xmlns:a16="http://schemas.microsoft.com/office/drawing/2014/main" id="{3A57C1CB-4E4E-70EB-56DB-59E2A3F2EDA7}"/>
              </a:ext>
            </a:extLst>
          </p:cNvPr>
          <p:cNvGraphicFramePr/>
          <p:nvPr/>
        </p:nvGraphicFramePr>
        <p:xfrm>
          <a:off x="172442" y="2530559"/>
          <a:ext cx="3303642" cy="2202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BA6B17C5-A96A-F517-BB4C-BD5706DFE605}"/>
              </a:ext>
            </a:extLst>
          </p:cNvPr>
          <p:cNvCxnSpPr/>
          <p:nvPr/>
        </p:nvCxnSpPr>
        <p:spPr>
          <a:xfrm>
            <a:off x="5847917" y="3594703"/>
            <a:ext cx="408406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9646E80B-3D7B-98C4-B029-5676FB0D0080}"/>
              </a:ext>
            </a:extLst>
          </p:cNvPr>
          <p:cNvCxnSpPr/>
          <p:nvPr/>
        </p:nvCxnSpPr>
        <p:spPr>
          <a:xfrm>
            <a:off x="6242157" y="4311399"/>
            <a:ext cx="408406" cy="0"/>
          </a:xfrm>
          <a:prstGeom prst="line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44A99C93-58CE-2660-5E85-EEDBE1820FA2}"/>
              </a:ext>
            </a:extLst>
          </p:cNvPr>
          <p:cNvCxnSpPr>
            <a:cxnSpLocks/>
          </p:cNvCxnSpPr>
          <p:nvPr/>
        </p:nvCxnSpPr>
        <p:spPr>
          <a:xfrm flipH="1">
            <a:off x="6242158" y="3570644"/>
            <a:ext cx="14165" cy="762546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ED1923C5-3D18-7781-BEDE-57037F527C0B}"/>
              </a:ext>
            </a:extLst>
          </p:cNvPr>
          <p:cNvCxnSpPr>
            <a:cxnSpLocks/>
          </p:cNvCxnSpPr>
          <p:nvPr/>
        </p:nvCxnSpPr>
        <p:spPr>
          <a:xfrm rot="10800000">
            <a:off x="6368073" y="2722604"/>
            <a:ext cx="408406" cy="0"/>
          </a:xfrm>
          <a:prstGeom prst="line">
            <a:avLst/>
          </a:prstGeom>
          <a:ln w="57150">
            <a:solidFill>
              <a:srgbClr val="00B0F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EAFE0BFE-79C1-F3D6-6936-10A899C78B0D}"/>
              </a:ext>
            </a:extLst>
          </p:cNvPr>
          <p:cNvCxnSpPr>
            <a:cxnSpLocks/>
          </p:cNvCxnSpPr>
          <p:nvPr/>
        </p:nvCxnSpPr>
        <p:spPr>
          <a:xfrm flipH="1">
            <a:off x="6364545" y="2722605"/>
            <a:ext cx="24553" cy="1447135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27F15C36-B2CC-696E-FD0B-B9C483A5AC05}"/>
              </a:ext>
            </a:extLst>
          </p:cNvPr>
          <p:cNvCxnSpPr/>
          <p:nvPr/>
        </p:nvCxnSpPr>
        <p:spPr>
          <a:xfrm>
            <a:off x="6340353" y="4160907"/>
            <a:ext cx="408406" cy="0"/>
          </a:xfrm>
          <a:prstGeom prst="line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>
            <a:extLst>
              <a:ext uri="{FF2B5EF4-FFF2-40B4-BE49-F238E27FC236}">
                <a16:creationId xmlns:a16="http://schemas.microsoft.com/office/drawing/2014/main" id="{AD23A016-1A5A-447A-5D85-D83C7BC2AAEF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GPUDirect</a:t>
            </a:r>
            <a:endParaRPr lang="es-ES" dirty="0"/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E45EDF67-9402-D5A9-26FF-28989DC7B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15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30F89-ABC9-3E28-9A12-6FDF0DD40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630DDF50-E19C-3BFC-55A0-DFE4DB56B32C}"/>
              </a:ext>
            </a:extLst>
          </p:cNvPr>
          <p:cNvSpPr txBox="1"/>
          <p:nvPr/>
        </p:nvSpPr>
        <p:spPr>
          <a:xfrm>
            <a:off x="1521477" y="1646965"/>
            <a:ext cx="510120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Pero... ¿y </a:t>
            </a:r>
            <a:r>
              <a:rPr lang="en-US" sz="1500" dirty="0" err="1"/>
              <a:t>si</a:t>
            </a:r>
            <a:r>
              <a:rPr lang="en-US" sz="1500" dirty="0"/>
              <a:t> </a:t>
            </a:r>
            <a:r>
              <a:rPr lang="en-US" sz="1500" dirty="0" err="1"/>
              <a:t>queremos</a:t>
            </a:r>
            <a:r>
              <a:rPr lang="en-US" sz="1500" dirty="0"/>
              <a:t> que la GPU se </a:t>
            </a:r>
            <a:r>
              <a:rPr lang="en-US" sz="1500" dirty="0" err="1"/>
              <a:t>relacione</a:t>
            </a:r>
            <a:r>
              <a:rPr lang="en-US" sz="1500" dirty="0"/>
              <a:t> con </a:t>
            </a:r>
            <a:r>
              <a:rPr lang="en-US" sz="1500" dirty="0" err="1"/>
              <a:t>otras</a:t>
            </a:r>
            <a:r>
              <a:rPr lang="en-US" sz="1500" dirty="0"/>
              <a:t> GPUs?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8A80479-FA76-10D6-27E6-E34B407DA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09" y="3233660"/>
            <a:ext cx="1117796" cy="111779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90E740DC-5A16-9108-CD09-7837F35A3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679" y="2850950"/>
            <a:ext cx="765420" cy="76542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223D569-0F14-50E7-8908-E5976837E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00000">
            <a:off x="2875200" y="3946698"/>
            <a:ext cx="744259" cy="74425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54E3E1BA-CDF8-395F-40E8-F8C1C070E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884522" y="3429000"/>
            <a:ext cx="657732" cy="657732"/>
          </a:xfrm>
          <a:prstGeom prst="rect">
            <a:avLst/>
          </a:prstGeom>
        </p:spPr>
      </p:pic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DC365B09-D6FD-8F69-09FC-E747D5168819}"/>
              </a:ext>
            </a:extLst>
          </p:cNvPr>
          <p:cNvSpPr/>
          <p:nvPr/>
        </p:nvSpPr>
        <p:spPr>
          <a:xfrm>
            <a:off x="2448079" y="3157100"/>
            <a:ext cx="192809" cy="127091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PCI</a:t>
            </a:r>
          </a:p>
        </p:txBody>
      </p:sp>
      <p:sp>
        <p:nvSpPr>
          <p:cNvPr id="21" name="Flecha izquierda y derecha 20">
            <a:extLst>
              <a:ext uri="{FF2B5EF4-FFF2-40B4-BE49-F238E27FC236}">
                <a16:creationId xmlns:a16="http://schemas.microsoft.com/office/drawing/2014/main" id="{D4A64187-2038-BE31-1B30-A9A2ACB2ADB8}"/>
              </a:ext>
            </a:extLst>
          </p:cNvPr>
          <p:cNvSpPr/>
          <p:nvPr/>
        </p:nvSpPr>
        <p:spPr>
          <a:xfrm>
            <a:off x="2204446" y="3736005"/>
            <a:ext cx="227183" cy="11430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Flecha izquierda y derecha 21">
            <a:extLst>
              <a:ext uri="{FF2B5EF4-FFF2-40B4-BE49-F238E27FC236}">
                <a16:creationId xmlns:a16="http://schemas.microsoft.com/office/drawing/2014/main" id="{70E684E2-CCF0-8AA2-0966-52333B12C909}"/>
              </a:ext>
            </a:extLst>
          </p:cNvPr>
          <p:cNvSpPr/>
          <p:nvPr/>
        </p:nvSpPr>
        <p:spPr>
          <a:xfrm>
            <a:off x="2649115" y="4261676"/>
            <a:ext cx="227183" cy="11430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Flecha izquierda y derecha 22">
            <a:extLst>
              <a:ext uri="{FF2B5EF4-FFF2-40B4-BE49-F238E27FC236}">
                <a16:creationId xmlns:a16="http://schemas.microsoft.com/office/drawing/2014/main" id="{CB892147-FCA8-665E-20E7-A88E0BCD6420}"/>
              </a:ext>
            </a:extLst>
          </p:cNvPr>
          <p:cNvSpPr/>
          <p:nvPr/>
        </p:nvSpPr>
        <p:spPr>
          <a:xfrm>
            <a:off x="2648116" y="3758477"/>
            <a:ext cx="227183" cy="11430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Flecha izquierda y derecha 23">
            <a:extLst>
              <a:ext uri="{FF2B5EF4-FFF2-40B4-BE49-F238E27FC236}">
                <a16:creationId xmlns:a16="http://schemas.microsoft.com/office/drawing/2014/main" id="{E28F86EC-F034-AF88-E2AB-A4E9ED881887}"/>
              </a:ext>
            </a:extLst>
          </p:cNvPr>
          <p:cNvSpPr/>
          <p:nvPr/>
        </p:nvSpPr>
        <p:spPr>
          <a:xfrm>
            <a:off x="2640889" y="3233660"/>
            <a:ext cx="227183" cy="11430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50191A1D-B62A-DEA7-2512-4672CE547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900000" flipH="1">
            <a:off x="6205060" y="2873781"/>
            <a:ext cx="429527" cy="406782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22056555-875F-C425-0F64-7AAACB011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561" y="2502411"/>
            <a:ext cx="587386" cy="587385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B0EFDF2C-8B45-97F6-1F6C-70F6FCC2F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29199" y="2230030"/>
            <a:ext cx="418349" cy="44174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A67A412E-5361-4E7D-2494-3184DEC55D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 flipH="1">
            <a:off x="6248578" y="2573684"/>
            <a:ext cx="379591" cy="359490"/>
          </a:xfrm>
          <a:prstGeom prst="rect">
            <a:avLst/>
          </a:prstGeom>
        </p:spPr>
      </p:pic>
      <p:sp>
        <p:nvSpPr>
          <p:cNvPr id="38" name="Rectángulo redondeado 37">
            <a:extLst>
              <a:ext uri="{FF2B5EF4-FFF2-40B4-BE49-F238E27FC236}">
                <a16:creationId xmlns:a16="http://schemas.microsoft.com/office/drawing/2014/main" id="{3736C115-10F7-FD2D-BD63-5D7B1B7BD499}"/>
              </a:ext>
            </a:extLst>
          </p:cNvPr>
          <p:cNvSpPr/>
          <p:nvPr/>
        </p:nvSpPr>
        <p:spPr>
          <a:xfrm flipH="1">
            <a:off x="6751279" y="2406715"/>
            <a:ext cx="105382" cy="7334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PCI</a:t>
            </a:r>
          </a:p>
        </p:txBody>
      </p:sp>
      <p:sp>
        <p:nvSpPr>
          <p:cNvPr id="39" name="Flecha izquierda y derecha 38">
            <a:extLst>
              <a:ext uri="{FF2B5EF4-FFF2-40B4-BE49-F238E27FC236}">
                <a16:creationId xmlns:a16="http://schemas.microsoft.com/office/drawing/2014/main" id="{87BA2EA6-609C-544F-6797-DEE91F8F0618}"/>
              </a:ext>
            </a:extLst>
          </p:cNvPr>
          <p:cNvSpPr/>
          <p:nvPr/>
        </p:nvSpPr>
        <p:spPr>
          <a:xfrm flipH="1">
            <a:off x="6865654" y="2740813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0" name="Flecha izquierda y derecha 39">
            <a:extLst>
              <a:ext uri="{FF2B5EF4-FFF2-40B4-BE49-F238E27FC236}">
                <a16:creationId xmlns:a16="http://schemas.microsoft.com/office/drawing/2014/main" id="{3EF08D19-855A-9AB8-8DC7-F05C51B58FF4}"/>
              </a:ext>
            </a:extLst>
          </p:cNvPr>
          <p:cNvSpPr/>
          <p:nvPr/>
        </p:nvSpPr>
        <p:spPr>
          <a:xfrm flipH="1">
            <a:off x="6622615" y="3044188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1" name="Flecha izquierda y derecha 40">
            <a:extLst>
              <a:ext uri="{FF2B5EF4-FFF2-40B4-BE49-F238E27FC236}">
                <a16:creationId xmlns:a16="http://schemas.microsoft.com/office/drawing/2014/main" id="{19B5604F-B14A-2DC2-C4FD-0B0031467F7B}"/>
              </a:ext>
            </a:extLst>
          </p:cNvPr>
          <p:cNvSpPr/>
          <p:nvPr/>
        </p:nvSpPr>
        <p:spPr>
          <a:xfrm flipH="1">
            <a:off x="6623161" y="2753782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2" name="Flecha izquierda y derecha 41">
            <a:extLst>
              <a:ext uri="{FF2B5EF4-FFF2-40B4-BE49-F238E27FC236}">
                <a16:creationId xmlns:a16="http://schemas.microsoft.com/office/drawing/2014/main" id="{0E8B3897-3DA5-A0AC-7B30-477CA020B5ED}"/>
              </a:ext>
            </a:extLst>
          </p:cNvPr>
          <p:cNvSpPr/>
          <p:nvPr/>
        </p:nvSpPr>
        <p:spPr>
          <a:xfrm flipH="1">
            <a:off x="6627110" y="2450900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3" name="Gráfico 42" descr="Servidor contorno">
            <a:extLst>
              <a:ext uri="{FF2B5EF4-FFF2-40B4-BE49-F238E27FC236}">
                <a16:creationId xmlns:a16="http://schemas.microsoft.com/office/drawing/2014/main" id="{5E57C5B6-73E0-C860-C9CB-AFBD5EB9FA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93605" y="2748949"/>
            <a:ext cx="1360103" cy="1360103"/>
          </a:xfrm>
          <a:prstGeom prst="rect">
            <a:avLst/>
          </a:prstGeom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F6358CC2-A0CA-2BB9-69BD-0943785504F2}"/>
              </a:ext>
            </a:extLst>
          </p:cNvPr>
          <p:cNvSpPr txBox="1"/>
          <p:nvPr/>
        </p:nvSpPr>
        <p:spPr>
          <a:xfrm>
            <a:off x="4347385" y="3970552"/>
            <a:ext cx="10525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InfiniBand</a:t>
            </a:r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DAE61710-7E9B-83DF-38F4-FE0A7ADFA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900000" flipH="1">
            <a:off x="6205060" y="3953123"/>
            <a:ext cx="429527" cy="406782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8FA90C84-EDBC-F045-5B2E-7DEDB8606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561" y="3581753"/>
            <a:ext cx="587386" cy="587385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5140EBAE-BC56-7E24-11A8-7F3BFEE37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29199" y="3309372"/>
            <a:ext cx="418349" cy="441740"/>
          </a:xfrm>
          <a:prstGeom prst="rect">
            <a:avLst/>
          </a:prstGeom>
        </p:spPr>
      </p:pic>
      <p:pic>
        <p:nvPicPr>
          <p:cNvPr id="52" name="Imagen 51">
            <a:extLst>
              <a:ext uri="{FF2B5EF4-FFF2-40B4-BE49-F238E27FC236}">
                <a16:creationId xmlns:a16="http://schemas.microsoft.com/office/drawing/2014/main" id="{B1B8D82F-759E-63CB-2D6F-6DF19F048E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 flipH="1">
            <a:off x="6248578" y="3653026"/>
            <a:ext cx="379591" cy="359490"/>
          </a:xfrm>
          <a:prstGeom prst="rect">
            <a:avLst/>
          </a:prstGeom>
        </p:spPr>
      </p:pic>
      <p:sp>
        <p:nvSpPr>
          <p:cNvPr id="53" name="Rectángulo redondeado 52">
            <a:extLst>
              <a:ext uri="{FF2B5EF4-FFF2-40B4-BE49-F238E27FC236}">
                <a16:creationId xmlns:a16="http://schemas.microsoft.com/office/drawing/2014/main" id="{5A5F7C2E-EC60-14DC-3AD0-9ABA39A19C14}"/>
              </a:ext>
            </a:extLst>
          </p:cNvPr>
          <p:cNvSpPr/>
          <p:nvPr/>
        </p:nvSpPr>
        <p:spPr>
          <a:xfrm flipH="1">
            <a:off x="6751279" y="3486057"/>
            <a:ext cx="105382" cy="7334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PCI</a:t>
            </a:r>
          </a:p>
        </p:txBody>
      </p:sp>
      <p:sp>
        <p:nvSpPr>
          <p:cNvPr id="54" name="Flecha izquierda y derecha 53">
            <a:extLst>
              <a:ext uri="{FF2B5EF4-FFF2-40B4-BE49-F238E27FC236}">
                <a16:creationId xmlns:a16="http://schemas.microsoft.com/office/drawing/2014/main" id="{6ACDA484-FAC2-C80B-9F39-165AFF9FAE39}"/>
              </a:ext>
            </a:extLst>
          </p:cNvPr>
          <p:cNvSpPr/>
          <p:nvPr/>
        </p:nvSpPr>
        <p:spPr>
          <a:xfrm flipH="1">
            <a:off x="6865654" y="3820156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5" name="Flecha izquierda y derecha 54">
            <a:extLst>
              <a:ext uri="{FF2B5EF4-FFF2-40B4-BE49-F238E27FC236}">
                <a16:creationId xmlns:a16="http://schemas.microsoft.com/office/drawing/2014/main" id="{93F0EED4-2234-F3D7-3C37-47104D097341}"/>
              </a:ext>
            </a:extLst>
          </p:cNvPr>
          <p:cNvSpPr/>
          <p:nvPr/>
        </p:nvSpPr>
        <p:spPr>
          <a:xfrm flipH="1">
            <a:off x="6622615" y="4123531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6" name="Flecha izquierda y derecha 55">
            <a:extLst>
              <a:ext uri="{FF2B5EF4-FFF2-40B4-BE49-F238E27FC236}">
                <a16:creationId xmlns:a16="http://schemas.microsoft.com/office/drawing/2014/main" id="{2B224C4A-5B1C-D77B-E73C-10BDD5313010}"/>
              </a:ext>
            </a:extLst>
          </p:cNvPr>
          <p:cNvSpPr/>
          <p:nvPr/>
        </p:nvSpPr>
        <p:spPr>
          <a:xfrm flipH="1">
            <a:off x="6623161" y="3833125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7" name="Flecha izquierda y derecha 56">
            <a:extLst>
              <a:ext uri="{FF2B5EF4-FFF2-40B4-BE49-F238E27FC236}">
                <a16:creationId xmlns:a16="http://schemas.microsoft.com/office/drawing/2014/main" id="{ABB7CC44-AE10-4AD4-B915-8B5F749241A4}"/>
              </a:ext>
            </a:extLst>
          </p:cNvPr>
          <p:cNvSpPr/>
          <p:nvPr/>
        </p:nvSpPr>
        <p:spPr>
          <a:xfrm flipH="1">
            <a:off x="6627110" y="3530242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9" name="Imagen 58">
            <a:extLst>
              <a:ext uri="{FF2B5EF4-FFF2-40B4-BE49-F238E27FC236}">
                <a16:creationId xmlns:a16="http://schemas.microsoft.com/office/drawing/2014/main" id="{613A4148-E7BA-4267-6AB3-6CB9B6CBF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900000" flipH="1">
            <a:off x="6229200" y="5095943"/>
            <a:ext cx="429527" cy="406782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7CF31B2F-974A-B069-7DA7-DF1A0E042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702" y="4724573"/>
            <a:ext cx="587386" cy="587385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B85EBF86-D8AC-166F-EE3C-91C9A97D3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53339" y="4452192"/>
            <a:ext cx="418349" cy="441740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5DC1B7C1-9BFB-79F3-CB27-485FAC6913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 flipH="1">
            <a:off x="6272718" y="4795846"/>
            <a:ext cx="379591" cy="359490"/>
          </a:xfrm>
          <a:prstGeom prst="rect">
            <a:avLst/>
          </a:prstGeom>
        </p:spPr>
      </p:pic>
      <p:sp>
        <p:nvSpPr>
          <p:cNvPr id="65" name="Rectángulo redondeado 64">
            <a:extLst>
              <a:ext uri="{FF2B5EF4-FFF2-40B4-BE49-F238E27FC236}">
                <a16:creationId xmlns:a16="http://schemas.microsoft.com/office/drawing/2014/main" id="{076DE5FE-7E9D-9591-0273-CC712B986F7D}"/>
              </a:ext>
            </a:extLst>
          </p:cNvPr>
          <p:cNvSpPr/>
          <p:nvPr/>
        </p:nvSpPr>
        <p:spPr>
          <a:xfrm flipH="1">
            <a:off x="6775419" y="4628877"/>
            <a:ext cx="105382" cy="7334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PCI</a:t>
            </a:r>
          </a:p>
        </p:txBody>
      </p:sp>
      <p:sp>
        <p:nvSpPr>
          <p:cNvPr id="66" name="Flecha izquierda y derecha 65">
            <a:extLst>
              <a:ext uri="{FF2B5EF4-FFF2-40B4-BE49-F238E27FC236}">
                <a16:creationId xmlns:a16="http://schemas.microsoft.com/office/drawing/2014/main" id="{5C62EE16-7059-0488-D02A-BBCF82695B3F}"/>
              </a:ext>
            </a:extLst>
          </p:cNvPr>
          <p:cNvSpPr/>
          <p:nvPr/>
        </p:nvSpPr>
        <p:spPr>
          <a:xfrm flipH="1">
            <a:off x="6889794" y="4962976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7" name="Flecha izquierda y derecha 66">
            <a:extLst>
              <a:ext uri="{FF2B5EF4-FFF2-40B4-BE49-F238E27FC236}">
                <a16:creationId xmlns:a16="http://schemas.microsoft.com/office/drawing/2014/main" id="{75532516-34E3-E554-A4AB-E3ED1049DC6F}"/>
              </a:ext>
            </a:extLst>
          </p:cNvPr>
          <p:cNvSpPr/>
          <p:nvPr/>
        </p:nvSpPr>
        <p:spPr>
          <a:xfrm flipH="1">
            <a:off x="6646755" y="5266351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8" name="Flecha izquierda y derecha 67">
            <a:extLst>
              <a:ext uri="{FF2B5EF4-FFF2-40B4-BE49-F238E27FC236}">
                <a16:creationId xmlns:a16="http://schemas.microsoft.com/office/drawing/2014/main" id="{DA77AC18-4F9A-C34B-7A03-49050BEEEA25}"/>
              </a:ext>
            </a:extLst>
          </p:cNvPr>
          <p:cNvSpPr/>
          <p:nvPr/>
        </p:nvSpPr>
        <p:spPr>
          <a:xfrm flipH="1">
            <a:off x="6647301" y="4975945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9" name="Flecha izquierda y derecha 68">
            <a:extLst>
              <a:ext uri="{FF2B5EF4-FFF2-40B4-BE49-F238E27FC236}">
                <a16:creationId xmlns:a16="http://schemas.microsoft.com/office/drawing/2014/main" id="{C9E4F21F-E413-C387-55E1-253CC953C792}"/>
              </a:ext>
            </a:extLst>
          </p:cNvPr>
          <p:cNvSpPr/>
          <p:nvPr/>
        </p:nvSpPr>
        <p:spPr>
          <a:xfrm flipH="1">
            <a:off x="6651250" y="4673062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ítulo 3">
            <a:extLst>
              <a:ext uri="{FF2B5EF4-FFF2-40B4-BE49-F238E27FC236}">
                <a16:creationId xmlns:a16="http://schemas.microsoft.com/office/drawing/2014/main" id="{401AB952-6B05-8A84-8106-0BBA530BB3CF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GPUDirect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E0073B6-4397-2430-157B-196E829D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82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20F5F-4726-593C-12E7-071A6C5ED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7971EAC-77C6-26A4-79DC-5AA0E4C54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809" y="3076411"/>
            <a:ext cx="1117796" cy="111779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C60C217-D344-C828-3970-49E515654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779" y="2693701"/>
            <a:ext cx="765420" cy="76542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47A5724-09D0-5616-9C84-C1F47C66B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00000">
            <a:off x="2532300" y="3789449"/>
            <a:ext cx="744259" cy="74425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DAA2164-DF9A-44A6-F661-66564B693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541622" y="3271751"/>
            <a:ext cx="657732" cy="657732"/>
          </a:xfrm>
          <a:prstGeom prst="rect">
            <a:avLst/>
          </a:prstGeom>
        </p:spPr>
      </p:pic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36D10F98-1CFC-236B-30A1-0299B14AEE2F}"/>
              </a:ext>
            </a:extLst>
          </p:cNvPr>
          <p:cNvSpPr/>
          <p:nvPr/>
        </p:nvSpPr>
        <p:spPr>
          <a:xfrm>
            <a:off x="2105179" y="2999850"/>
            <a:ext cx="192809" cy="127091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PCI</a:t>
            </a:r>
          </a:p>
        </p:txBody>
      </p:sp>
      <p:sp>
        <p:nvSpPr>
          <p:cNvPr id="8" name="Flecha izquierda y derecha 7">
            <a:extLst>
              <a:ext uri="{FF2B5EF4-FFF2-40B4-BE49-F238E27FC236}">
                <a16:creationId xmlns:a16="http://schemas.microsoft.com/office/drawing/2014/main" id="{399D811E-5AF6-E912-A404-609B03532DD9}"/>
              </a:ext>
            </a:extLst>
          </p:cNvPr>
          <p:cNvSpPr/>
          <p:nvPr/>
        </p:nvSpPr>
        <p:spPr>
          <a:xfrm>
            <a:off x="1861546" y="3578756"/>
            <a:ext cx="227183" cy="11430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Flecha izquierda y derecha 8">
            <a:extLst>
              <a:ext uri="{FF2B5EF4-FFF2-40B4-BE49-F238E27FC236}">
                <a16:creationId xmlns:a16="http://schemas.microsoft.com/office/drawing/2014/main" id="{A626CBF7-9C48-3CFC-E9FC-A6E9C7D1351A}"/>
              </a:ext>
            </a:extLst>
          </p:cNvPr>
          <p:cNvSpPr/>
          <p:nvPr/>
        </p:nvSpPr>
        <p:spPr>
          <a:xfrm>
            <a:off x="2306215" y="4104426"/>
            <a:ext cx="227183" cy="11430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Flecha izquierda y derecha 9">
            <a:extLst>
              <a:ext uri="{FF2B5EF4-FFF2-40B4-BE49-F238E27FC236}">
                <a16:creationId xmlns:a16="http://schemas.microsoft.com/office/drawing/2014/main" id="{87BC4CC5-1272-3420-5E43-07E19E72E5ED}"/>
              </a:ext>
            </a:extLst>
          </p:cNvPr>
          <p:cNvSpPr/>
          <p:nvPr/>
        </p:nvSpPr>
        <p:spPr>
          <a:xfrm>
            <a:off x="2305216" y="3601227"/>
            <a:ext cx="227183" cy="11430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Flecha izquierda y derecha 10">
            <a:extLst>
              <a:ext uri="{FF2B5EF4-FFF2-40B4-BE49-F238E27FC236}">
                <a16:creationId xmlns:a16="http://schemas.microsoft.com/office/drawing/2014/main" id="{99DDDEDD-984D-ADFD-5499-A88F63113385}"/>
              </a:ext>
            </a:extLst>
          </p:cNvPr>
          <p:cNvSpPr/>
          <p:nvPr/>
        </p:nvSpPr>
        <p:spPr>
          <a:xfrm>
            <a:off x="2297989" y="3076411"/>
            <a:ext cx="227183" cy="11430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5" name="Rectángulo redondeado 34">
            <a:extLst>
              <a:ext uri="{FF2B5EF4-FFF2-40B4-BE49-F238E27FC236}">
                <a16:creationId xmlns:a16="http://schemas.microsoft.com/office/drawing/2014/main" id="{5692E0EE-86F4-2B5F-B2E9-775F33EBB133}"/>
              </a:ext>
            </a:extLst>
          </p:cNvPr>
          <p:cNvSpPr/>
          <p:nvPr/>
        </p:nvSpPr>
        <p:spPr>
          <a:xfrm>
            <a:off x="4073404" y="2793562"/>
            <a:ext cx="915596" cy="70952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4" name="Gráfico 33" descr="Servidor contorno">
            <a:extLst>
              <a:ext uri="{FF2B5EF4-FFF2-40B4-BE49-F238E27FC236}">
                <a16:creationId xmlns:a16="http://schemas.microsoft.com/office/drawing/2014/main" id="{865B64DF-2B3E-A999-6AA4-45F5B63798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50705" y="2591699"/>
            <a:ext cx="1360103" cy="1360103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B1E49871-D92B-5A92-13DA-A95CB383EF35}"/>
              </a:ext>
            </a:extLst>
          </p:cNvPr>
          <p:cNvSpPr txBox="1"/>
          <p:nvPr/>
        </p:nvSpPr>
        <p:spPr>
          <a:xfrm>
            <a:off x="4004485" y="3813302"/>
            <a:ext cx="10525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InfiniBand</a:t>
            </a: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8D09CFE5-1506-28FA-92AC-8C402E6EB1FA}"/>
              </a:ext>
            </a:extLst>
          </p:cNvPr>
          <p:cNvCxnSpPr>
            <a:cxnSpLocks/>
          </p:cNvCxnSpPr>
          <p:nvPr/>
        </p:nvCxnSpPr>
        <p:spPr>
          <a:xfrm>
            <a:off x="2216539" y="3113066"/>
            <a:ext cx="365822" cy="20497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C9F2E358-67DD-D8C4-0922-07689EAB911C}"/>
              </a:ext>
            </a:extLst>
          </p:cNvPr>
          <p:cNvCxnSpPr>
            <a:cxnSpLocks/>
          </p:cNvCxnSpPr>
          <p:nvPr/>
        </p:nvCxnSpPr>
        <p:spPr>
          <a:xfrm flipH="1">
            <a:off x="2201415" y="3113066"/>
            <a:ext cx="15125" cy="1145256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0D009BE4-28E4-98D8-5CBC-0A023151C5CA}"/>
              </a:ext>
            </a:extLst>
          </p:cNvPr>
          <p:cNvCxnSpPr>
            <a:cxnSpLocks/>
          </p:cNvCxnSpPr>
          <p:nvPr/>
        </p:nvCxnSpPr>
        <p:spPr>
          <a:xfrm rot="10800000">
            <a:off x="2173956" y="4270765"/>
            <a:ext cx="408406" cy="0"/>
          </a:xfrm>
          <a:prstGeom prst="line">
            <a:avLst/>
          </a:prstGeom>
          <a:ln w="57150">
            <a:solidFill>
              <a:srgbClr val="00B0F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274FCB8C-F891-894F-8371-C8AFB461398C}"/>
              </a:ext>
            </a:extLst>
          </p:cNvPr>
          <p:cNvCxnSpPr>
            <a:cxnSpLocks/>
          </p:cNvCxnSpPr>
          <p:nvPr/>
        </p:nvCxnSpPr>
        <p:spPr>
          <a:xfrm>
            <a:off x="3226497" y="3669432"/>
            <a:ext cx="777988" cy="9985"/>
          </a:xfrm>
          <a:prstGeom prst="line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306D0003-1E10-B9E3-0BA0-33F30FE9C905}"/>
              </a:ext>
            </a:extLst>
          </p:cNvPr>
          <p:cNvCxnSpPr>
            <a:cxnSpLocks/>
          </p:cNvCxnSpPr>
          <p:nvPr/>
        </p:nvCxnSpPr>
        <p:spPr>
          <a:xfrm rot="10800000">
            <a:off x="2337419" y="3702291"/>
            <a:ext cx="408406" cy="0"/>
          </a:xfrm>
          <a:prstGeom prst="line">
            <a:avLst/>
          </a:prstGeom>
          <a:ln w="571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20B61B98-FCC8-37B9-5025-EF2D9CE1EBD6}"/>
              </a:ext>
            </a:extLst>
          </p:cNvPr>
          <p:cNvCxnSpPr>
            <a:cxnSpLocks/>
          </p:cNvCxnSpPr>
          <p:nvPr/>
        </p:nvCxnSpPr>
        <p:spPr>
          <a:xfrm>
            <a:off x="2337418" y="4051576"/>
            <a:ext cx="26572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E4A740A5-FF5F-20DF-2EA7-248E7ACCAAC4}"/>
              </a:ext>
            </a:extLst>
          </p:cNvPr>
          <p:cNvCxnSpPr>
            <a:cxnSpLocks/>
            <a:stCxn id="10" idx="4"/>
          </p:cNvCxnSpPr>
          <p:nvPr/>
        </p:nvCxnSpPr>
        <p:spPr>
          <a:xfrm flipH="1">
            <a:off x="2335152" y="3715531"/>
            <a:ext cx="27215" cy="35290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lecha en U 56">
            <a:extLst>
              <a:ext uri="{FF2B5EF4-FFF2-40B4-BE49-F238E27FC236}">
                <a16:creationId xmlns:a16="http://schemas.microsoft.com/office/drawing/2014/main" id="{2F99F538-C584-F918-4862-170C073FB746}"/>
              </a:ext>
            </a:extLst>
          </p:cNvPr>
          <p:cNvSpPr/>
          <p:nvPr/>
        </p:nvSpPr>
        <p:spPr>
          <a:xfrm rot="5400000" flipH="1">
            <a:off x="2689794" y="4019573"/>
            <a:ext cx="291699" cy="269217"/>
          </a:xfrm>
          <a:prstGeom prst="uturnArrow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graphicFrame>
        <p:nvGraphicFramePr>
          <p:cNvPr id="85" name="Diagrama 84">
            <a:extLst>
              <a:ext uri="{FF2B5EF4-FFF2-40B4-BE49-F238E27FC236}">
                <a16:creationId xmlns:a16="http://schemas.microsoft.com/office/drawing/2014/main" id="{09CDD9CE-0C8C-FB48-815D-B3640EE8AFEC}"/>
              </a:ext>
            </a:extLst>
          </p:cNvPr>
          <p:cNvGraphicFramePr/>
          <p:nvPr/>
        </p:nvGraphicFramePr>
        <p:xfrm>
          <a:off x="385637" y="4412871"/>
          <a:ext cx="3045063" cy="1339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86" name="CuadroTexto 85">
            <a:extLst>
              <a:ext uri="{FF2B5EF4-FFF2-40B4-BE49-F238E27FC236}">
                <a16:creationId xmlns:a16="http://schemas.microsoft.com/office/drawing/2014/main" id="{F2440E7B-6649-597F-5DBF-24020C950479}"/>
              </a:ext>
            </a:extLst>
          </p:cNvPr>
          <p:cNvSpPr txBox="1"/>
          <p:nvPr/>
        </p:nvSpPr>
        <p:spPr>
          <a:xfrm>
            <a:off x="724360" y="2601535"/>
            <a:ext cx="115858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No </a:t>
            </a:r>
            <a:r>
              <a:rPr lang="en-US" sz="1350" dirty="0" err="1"/>
              <a:t>GPUDirect</a:t>
            </a:r>
            <a:endParaRPr lang="en-US" sz="1350" dirty="0"/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D6EE251E-5976-D882-3DFC-FF790D5E5447}"/>
              </a:ext>
            </a:extLst>
          </p:cNvPr>
          <p:cNvSpPr txBox="1"/>
          <p:nvPr/>
        </p:nvSpPr>
        <p:spPr>
          <a:xfrm>
            <a:off x="1291535" y="1149685"/>
            <a:ext cx="546765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/>
              <a:t>GPUDirect</a:t>
            </a:r>
            <a:r>
              <a:rPr lang="en-US" sz="3000" dirty="0"/>
              <a:t> 1.0 o </a:t>
            </a:r>
            <a:r>
              <a:rPr lang="en-US" sz="3000" dirty="0" err="1"/>
              <a:t>GPUDirect</a:t>
            </a:r>
            <a:r>
              <a:rPr lang="en-US" sz="3000" dirty="0"/>
              <a:t> RDMA</a:t>
            </a:r>
          </a:p>
        </p:txBody>
      </p:sp>
      <p:grpSp>
        <p:nvGrpSpPr>
          <p:cNvPr id="88" name="Grupo 87">
            <a:extLst>
              <a:ext uri="{FF2B5EF4-FFF2-40B4-BE49-F238E27FC236}">
                <a16:creationId xmlns:a16="http://schemas.microsoft.com/office/drawing/2014/main" id="{62692AED-764A-D10D-70F5-71A91FBA5929}"/>
              </a:ext>
            </a:extLst>
          </p:cNvPr>
          <p:cNvGrpSpPr/>
          <p:nvPr/>
        </p:nvGrpSpPr>
        <p:grpSpPr>
          <a:xfrm>
            <a:off x="7812222" y="5353951"/>
            <a:ext cx="1096223" cy="431606"/>
            <a:chOff x="1299226" y="871"/>
            <a:chExt cx="1461630" cy="575474"/>
          </a:xfrm>
        </p:grpSpPr>
        <p:sp>
          <p:nvSpPr>
            <p:cNvPr id="95" name="Rectángulo redondeado 94">
              <a:extLst>
                <a:ext uri="{FF2B5EF4-FFF2-40B4-BE49-F238E27FC236}">
                  <a16:creationId xmlns:a16="http://schemas.microsoft.com/office/drawing/2014/main" id="{FAF9E08C-3D82-AC22-1E7A-A742D65AB6A1}"/>
                </a:ext>
              </a:extLst>
            </p:cNvPr>
            <p:cNvSpPr/>
            <p:nvPr/>
          </p:nvSpPr>
          <p:spPr>
            <a:xfrm>
              <a:off x="1299226" y="871"/>
              <a:ext cx="1461630" cy="575474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350"/>
            </a:p>
          </p:txBody>
        </p:sp>
        <p:sp>
          <p:nvSpPr>
            <p:cNvPr id="96" name="CuadroTexto 95">
              <a:extLst>
                <a:ext uri="{FF2B5EF4-FFF2-40B4-BE49-F238E27FC236}">
                  <a16:creationId xmlns:a16="http://schemas.microsoft.com/office/drawing/2014/main" id="{68698BB1-6EEF-32E8-55ED-B461907488EC}"/>
                </a:ext>
              </a:extLst>
            </p:cNvPr>
            <p:cNvSpPr txBox="1"/>
            <p:nvPr/>
          </p:nvSpPr>
          <p:spPr>
            <a:xfrm>
              <a:off x="1327318" y="28963"/>
              <a:ext cx="1405446" cy="5192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17145" rIns="34290" bIns="17145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900" dirty="0"/>
                <a:t>RAM -&gt; GPU</a:t>
              </a:r>
            </a:p>
          </p:txBody>
        </p:sp>
      </p:grpSp>
      <p:grpSp>
        <p:nvGrpSpPr>
          <p:cNvPr id="89" name="Grupo 88">
            <a:extLst>
              <a:ext uri="{FF2B5EF4-FFF2-40B4-BE49-F238E27FC236}">
                <a16:creationId xmlns:a16="http://schemas.microsoft.com/office/drawing/2014/main" id="{14317350-4EFC-EF4E-0276-6933EDBD32DE}"/>
              </a:ext>
            </a:extLst>
          </p:cNvPr>
          <p:cNvGrpSpPr/>
          <p:nvPr/>
        </p:nvGrpSpPr>
        <p:grpSpPr>
          <a:xfrm>
            <a:off x="7809688" y="4867365"/>
            <a:ext cx="1096223" cy="431606"/>
            <a:chOff x="1299226" y="605119"/>
            <a:chExt cx="1461630" cy="575474"/>
          </a:xfrm>
        </p:grpSpPr>
        <p:sp>
          <p:nvSpPr>
            <p:cNvPr id="93" name="Rectángulo redondeado 92">
              <a:extLst>
                <a:ext uri="{FF2B5EF4-FFF2-40B4-BE49-F238E27FC236}">
                  <a16:creationId xmlns:a16="http://schemas.microsoft.com/office/drawing/2014/main" id="{59687309-F774-DAF7-F021-FEA5ABE305DB}"/>
                </a:ext>
              </a:extLst>
            </p:cNvPr>
            <p:cNvSpPr/>
            <p:nvPr/>
          </p:nvSpPr>
          <p:spPr>
            <a:xfrm>
              <a:off x="1299226" y="605119"/>
              <a:ext cx="1461630" cy="575474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350"/>
            </a:p>
          </p:txBody>
        </p:sp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58399774-552F-7E26-B510-491AD5392579}"/>
                </a:ext>
              </a:extLst>
            </p:cNvPr>
            <p:cNvSpPr txBox="1"/>
            <p:nvPr/>
          </p:nvSpPr>
          <p:spPr>
            <a:xfrm>
              <a:off x="1327318" y="633211"/>
              <a:ext cx="1405446" cy="5192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17145" rIns="34290" bIns="17145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900" dirty="0"/>
                <a:t>RAM -&gt; RAM</a:t>
              </a: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CD1E9731-EE15-0B64-76E1-F02085B83274}"/>
              </a:ext>
            </a:extLst>
          </p:cNvPr>
          <p:cNvGrpSpPr/>
          <p:nvPr/>
        </p:nvGrpSpPr>
        <p:grpSpPr>
          <a:xfrm>
            <a:off x="7809688" y="4374120"/>
            <a:ext cx="1096223" cy="431606"/>
            <a:chOff x="1299226" y="1209367"/>
            <a:chExt cx="1461630" cy="575474"/>
          </a:xfrm>
        </p:grpSpPr>
        <p:sp>
          <p:nvSpPr>
            <p:cNvPr id="91" name="Rectángulo redondeado 90">
              <a:extLst>
                <a:ext uri="{FF2B5EF4-FFF2-40B4-BE49-F238E27FC236}">
                  <a16:creationId xmlns:a16="http://schemas.microsoft.com/office/drawing/2014/main" id="{2E632BE9-EDC8-090B-9063-6BBD9F651AC6}"/>
                </a:ext>
              </a:extLst>
            </p:cNvPr>
            <p:cNvSpPr/>
            <p:nvPr/>
          </p:nvSpPr>
          <p:spPr>
            <a:xfrm>
              <a:off x="1299226" y="1209367"/>
              <a:ext cx="1461630" cy="575474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350"/>
            </a:p>
          </p:txBody>
        </p:sp>
        <p:sp>
          <p:nvSpPr>
            <p:cNvPr id="92" name="CuadroTexto 91">
              <a:extLst>
                <a:ext uri="{FF2B5EF4-FFF2-40B4-BE49-F238E27FC236}">
                  <a16:creationId xmlns:a16="http://schemas.microsoft.com/office/drawing/2014/main" id="{F4DFAE1A-D0B3-5577-7DF5-D4760B565D4D}"/>
                </a:ext>
              </a:extLst>
            </p:cNvPr>
            <p:cNvSpPr txBox="1"/>
            <p:nvPr/>
          </p:nvSpPr>
          <p:spPr>
            <a:xfrm>
              <a:off x="1327318" y="1237459"/>
              <a:ext cx="1405446" cy="5192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17145" rIns="34290" bIns="17145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900" dirty="0"/>
                <a:t>Network -&gt; RAM</a:t>
              </a:r>
            </a:p>
          </p:txBody>
        </p:sp>
      </p:grpSp>
      <p:pic>
        <p:nvPicPr>
          <p:cNvPr id="97" name="Imagen 96">
            <a:extLst>
              <a:ext uri="{FF2B5EF4-FFF2-40B4-BE49-F238E27FC236}">
                <a16:creationId xmlns:a16="http://schemas.microsoft.com/office/drawing/2014/main" id="{DE3EF286-F4E1-7B8E-BA67-4085C54E7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900000" flipH="1">
            <a:off x="6205060" y="2873781"/>
            <a:ext cx="429527" cy="406782"/>
          </a:xfrm>
          <a:prstGeom prst="rect">
            <a:avLst/>
          </a:prstGeom>
        </p:spPr>
      </p:pic>
      <p:pic>
        <p:nvPicPr>
          <p:cNvPr id="98" name="Imagen 97">
            <a:extLst>
              <a:ext uri="{FF2B5EF4-FFF2-40B4-BE49-F238E27FC236}">
                <a16:creationId xmlns:a16="http://schemas.microsoft.com/office/drawing/2014/main" id="{832F49A6-18CB-7BED-13A0-BC829E2A7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561" y="2502411"/>
            <a:ext cx="587386" cy="587385"/>
          </a:xfrm>
          <a:prstGeom prst="rect">
            <a:avLst/>
          </a:prstGeom>
        </p:spPr>
      </p:pic>
      <p:pic>
        <p:nvPicPr>
          <p:cNvPr id="99" name="Imagen 98">
            <a:extLst>
              <a:ext uri="{FF2B5EF4-FFF2-40B4-BE49-F238E27FC236}">
                <a16:creationId xmlns:a16="http://schemas.microsoft.com/office/drawing/2014/main" id="{93224D38-B974-5CDD-D72B-B81E181F8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29199" y="2230030"/>
            <a:ext cx="418349" cy="441740"/>
          </a:xfrm>
          <a:prstGeom prst="rect">
            <a:avLst/>
          </a:prstGeom>
        </p:spPr>
      </p:pic>
      <p:pic>
        <p:nvPicPr>
          <p:cNvPr id="100" name="Imagen 99">
            <a:extLst>
              <a:ext uri="{FF2B5EF4-FFF2-40B4-BE49-F238E27FC236}">
                <a16:creationId xmlns:a16="http://schemas.microsoft.com/office/drawing/2014/main" id="{4624A44C-656F-A644-D671-C494FB2022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 flipH="1">
            <a:off x="6248578" y="2573684"/>
            <a:ext cx="379591" cy="359490"/>
          </a:xfrm>
          <a:prstGeom prst="rect">
            <a:avLst/>
          </a:prstGeom>
        </p:spPr>
      </p:pic>
      <p:sp>
        <p:nvSpPr>
          <p:cNvPr id="101" name="Rectángulo redondeado 100">
            <a:extLst>
              <a:ext uri="{FF2B5EF4-FFF2-40B4-BE49-F238E27FC236}">
                <a16:creationId xmlns:a16="http://schemas.microsoft.com/office/drawing/2014/main" id="{4327C77D-5D42-495E-51AC-3AE93E737946}"/>
              </a:ext>
            </a:extLst>
          </p:cNvPr>
          <p:cNvSpPr/>
          <p:nvPr/>
        </p:nvSpPr>
        <p:spPr>
          <a:xfrm flipH="1">
            <a:off x="6751279" y="2406715"/>
            <a:ext cx="105382" cy="7334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PCI</a:t>
            </a:r>
          </a:p>
        </p:txBody>
      </p:sp>
      <p:sp>
        <p:nvSpPr>
          <p:cNvPr id="102" name="Flecha izquierda y derecha 101">
            <a:extLst>
              <a:ext uri="{FF2B5EF4-FFF2-40B4-BE49-F238E27FC236}">
                <a16:creationId xmlns:a16="http://schemas.microsoft.com/office/drawing/2014/main" id="{BDADA779-1527-8642-9ED1-17CDCDF8F7BE}"/>
              </a:ext>
            </a:extLst>
          </p:cNvPr>
          <p:cNvSpPr/>
          <p:nvPr/>
        </p:nvSpPr>
        <p:spPr>
          <a:xfrm flipH="1">
            <a:off x="6865654" y="2740813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3" name="Flecha izquierda y derecha 102">
            <a:extLst>
              <a:ext uri="{FF2B5EF4-FFF2-40B4-BE49-F238E27FC236}">
                <a16:creationId xmlns:a16="http://schemas.microsoft.com/office/drawing/2014/main" id="{70721482-4D45-120A-53C4-66729DBC76D0}"/>
              </a:ext>
            </a:extLst>
          </p:cNvPr>
          <p:cNvSpPr/>
          <p:nvPr/>
        </p:nvSpPr>
        <p:spPr>
          <a:xfrm flipH="1">
            <a:off x="6622615" y="3044188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4" name="Flecha izquierda y derecha 103">
            <a:extLst>
              <a:ext uri="{FF2B5EF4-FFF2-40B4-BE49-F238E27FC236}">
                <a16:creationId xmlns:a16="http://schemas.microsoft.com/office/drawing/2014/main" id="{DFC64630-9C4A-4A7C-BFB7-0560E30F8596}"/>
              </a:ext>
            </a:extLst>
          </p:cNvPr>
          <p:cNvSpPr/>
          <p:nvPr/>
        </p:nvSpPr>
        <p:spPr>
          <a:xfrm flipH="1">
            <a:off x="6623161" y="2753782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5" name="Flecha izquierda y derecha 104">
            <a:extLst>
              <a:ext uri="{FF2B5EF4-FFF2-40B4-BE49-F238E27FC236}">
                <a16:creationId xmlns:a16="http://schemas.microsoft.com/office/drawing/2014/main" id="{DA7F4F60-AE63-A74E-4ECB-16BF504F7720}"/>
              </a:ext>
            </a:extLst>
          </p:cNvPr>
          <p:cNvSpPr/>
          <p:nvPr/>
        </p:nvSpPr>
        <p:spPr>
          <a:xfrm flipH="1">
            <a:off x="6627110" y="2450900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6" name="Imagen 105">
            <a:extLst>
              <a:ext uri="{FF2B5EF4-FFF2-40B4-BE49-F238E27FC236}">
                <a16:creationId xmlns:a16="http://schemas.microsoft.com/office/drawing/2014/main" id="{47400B8A-70A4-41E7-8B13-890CED1B8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900000" flipH="1">
            <a:off x="6205060" y="3953123"/>
            <a:ext cx="429527" cy="406782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80AEFBF9-7639-F9BA-D51D-6BC69C04E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561" y="3581753"/>
            <a:ext cx="587386" cy="587385"/>
          </a:xfrm>
          <a:prstGeom prst="rect">
            <a:avLst/>
          </a:prstGeom>
        </p:spPr>
      </p:pic>
      <p:pic>
        <p:nvPicPr>
          <p:cNvPr id="108" name="Imagen 107">
            <a:extLst>
              <a:ext uri="{FF2B5EF4-FFF2-40B4-BE49-F238E27FC236}">
                <a16:creationId xmlns:a16="http://schemas.microsoft.com/office/drawing/2014/main" id="{7E83B99F-ABD3-1190-0E7A-F0471E8B8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29199" y="3309372"/>
            <a:ext cx="418349" cy="441740"/>
          </a:xfrm>
          <a:prstGeom prst="rect">
            <a:avLst/>
          </a:prstGeom>
        </p:spPr>
      </p:pic>
      <p:pic>
        <p:nvPicPr>
          <p:cNvPr id="109" name="Imagen 108">
            <a:extLst>
              <a:ext uri="{FF2B5EF4-FFF2-40B4-BE49-F238E27FC236}">
                <a16:creationId xmlns:a16="http://schemas.microsoft.com/office/drawing/2014/main" id="{512FD24D-55E6-F04A-9A1D-AD6509DCB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 flipH="1">
            <a:off x="6248578" y="3653026"/>
            <a:ext cx="379591" cy="359490"/>
          </a:xfrm>
          <a:prstGeom prst="rect">
            <a:avLst/>
          </a:prstGeom>
        </p:spPr>
      </p:pic>
      <p:sp>
        <p:nvSpPr>
          <p:cNvPr id="110" name="Rectángulo redondeado 109">
            <a:extLst>
              <a:ext uri="{FF2B5EF4-FFF2-40B4-BE49-F238E27FC236}">
                <a16:creationId xmlns:a16="http://schemas.microsoft.com/office/drawing/2014/main" id="{C567442F-1C31-0921-7D98-072533D926F2}"/>
              </a:ext>
            </a:extLst>
          </p:cNvPr>
          <p:cNvSpPr/>
          <p:nvPr/>
        </p:nvSpPr>
        <p:spPr>
          <a:xfrm flipH="1">
            <a:off x="6751279" y="3486057"/>
            <a:ext cx="105382" cy="7334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PCI</a:t>
            </a:r>
          </a:p>
        </p:txBody>
      </p:sp>
      <p:sp>
        <p:nvSpPr>
          <p:cNvPr id="111" name="Flecha izquierda y derecha 110">
            <a:extLst>
              <a:ext uri="{FF2B5EF4-FFF2-40B4-BE49-F238E27FC236}">
                <a16:creationId xmlns:a16="http://schemas.microsoft.com/office/drawing/2014/main" id="{161656E5-4ABF-9B22-5173-C03D58728420}"/>
              </a:ext>
            </a:extLst>
          </p:cNvPr>
          <p:cNvSpPr/>
          <p:nvPr/>
        </p:nvSpPr>
        <p:spPr>
          <a:xfrm flipH="1">
            <a:off x="6865654" y="3820156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2" name="Flecha izquierda y derecha 111">
            <a:extLst>
              <a:ext uri="{FF2B5EF4-FFF2-40B4-BE49-F238E27FC236}">
                <a16:creationId xmlns:a16="http://schemas.microsoft.com/office/drawing/2014/main" id="{EBF9C05F-0075-630B-DEED-FF12378CF27C}"/>
              </a:ext>
            </a:extLst>
          </p:cNvPr>
          <p:cNvSpPr/>
          <p:nvPr/>
        </p:nvSpPr>
        <p:spPr>
          <a:xfrm flipH="1">
            <a:off x="6622615" y="4123531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3" name="Flecha izquierda y derecha 112">
            <a:extLst>
              <a:ext uri="{FF2B5EF4-FFF2-40B4-BE49-F238E27FC236}">
                <a16:creationId xmlns:a16="http://schemas.microsoft.com/office/drawing/2014/main" id="{2CC2CB01-F837-D4C0-62A3-911E3C3DDAC3}"/>
              </a:ext>
            </a:extLst>
          </p:cNvPr>
          <p:cNvSpPr/>
          <p:nvPr/>
        </p:nvSpPr>
        <p:spPr>
          <a:xfrm flipH="1">
            <a:off x="6623161" y="3833125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4" name="Flecha izquierda y derecha 113">
            <a:extLst>
              <a:ext uri="{FF2B5EF4-FFF2-40B4-BE49-F238E27FC236}">
                <a16:creationId xmlns:a16="http://schemas.microsoft.com/office/drawing/2014/main" id="{50635C45-FC56-29C5-2000-C70F2FC8EF9E}"/>
              </a:ext>
            </a:extLst>
          </p:cNvPr>
          <p:cNvSpPr/>
          <p:nvPr/>
        </p:nvSpPr>
        <p:spPr>
          <a:xfrm flipH="1">
            <a:off x="6627110" y="3530242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15" name="Imagen 114">
            <a:extLst>
              <a:ext uri="{FF2B5EF4-FFF2-40B4-BE49-F238E27FC236}">
                <a16:creationId xmlns:a16="http://schemas.microsoft.com/office/drawing/2014/main" id="{1810DE51-6DEA-20CF-8B26-07984922B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900000" flipH="1">
            <a:off x="6229200" y="5095943"/>
            <a:ext cx="429527" cy="406782"/>
          </a:xfrm>
          <a:prstGeom prst="rect">
            <a:avLst/>
          </a:prstGeom>
        </p:spPr>
      </p:pic>
      <p:pic>
        <p:nvPicPr>
          <p:cNvPr id="116" name="Imagen 115">
            <a:extLst>
              <a:ext uri="{FF2B5EF4-FFF2-40B4-BE49-F238E27FC236}">
                <a16:creationId xmlns:a16="http://schemas.microsoft.com/office/drawing/2014/main" id="{4F9847B1-3426-1ED4-7866-9C9C05838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702" y="4724573"/>
            <a:ext cx="587386" cy="587385"/>
          </a:xfrm>
          <a:prstGeom prst="rect">
            <a:avLst/>
          </a:prstGeom>
        </p:spPr>
      </p:pic>
      <p:pic>
        <p:nvPicPr>
          <p:cNvPr id="117" name="Imagen 116">
            <a:extLst>
              <a:ext uri="{FF2B5EF4-FFF2-40B4-BE49-F238E27FC236}">
                <a16:creationId xmlns:a16="http://schemas.microsoft.com/office/drawing/2014/main" id="{64A0F8B2-A6EC-46AC-E947-07D9B074C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53339" y="4452192"/>
            <a:ext cx="418349" cy="441740"/>
          </a:xfrm>
          <a:prstGeom prst="rect">
            <a:avLst/>
          </a:prstGeom>
        </p:spPr>
      </p:pic>
      <p:pic>
        <p:nvPicPr>
          <p:cNvPr id="118" name="Imagen 117">
            <a:extLst>
              <a:ext uri="{FF2B5EF4-FFF2-40B4-BE49-F238E27FC236}">
                <a16:creationId xmlns:a16="http://schemas.microsoft.com/office/drawing/2014/main" id="{CD1EC2D2-CA1B-00C8-E82C-3784351557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 flipH="1">
            <a:off x="6272718" y="4795846"/>
            <a:ext cx="379591" cy="359490"/>
          </a:xfrm>
          <a:prstGeom prst="rect">
            <a:avLst/>
          </a:prstGeom>
        </p:spPr>
      </p:pic>
      <p:sp>
        <p:nvSpPr>
          <p:cNvPr id="119" name="Rectángulo redondeado 118">
            <a:extLst>
              <a:ext uri="{FF2B5EF4-FFF2-40B4-BE49-F238E27FC236}">
                <a16:creationId xmlns:a16="http://schemas.microsoft.com/office/drawing/2014/main" id="{E634F6F1-0006-98AA-79F8-9DFF4CCCBA73}"/>
              </a:ext>
            </a:extLst>
          </p:cNvPr>
          <p:cNvSpPr/>
          <p:nvPr/>
        </p:nvSpPr>
        <p:spPr>
          <a:xfrm flipH="1">
            <a:off x="6775419" y="4628877"/>
            <a:ext cx="105382" cy="7334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PCI</a:t>
            </a:r>
          </a:p>
        </p:txBody>
      </p:sp>
      <p:sp>
        <p:nvSpPr>
          <p:cNvPr id="120" name="Flecha izquierda y derecha 119">
            <a:extLst>
              <a:ext uri="{FF2B5EF4-FFF2-40B4-BE49-F238E27FC236}">
                <a16:creationId xmlns:a16="http://schemas.microsoft.com/office/drawing/2014/main" id="{FFB01216-F2F7-FABF-F8A5-DC291009FD2B}"/>
              </a:ext>
            </a:extLst>
          </p:cNvPr>
          <p:cNvSpPr/>
          <p:nvPr/>
        </p:nvSpPr>
        <p:spPr>
          <a:xfrm flipH="1">
            <a:off x="6889794" y="4962976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1" name="Flecha izquierda y derecha 120">
            <a:extLst>
              <a:ext uri="{FF2B5EF4-FFF2-40B4-BE49-F238E27FC236}">
                <a16:creationId xmlns:a16="http://schemas.microsoft.com/office/drawing/2014/main" id="{C42E1B32-F7A0-EDB3-EE3D-AF19CC55B832}"/>
              </a:ext>
            </a:extLst>
          </p:cNvPr>
          <p:cNvSpPr/>
          <p:nvPr/>
        </p:nvSpPr>
        <p:spPr>
          <a:xfrm flipH="1">
            <a:off x="6646755" y="5266351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2" name="Flecha izquierda y derecha 121">
            <a:extLst>
              <a:ext uri="{FF2B5EF4-FFF2-40B4-BE49-F238E27FC236}">
                <a16:creationId xmlns:a16="http://schemas.microsoft.com/office/drawing/2014/main" id="{26594768-2699-C222-3697-C78126B7B1AA}"/>
              </a:ext>
            </a:extLst>
          </p:cNvPr>
          <p:cNvSpPr/>
          <p:nvPr/>
        </p:nvSpPr>
        <p:spPr>
          <a:xfrm flipH="1">
            <a:off x="6647301" y="4975945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3" name="Flecha izquierda y derecha 122">
            <a:extLst>
              <a:ext uri="{FF2B5EF4-FFF2-40B4-BE49-F238E27FC236}">
                <a16:creationId xmlns:a16="http://schemas.microsoft.com/office/drawing/2014/main" id="{BE8D19FF-AAD7-0745-E93B-F4E969591C1B}"/>
              </a:ext>
            </a:extLst>
          </p:cNvPr>
          <p:cNvSpPr/>
          <p:nvPr/>
        </p:nvSpPr>
        <p:spPr>
          <a:xfrm flipH="1">
            <a:off x="6651250" y="4673062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24" name="Conector recto 123">
            <a:extLst>
              <a:ext uri="{FF2B5EF4-FFF2-40B4-BE49-F238E27FC236}">
                <a16:creationId xmlns:a16="http://schemas.microsoft.com/office/drawing/2014/main" id="{5D1D1A0A-834F-3EB4-4F7A-47FABC51CCF0}"/>
              </a:ext>
            </a:extLst>
          </p:cNvPr>
          <p:cNvCxnSpPr>
            <a:cxnSpLocks/>
          </p:cNvCxnSpPr>
          <p:nvPr/>
        </p:nvCxnSpPr>
        <p:spPr>
          <a:xfrm>
            <a:off x="5278482" y="3680701"/>
            <a:ext cx="777988" cy="9985"/>
          </a:xfrm>
          <a:prstGeom prst="line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>
            <a:extLst>
              <a:ext uri="{FF2B5EF4-FFF2-40B4-BE49-F238E27FC236}">
                <a16:creationId xmlns:a16="http://schemas.microsoft.com/office/drawing/2014/main" id="{2A53D38C-A4D4-1E8B-252E-478350FC4E96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GPUDirect</a:t>
            </a:r>
            <a:endParaRPr lang="es-ES" dirty="0"/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3093762A-9E88-9E61-6832-4F6E59A6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82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38743-8783-3183-02DA-D7647096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Imagen 96">
            <a:extLst>
              <a:ext uri="{FF2B5EF4-FFF2-40B4-BE49-F238E27FC236}">
                <a16:creationId xmlns:a16="http://schemas.microsoft.com/office/drawing/2014/main" id="{9CA8FF82-B2C9-3CF6-AD78-DE8A61AB8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561" y="2502411"/>
            <a:ext cx="587386" cy="587385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CC94744-D8CE-38A5-B132-3A2661FDE3AF}"/>
              </a:ext>
            </a:extLst>
          </p:cNvPr>
          <p:cNvSpPr txBox="1"/>
          <p:nvPr/>
        </p:nvSpPr>
        <p:spPr>
          <a:xfrm>
            <a:off x="1291535" y="1149685"/>
            <a:ext cx="546765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/>
              <a:t>GPUDirect</a:t>
            </a:r>
            <a:r>
              <a:rPr lang="en-US" sz="3000" dirty="0"/>
              <a:t> 1.0 o </a:t>
            </a:r>
            <a:r>
              <a:rPr lang="en-US" sz="3000" dirty="0" err="1"/>
              <a:t>GPUDirect</a:t>
            </a:r>
            <a:r>
              <a:rPr lang="en-US" sz="3000" dirty="0"/>
              <a:t> RDMA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19FA3A4-A353-B38B-F3F4-8AA11979C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809" y="3076411"/>
            <a:ext cx="1117796" cy="111779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F7E0288-0C5D-D3A2-356A-574211AAA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779" y="2693701"/>
            <a:ext cx="765420" cy="76542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42EAA4A-6579-07AD-81A1-E8EF44F9B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00000">
            <a:off x="2532300" y="3789449"/>
            <a:ext cx="744259" cy="74425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10A34A-6082-6062-2787-B340AAD00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541622" y="3271751"/>
            <a:ext cx="657732" cy="657732"/>
          </a:xfrm>
          <a:prstGeom prst="rect">
            <a:avLst/>
          </a:prstGeom>
        </p:spPr>
      </p:pic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378270D3-B685-58DE-4416-268EB9430A01}"/>
              </a:ext>
            </a:extLst>
          </p:cNvPr>
          <p:cNvSpPr/>
          <p:nvPr/>
        </p:nvSpPr>
        <p:spPr>
          <a:xfrm>
            <a:off x="2105179" y="2999850"/>
            <a:ext cx="192809" cy="127091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PCI</a:t>
            </a:r>
          </a:p>
        </p:txBody>
      </p:sp>
      <p:sp>
        <p:nvSpPr>
          <p:cNvPr id="8" name="Flecha izquierda y derecha 7">
            <a:extLst>
              <a:ext uri="{FF2B5EF4-FFF2-40B4-BE49-F238E27FC236}">
                <a16:creationId xmlns:a16="http://schemas.microsoft.com/office/drawing/2014/main" id="{6557A701-EE4D-3869-D17F-6D00BA8055E8}"/>
              </a:ext>
            </a:extLst>
          </p:cNvPr>
          <p:cNvSpPr/>
          <p:nvPr/>
        </p:nvSpPr>
        <p:spPr>
          <a:xfrm>
            <a:off x="1861546" y="3578756"/>
            <a:ext cx="227183" cy="11430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Flecha izquierda y derecha 8">
            <a:extLst>
              <a:ext uri="{FF2B5EF4-FFF2-40B4-BE49-F238E27FC236}">
                <a16:creationId xmlns:a16="http://schemas.microsoft.com/office/drawing/2014/main" id="{1051B926-30CA-75A5-FE3D-72DCD4A4A20B}"/>
              </a:ext>
            </a:extLst>
          </p:cNvPr>
          <p:cNvSpPr/>
          <p:nvPr/>
        </p:nvSpPr>
        <p:spPr>
          <a:xfrm>
            <a:off x="2306215" y="4104426"/>
            <a:ext cx="227183" cy="11430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Flecha izquierda y derecha 9">
            <a:extLst>
              <a:ext uri="{FF2B5EF4-FFF2-40B4-BE49-F238E27FC236}">
                <a16:creationId xmlns:a16="http://schemas.microsoft.com/office/drawing/2014/main" id="{001C7233-9601-3759-24FD-6B28B40CD57C}"/>
              </a:ext>
            </a:extLst>
          </p:cNvPr>
          <p:cNvSpPr/>
          <p:nvPr/>
        </p:nvSpPr>
        <p:spPr>
          <a:xfrm>
            <a:off x="2305216" y="3601227"/>
            <a:ext cx="227183" cy="11430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Flecha izquierda y derecha 10">
            <a:extLst>
              <a:ext uri="{FF2B5EF4-FFF2-40B4-BE49-F238E27FC236}">
                <a16:creationId xmlns:a16="http://schemas.microsoft.com/office/drawing/2014/main" id="{C116BA8B-4438-B43D-F715-F9BCEA8752C4}"/>
              </a:ext>
            </a:extLst>
          </p:cNvPr>
          <p:cNvSpPr/>
          <p:nvPr/>
        </p:nvSpPr>
        <p:spPr>
          <a:xfrm>
            <a:off x="2297989" y="3076411"/>
            <a:ext cx="227183" cy="114303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5" name="Rectángulo redondeado 34">
            <a:extLst>
              <a:ext uri="{FF2B5EF4-FFF2-40B4-BE49-F238E27FC236}">
                <a16:creationId xmlns:a16="http://schemas.microsoft.com/office/drawing/2014/main" id="{EEED0FBE-03F8-A9C6-AD53-0D864B4A18D9}"/>
              </a:ext>
            </a:extLst>
          </p:cNvPr>
          <p:cNvSpPr/>
          <p:nvPr/>
        </p:nvSpPr>
        <p:spPr>
          <a:xfrm>
            <a:off x="4073404" y="2793562"/>
            <a:ext cx="915596" cy="70952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4" name="Gráfico 33" descr="Servidor contorno">
            <a:extLst>
              <a:ext uri="{FF2B5EF4-FFF2-40B4-BE49-F238E27FC236}">
                <a16:creationId xmlns:a16="http://schemas.microsoft.com/office/drawing/2014/main" id="{00882FC1-3315-E78F-13BD-840AEB5061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50705" y="2591699"/>
            <a:ext cx="1360103" cy="1360103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CA78DE0B-97CA-2D7D-BC7C-1384BCDE30F3}"/>
              </a:ext>
            </a:extLst>
          </p:cNvPr>
          <p:cNvSpPr txBox="1"/>
          <p:nvPr/>
        </p:nvSpPr>
        <p:spPr>
          <a:xfrm>
            <a:off x="4004485" y="3813302"/>
            <a:ext cx="10525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InfiniBand</a:t>
            </a: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47D9E5F0-A9B5-42B1-C4E7-B051396B3CFE}"/>
              </a:ext>
            </a:extLst>
          </p:cNvPr>
          <p:cNvCxnSpPr>
            <a:cxnSpLocks/>
          </p:cNvCxnSpPr>
          <p:nvPr/>
        </p:nvCxnSpPr>
        <p:spPr>
          <a:xfrm>
            <a:off x="2216539" y="3113066"/>
            <a:ext cx="365822" cy="20497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12C3D99A-6734-D40A-60BE-D20CB0A0C120}"/>
              </a:ext>
            </a:extLst>
          </p:cNvPr>
          <p:cNvCxnSpPr>
            <a:cxnSpLocks/>
          </p:cNvCxnSpPr>
          <p:nvPr/>
        </p:nvCxnSpPr>
        <p:spPr>
          <a:xfrm flipH="1">
            <a:off x="2201415" y="3113066"/>
            <a:ext cx="15125" cy="1145256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039054F8-E787-21BE-9395-AC75DF8DFC43}"/>
              </a:ext>
            </a:extLst>
          </p:cNvPr>
          <p:cNvCxnSpPr>
            <a:cxnSpLocks/>
          </p:cNvCxnSpPr>
          <p:nvPr/>
        </p:nvCxnSpPr>
        <p:spPr>
          <a:xfrm rot="10800000">
            <a:off x="2173956" y="4270765"/>
            <a:ext cx="408406" cy="0"/>
          </a:xfrm>
          <a:prstGeom prst="line">
            <a:avLst/>
          </a:prstGeom>
          <a:ln w="57150">
            <a:solidFill>
              <a:srgbClr val="00B0F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915137F4-EB16-9945-F64F-6E30147CFA20}"/>
              </a:ext>
            </a:extLst>
          </p:cNvPr>
          <p:cNvCxnSpPr>
            <a:cxnSpLocks/>
          </p:cNvCxnSpPr>
          <p:nvPr/>
        </p:nvCxnSpPr>
        <p:spPr>
          <a:xfrm>
            <a:off x="3226497" y="3669432"/>
            <a:ext cx="777988" cy="9985"/>
          </a:xfrm>
          <a:prstGeom prst="line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03AB05AC-05FB-27AE-7443-1B948B544946}"/>
              </a:ext>
            </a:extLst>
          </p:cNvPr>
          <p:cNvCxnSpPr>
            <a:cxnSpLocks/>
          </p:cNvCxnSpPr>
          <p:nvPr/>
        </p:nvCxnSpPr>
        <p:spPr>
          <a:xfrm rot="10800000">
            <a:off x="2337419" y="3702291"/>
            <a:ext cx="408406" cy="0"/>
          </a:xfrm>
          <a:prstGeom prst="line">
            <a:avLst/>
          </a:prstGeom>
          <a:ln w="5715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3ABAA8AB-589B-28EC-7915-3BA3343F83B4}"/>
              </a:ext>
            </a:extLst>
          </p:cNvPr>
          <p:cNvCxnSpPr>
            <a:cxnSpLocks/>
          </p:cNvCxnSpPr>
          <p:nvPr/>
        </p:nvCxnSpPr>
        <p:spPr>
          <a:xfrm>
            <a:off x="2337418" y="4051576"/>
            <a:ext cx="26572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7635EF81-87E8-645B-6DF1-AED5217CED79}"/>
              </a:ext>
            </a:extLst>
          </p:cNvPr>
          <p:cNvCxnSpPr>
            <a:cxnSpLocks/>
            <a:stCxn id="10" idx="4"/>
          </p:cNvCxnSpPr>
          <p:nvPr/>
        </p:nvCxnSpPr>
        <p:spPr>
          <a:xfrm flipH="1">
            <a:off x="2335152" y="3715531"/>
            <a:ext cx="27215" cy="35290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5" name="Diagrama 84">
            <a:extLst>
              <a:ext uri="{FF2B5EF4-FFF2-40B4-BE49-F238E27FC236}">
                <a16:creationId xmlns:a16="http://schemas.microsoft.com/office/drawing/2014/main" id="{AAA69A72-15B9-D579-E198-DA7105A0D2AC}"/>
              </a:ext>
            </a:extLst>
          </p:cNvPr>
          <p:cNvGraphicFramePr/>
          <p:nvPr/>
        </p:nvGraphicFramePr>
        <p:xfrm>
          <a:off x="-473422" y="4841645"/>
          <a:ext cx="3045063" cy="899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86" name="CuadroTexto 85">
            <a:extLst>
              <a:ext uri="{FF2B5EF4-FFF2-40B4-BE49-F238E27FC236}">
                <a16:creationId xmlns:a16="http://schemas.microsoft.com/office/drawing/2014/main" id="{039873AA-CD5C-0B64-6BFA-9D5752556B48}"/>
              </a:ext>
            </a:extLst>
          </p:cNvPr>
          <p:cNvSpPr txBox="1"/>
          <p:nvPr/>
        </p:nvSpPr>
        <p:spPr>
          <a:xfrm>
            <a:off x="954652" y="2609939"/>
            <a:ext cx="9165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GPUDirect</a:t>
            </a:r>
            <a:endParaRPr lang="en-US" sz="135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D6BCF88-9238-5A6B-B098-DAE7BDE6671D}"/>
              </a:ext>
            </a:extLst>
          </p:cNvPr>
          <p:cNvSpPr txBox="1"/>
          <p:nvPr/>
        </p:nvSpPr>
        <p:spPr>
          <a:xfrm>
            <a:off x="2257849" y="5590236"/>
            <a:ext cx="387638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Memoria RAM accessible </a:t>
            </a:r>
            <a:r>
              <a:rPr lang="en-US" sz="1350" dirty="0" err="1"/>
              <a:t>desde</a:t>
            </a:r>
            <a:r>
              <a:rPr lang="en-US" sz="1350" dirty="0"/>
              <a:t> </a:t>
            </a:r>
            <a:r>
              <a:rPr lang="en-US" sz="1350" dirty="0" err="1"/>
              <a:t>dispositivos</a:t>
            </a:r>
            <a:r>
              <a:rPr lang="en-US" sz="1350" dirty="0"/>
              <a:t> </a:t>
            </a:r>
            <a:r>
              <a:rPr lang="en-US" sz="1350" dirty="0" err="1"/>
              <a:t>en</a:t>
            </a:r>
            <a:r>
              <a:rPr lang="en-US" sz="1350" dirty="0"/>
              <a:t> PCI!!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B0CFD3E9-1421-57A1-086B-637C3CCE51F1}"/>
              </a:ext>
            </a:extLst>
          </p:cNvPr>
          <p:cNvGrpSpPr/>
          <p:nvPr/>
        </p:nvGrpSpPr>
        <p:grpSpPr>
          <a:xfrm>
            <a:off x="7833291" y="5245009"/>
            <a:ext cx="1096223" cy="431606"/>
            <a:chOff x="1299226" y="871"/>
            <a:chExt cx="1461630" cy="575474"/>
          </a:xfrm>
        </p:grpSpPr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FEA7595C-26CB-1F14-6A53-9FD33AF6622B}"/>
                </a:ext>
              </a:extLst>
            </p:cNvPr>
            <p:cNvSpPr/>
            <p:nvPr/>
          </p:nvSpPr>
          <p:spPr>
            <a:xfrm>
              <a:off x="1299226" y="871"/>
              <a:ext cx="1461630" cy="575474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350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AF7C6B60-CC76-D62A-A564-432254E2F0F2}"/>
                </a:ext>
              </a:extLst>
            </p:cNvPr>
            <p:cNvSpPr txBox="1"/>
            <p:nvPr/>
          </p:nvSpPr>
          <p:spPr>
            <a:xfrm>
              <a:off x="1327318" y="28963"/>
              <a:ext cx="1405446" cy="5192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17145" rIns="34290" bIns="17145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900" dirty="0"/>
                <a:t>RAM -&gt; GPU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61F49E24-FC33-8A03-DC6E-FE32198AA369}"/>
              </a:ext>
            </a:extLst>
          </p:cNvPr>
          <p:cNvGrpSpPr/>
          <p:nvPr/>
        </p:nvGrpSpPr>
        <p:grpSpPr>
          <a:xfrm>
            <a:off x="7833291" y="4792334"/>
            <a:ext cx="1096223" cy="431606"/>
            <a:chOff x="1299226" y="1209367"/>
            <a:chExt cx="1461630" cy="575474"/>
          </a:xfrm>
        </p:grpSpPr>
        <p:sp>
          <p:nvSpPr>
            <p:cNvPr id="27" name="Rectángulo redondeado 26">
              <a:extLst>
                <a:ext uri="{FF2B5EF4-FFF2-40B4-BE49-F238E27FC236}">
                  <a16:creationId xmlns:a16="http://schemas.microsoft.com/office/drawing/2014/main" id="{0997A5DF-E5CF-829F-46E5-7CDB69863AC2}"/>
                </a:ext>
              </a:extLst>
            </p:cNvPr>
            <p:cNvSpPr/>
            <p:nvPr/>
          </p:nvSpPr>
          <p:spPr>
            <a:xfrm>
              <a:off x="1299226" y="1209367"/>
              <a:ext cx="1461630" cy="575474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350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1FCC72C4-78FA-FFF6-B4D3-AF8DAD093460}"/>
                </a:ext>
              </a:extLst>
            </p:cNvPr>
            <p:cNvSpPr txBox="1"/>
            <p:nvPr/>
          </p:nvSpPr>
          <p:spPr>
            <a:xfrm>
              <a:off x="1327318" y="1237459"/>
              <a:ext cx="1405446" cy="5192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17145" rIns="34290" bIns="17145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900" dirty="0"/>
                <a:t>Network -&gt; RAM</a:t>
              </a:r>
            </a:p>
          </p:txBody>
        </p:sp>
      </p:grpSp>
      <p:pic>
        <p:nvPicPr>
          <p:cNvPr id="31" name="Imagen 30">
            <a:extLst>
              <a:ext uri="{FF2B5EF4-FFF2-40B4-BE49-F238E27FC236}">
                <a16:creationId xmlns:a16="http://schemas.microsoft.com/office/drawing/2014/main" id="{1BC26081-0373-C030-0E98-64345A286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900000" flipH="1">
            <a:off x="6205060" y="2873781"/>
            <a:ext cx="429527" cy="40678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01531403-72EE-0CF3-72E0-0CC4E8373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29199" y="2230030"/>
            <a:ext cx="418349" cy="44174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5C09CD55-FD15-203B-6A4D-2F5F893ED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 flipH="1">
            <a:off x="6248578" y="2573684"/>
            <a:ext cx="379591" cy="359490"/>
          </a:xfrm>
          <a:prstGeom prst="rect">
            <a:avLst/>
          </a:prstGeom>
        </p:spPr>
      </p:pic>
      <p:sp>
        <p:nvSpPr>
          <p:cNvPr id="36" name="Rectángulo redondeado 35">
            <a:extLst>
              <a:ext uri="{FF2B5EF4-FFF2-40B4-BE49-F238E27FC236}">
                <a16:creationId xmlns:a16="http://schemas.microsoft.com/office/drawing/2014/main" id="{8ABCDABB-23C9-423F-CB06-5D26B8A03AE8}"/>
              </a:ext>
            </a:extLst>
          </p:cNvPr>
          <p:cNvSpPr/>
          <p:nvPr/>
        </p:nvSpPr>
        <p:spPr>
          <a:xfrm flipH="1">
            <a:off x="6751279" y="2406715"/>
            <a:ext cx="105382" cy="7334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PCI</a:t>
            </a:r>
          </a:p>
        </p:txBody>
      </p:sp>
      <p:sp>
        <p:nvSpPr>
          <p:cNvPr id="37" name="Flecha izquierda y derecha 36">
            <a:extLst>
              <a:ext uri="{FF2B5EF4-FFF2-40B4-BE49-F238E27FC236}">
                <a16:creationId xmlns:a16="http://schemas.microsoft.com/office/drawing/2014/main" id="{B7FCCB53-5657-71FF-F2FD-61224B8E99BE}"/>
              </a:ext>
            </a:extLst>
          </p:cNvPr>
          <p:cNvSpPr/>
          <p:nvPr/>
        </p:nvSpPr>
        <p:spPr>
          <a:xfrm flipH="1">
            <a:off x="6865654" y="2740813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0" name="Flecha izquierda y derecha 39">
            <a:extLst>
              <a:ext uri="{FF2B5EF4-FFF2-40B4-BE49-F238E27FC236}">
                <a16:creationId xmlns:a16="http://schemas.microsoft.com/office/drawing/2014/main" id="{FAF44A38-4A28-2324-4CEA-E5179538BF39}"/>
              </a:ext>
            </a:extLst>
          </p:cNvPr>
          <p:cNvSpPr/>
          <p:nvPr/>
        </p:nvSpPr>
        <p:spPr>
          <a:xfrm flipH="1">
            <a:off x="6622615" y="3044188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3" name="Flecha izquierda y derecha 42">
            <a:extLst>
              <a:ext uri="{FF2B5EF4-FFF2-40B4-BE49-F238E27FC236}">
                <a16:creationId xmlns:a16="http://schemas.microsoft.com/office/drawing/2014/main" id="{7895E47B-1095-D377-9157-CB9A6FE74701}"/>
              </a:ext>
            </a:extLst>
          </p:cNvPr>
          <p:cNvSpPr/>
          <p:nvPr/>
        </p:nvSpPr>
        <p:spPr>
          <a:xfrm flipH="1">
            <a:off x="6623161" y="2753782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5" name="Flecha izquierda y derecha 44">
            <a:extLst>
              <a:ext uri="{FF2B5EF4-FFF2-40B4-BE49-F238E27FC236}">
                <a16:creationId xmlns:a16="http://schemas.microsoft.com/office/drawing/2014/main" id="{D9948EA7-6898-1144-911C-F95C3643F95B}"/>
              </a:ext>
            </a:extLst>
          </p:cNvPr>
          <p:cNvSpPr/>
          <p:nvPr/>
        </p:nvSpPr>
        <p:spPr>
          <a:xfrm flipH="1">
            <a:off x="6627110" y="2450900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3284888E-E469-D2B7-65CB-7F1F924A3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900000" flipH="1">
            <a:off x="6205060" y="3953123"/>
            <a:ext cx="429527" cy="406782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5E8989B7-2756-C032-270A-3734A9A9B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561" y="3581753"/>
            <a:ext cx="587386" cy="587385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F71F0E92-F924-06F2-6494-B613515F8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29199" y="3309372"/>
            <a:ext cx="418349" cy="441740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FE8FCD22-0707-D7A4-2450-B3D3281282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 flipH="1">
            <a:off x="6248578" y="3653026"/>
            <a:ext cx="379591" cy="359490"/>
          </a:xfrm>
          <a:prstGeom prst="rect">
            <a:avLst/>
          </a:prstGeom>
        </p:spPr>
      </p:pic>
      <p:sp>
        <p:nvSpPr>
          <p:cNvPr id="50" name="Rectángulo redondeado 49">
            <a:extLst>
              <a:ext uri="{FF2B5EF4-FFF2-40B4-BE49-F238E27FC236}">
                <a16:creationId xmlns:a16="http://schemas.microsoft.com/office/drawing/2014/main" id="{8320ECDE-5484-C5EB-C9D5-EBFB940CABE0}"/>
              </a:ext>
            </a:extLst>
          </p:cNvPr>
          <p:cNvSpPr/>
          <p:nvPr/>
        </p:nvSpPr>
        <p:spPr>
          <a:xfrm flipH="1">
            <a:off x="6751279" y="3486057"/>
            <a:ext cx="105382" cy="7334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PCI</a:t>
            </a:r>
          </a:p>
        </p:txBody>
      </p:sp>
      <p:sp>
        <p:nvSpPr>
          <p:cNvPr id="53" name="Flecha izquierda y derecha 52">
            <a:extLst>
              <a:ext uri="{FF2B5EF4-FFF2-40B4-BE49-F238E27FC236}">
                <a16:creationId xmlns:a16="http://schemas.microsoft.com/office/drawing/2014/main" id="{10BB99EF-D3D4-B5AD-C361-2CF4BDBDE592}"/>
              </a:ext>
            </a:extLst>
          </p:cNvPr>
          <p:cNvSpPr/>
          <p:nvPr/>
        </p:nvSpPr>
        <p:spPr>
          <a:xfrm flipH="1">
            <a:off x="6865654" y="3820156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5" name="Flecha izquierda y derecha 54">
            <a:extLst>
              <a:ext uri="{FF2B5EF4-FFF2-40B4-BE49-F238E27FC236}">
                <a16:creationId xmlns:a16="http://schemas.microsoft.com/office/drawing/2014/main" id="{48315886-EE5C-94C1-FE30-03E8D861AC2A}"/>
              </a:ext>
            </a:extLst>
          </p:cNvPr>
          <p:cNvSpPr/>
          <p:nvPr/>
        </p:nvSpPr>
        <p:spPr>
          <a:xfrm flipH="1">
            <a:off x="6622615" y="4123531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6" name="Flecha izquierda y derecha 55">
            <a:extLst>
              <a:ext uri="{FF2B5EF4-FFF2-40B4-BE49-F238E27FC236}">
                <a16:creationId xmlns:a16="http://schemas.microsoft.com/office/drawing/2014/main" id="{0DD6C7D7-189C-4E75-9293-33221D1F1C93}"/>
              </a:ext>
            </a:extLst>
          </p:cNvPr>
          <p:cNvSpPr/>
          <p:nvPr/>
        </p:nvSpPr>
        <p:spPr>
          <a:xfrm flipH="1">
            <a:off x="6623161" y="3833125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8" name="Flecha izquierda y derecha 57">
            <a:extLst>
              <a:ext uri="{FF2B5EF4-FFF2-40B4-BE49-F238E27FC236}">
                <a16:creationId xmlns:a16="http://schemas.microsoft.com/office/drawing/2014/main" id="{69EBC0D2-CF29-ABE2-91C8-367C5F3E1DC1}"/>
              </a:ext>
            </a:extLst>
          </p:cNvPr>
          <p:cNvSpPr/>
          <p:nvPr/>
        </p:nvSpPr>
        <p:spPr>
          <a:xfrm flipH="1">
            <a:off x="6627110" y="3530242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87" name="Imagen 86">
            <a:extLst>
              <a:ext uri="{FF2B5EF4-FFF2-40B4-BE49-F238E27FC236}">
                <a16:creationId xmlns:a16="http://schemas.microsoft.com/office/drawing/2014/main" id="{FDA9AB94-6C5C-228E-5B36-7585BF70E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900000" flipH="1">
            <a:off x="6229200" y="5095943"/>
            <a:ext cx="429527" cy="406782"/>
          </a:xfrm>
          <a:prstGeom prst="rect">
            <a:avLst/>
          </a:prstGeom>
        </p:spPr>
      </p:pic>
      <p:pic>
        <p:nvPicPr>
          <p:cNvPr id="88" name="Imagen 87">
            <a:extLst>
              <a:ext uri="{FF2B5EF4-FFF2-40B4-BE49-F238E27FC236}">
                <a16:creationId xmlns:a16="http://schemas.microsoft.com/office/drawing/2014/main" id="{6A77DBF8-02A6-63F4-6AAC-969339EB0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702" y="4724573"/>
            <a:ext cx="587386" cy="587385"/>
          </a:xfrm>
          <a:prstGeom prst="rect">
            <a:avLst/>
          </a:prstGeom>
        </p:spPr>
      </p:pic>
      <p:pic>
        <p:nvPicPr>
          <p:cNvPr id="89" name="Imagen 88">
            <a:extLst>
              <a:ext uri="{FF2B5EF4-FFF2-40B4-BE49-F238E27FC236}">
                <a16:creationId xmlns:a16="http://schemas.microsoft.com/office/drawing/2014/main" id="{1C1036C1-050C-B0BA-1F1C-A0D36EAB8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53339" y="4452192"/>
            <a:ext cx="418349" cy="441740"/>
          </a:xfrm>
          <a:prstGeom prst="rect">
            <a:avLst/>
          </a:prstGeom>
        </p:spPr>
      </p:pic>
      <p:pic>
        <p:nvPicPr>
          <p:cNvPr id="90" name="Imagen 89">
            <a:extLst>
              <a:ext uri="{FF2B5EF4-FFF2-40B4-BE49-F238E27FC236}">
                <a16:creationId xmlns:a16="http://schemas.microsoft.com/office/drawing/2014/main" id="{296BF880-9D07-66FD-9769-F61F228907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 flipH="1">
            <a:off x="6272718" y="4795846"/>
            <a:ext cx="379591" cy="359490"/>
          </a:xfrm>
          <a:prstGeom prst="rect">
            <a:avLst/>
          </a:prstGeom>
        </p:spPr>
      </p:pic>
      <p:sp>
        <p:nvSpPr>
          <p:cNvPr id="91" name="Rectángulo redondeado 90">
            <a:extLst>
              <a:ext uri="{FF2B5EF4-FFF2-40B4-BE49-F238E27FC236}">
                <a16:creationId xmlns:a16="http://schemas.microsoft.com/office/drawing/2014/main" id="{634E20AF-56E5-F2E5-42C8-64E7FF053EE2}"/>
              </a:ext>
            </a:extLst>
          </p:cNvPr>
          <p:cNvSpPr/>
          <p:nvPr/>
        </p:nvSpPr>
        <p:spPr>
          <a:xfrm flipH="1">
            <a:off x="6775419" y="4628877"/>
            <a:ext cx="105382" cy="7334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PCI</a:t>
            </a:r>
          </a:p>
        </p:txBody>
      </p:sp>
      <p:sp>
        <p:nvSpPr>
          <p:cNvPr id="92" name="Flecha izquierda y derecha 91">
            <a:extLst>
              <a:ext uri="{FF2B5EF4-FFF2-40B4-BE49-F238E27FC236}">
                <a16:creationId xmlns:a16="http://schemas.microsoft.com/office/drawing/2014/main" id="{40232996-B312-1431-B474-48AB1D362E47}"/>
              </a:ext>
            </a:extLst>
          </p:cNvPr>
          <p:cNvSpPr/>
          <p:nvPr/>
        </p:nvSpPr>
        <p:spPr>
          <a:xfrm flipH="1">
            <a:off x="6889794" y="4962976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3" name="Flecha izquierda y derecha 92">
            <a:extLst>
              <a:ext uri="{FF2B5EF4-FFF2-40B4-BE49-F238E27FC236}">
                <a16:creationId xmlns:a16="http://schemas.microsoft.com/office/drawing/2014/main" id="{5977D89F-2111-717C-622D-14206071FA8E}"/>
              </a:ext>
            </a:extLst>
          </p:cNvPr>
          <p:cNvSpPr/>
          <p:nvPr/>
        </p:nvSpPr>
        <p:spPr>
          <a:xfrm flipH="1">
            <a:off x="6646755" y="5266351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4" name="Flecha izquierda y derecha 93">
            <a:extLst>
              <a:ext uri="{FF2B5EF4-FFF2-40B4-BE49-F238E27FC236}">
                <a16:creationId xmlns:a16="http://schemas.microsoft.com/office/drawing/2014/main" id="{126C0CDB-05AF-58DC-595D-2D379C4563BF}"/>
              </a:ext>
            </a:extLst>
          </p:cNvPr>
          <p:cNvSpPr/>
          <p:nvPr/>
        </p:nvSpPr>
        <p:spPr>
          <a:xfrm flipH="1">
            <a:off x="6647301" y="4975945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5" name="Flecha izquierda y derecha 94">
            <a:extLst>
              <a:ext uri="{FF2B5EF4-FFF2-40B4-BE49-F238E27FC236}">
                <a16:creationId xmlns:a16="http://schemas.microsoft.com/office/drawing/2014/main" id="{5D1D6B11-EC15-9C16-B436-00ED0CABC7F7}"/>
              </a:ext>
            </a:extLst>
          </p:cNvPr>
          <p:cNvSpPr/>
          <p:nvPr/>
        </p:nvSpPr>
        <p:spPr>
          <a:xfrm flipH="1">
            <a:off x="6651250" y="4673062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97FB52CF-CA8E-CAD1-3AD1-0A16447C350F}"/>
              </a:ext>
            </a:extLst>
          </p:cNvPr>
          <p:cNvCxnSpPr>
            <a:cxnSpLocks/>
          </p:cNvCxnSpPr>
          <p:nvPr/>
        </p:nvCxnSpPr>
        <p:spPr>
          <a:xfrm>
            <a:off x="5278482" y="3680701"/>
            <a:ext cx="777988" cy="9985"/>
          </a:xfrm>
          <a:prstGeom prst="line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>
            <a:extLst>
              <a:ext uri="{FF2B5EF4-FFF2-40B4-BE49-F238E27FC236}">
                <a16:creationId xmlns:a16="http://schemas.microsoft.com/office/drawing/2014/main" id="{7ED64D81-73BD-8948-31D8-254021EADF13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GPUDirect</a:t>
            </a:r>
            <a:endParaRPr lang="es-ES" dirty="0"/>
          </a:p>
        </p:txBody>
      </p:sp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F38F35E3-53CB-3D69-587E-E34518BA0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33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06622-2038-930F-17B3-5BE693832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37D23A10-E216-93ED-9495-882177F64C62}"/>
              </a:ext>
            </a:extLst>
          </p:cNvPr>
          <p:cNvGrpSpPr/>
          <p:nvPr/>
        </p:nvGrpSpPr>
        <p:grpSpPr>
          <a:xfrm>
            <a:off x="809203" y="1932285"/>
            <a:ext cx="2736706" cy="2932631"/>
            <a:chOff x="4603656" y="1506487"/>
            <a:chExt cx="4434032" cy="4751472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2058CD15-3D5D-BB5E-3393-28007A3B0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416" y="1506487"/>
              <a:ext cx="1422570" cy="1422570"/>
            </a:xfrm>
            <a:prstGeom prst="rect">
              <a:avLst/>
            </a:prstGeom>
          </p:spPr>
        </p:pic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2978334D-353D-C7E5-8AFB-8230F9199BC3}"/>
                </a:ext>
              </a:extLst>
            </p:cNvPr>
            <p:cNvGrpSpPr/>
            <p:nvPr/>
          </p:nvGrpSpPr>
          <p:grpSpPr>
            <a:xfrm>
              <a:off x="4603656" y="2000166"/>
              <a:ext cx="4434032" cy="4257793"/>
              <a:chOff x="4603656" y="2000166"/>
              <a:chExt cx="4434032" cy="4257793"/>
            </a:xfrm>
          </p:grpSpPr>
          <p:sp>
            <p:nvSpPr>
              <p:cNvPr id="14" name="Flecha izquierda y derecha 13">
                <a:extLst>
                  <a:ext uri="{FF2B5EF4-FFF2-40B4-BE49-F238E27FC236}">
                    <a16:creationId xmlns:a16="http://schemas.microsoft.com/office/drawing/2014/main" id="{A90431FB-5139-0DED-87DA-BF845D616A0A}"/>
                  </a:ext>
                </a:extLst>
              </p:cNvPr>
              <p:cNvSpPr/>
              <p:nvPr/>
            </p:nvSpPr>
            <p:spPr>
              <a:xfrm>
                <a:off x="7243681" y="2069489"/>
                <a:ext cx="422232" cy="212437"/>
              </a:xfrm>
              <a:prstGeom prst="left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pic>
            <p:nvPicPr>
              <p:cNvPr id="2" name="Imagen 1">
                <a:extLst>
                  <a:ext uri="{FF2B5EF4-FFF2-40B4-BE49-F238E27FC236}">
                    <a16:creationId xmlns:a16="http://schemas.microsoft.com/office/drawing/2014/main" id="{9DC3483D-DA58-BE79-03CF-123237CADC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03656" y="2944016"/>
                <a:ext cx="2077479" cy="2077479"/>
              </a:xfrm>
              <a:prstGeom prst="rect">
                <a:avLst/>
              </a:prstGeom>
            </p:spPr>
          </p:pic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FCCF64C7-2F74-81FE-BCAA-BD4890D07C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571702" y="2591079"/>
                <a:ext cx="1422570" cy="1422570"/>
              </a:xfrm>
              <a:prstGeom prst="rect">
                <a:avLst/>
              </a:prstGeom>
            </p:spPr>
          </p:pic>
          <p:pic>
            <p:nvPicPr>
              <p:cNvPr id="6" name="Imagen 5">
                <a:extLst>
                  <a:ext uri="{FF2B5EF4-FFF2-40B4-BE49-F238E27FC236}">
                    <a16:creationId xmlns:a16="http://schemas.microsoft.com/office/drawing/2014/main" id="{B0450FAE-94DE-D71E-4AB1-78FA393D1D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2700000">
                <a:off x="7654447" y="4874718"/>
                <a:ext cx="1383241" cy="1383241"/>
              </a:xfrm>
              <a:prstGeom prst="rect">
                <a:avLst/>
              </a:prstGeom>
            </p:spPr>
          </p:pic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1A99297B-BB5D-2148-4324-912E88F51B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rot="5400000">
                <a:off x="7671773" y="3912549"/>
                <a:ext cx="1222427" cy="1222427"/>
              </a:xfrm>
              <a:prstGeom prst="rect">
                <a:avLst/>
              </a:prstGeom>
            </p:spPr>
          </p:pic>
          <p:sp>
            <p:nvSpPr>
              <p:cNvPr id="7" name="Rectángulo redondeado 6">
                <a:extLst>
                  <a:ext uri="{FF2B5EF4-FFF2-40B4-BE49-F238E27FC236}">
                    <a16:creationId xmlns:a16="http://schemas.microsoft.com/office/drawing/2014/main" id="{A27248C5-7898-DB2B-1A96-5FCB8334568B}"/>
                  </a:ext>
                </a:extLst>
              </p:cNvPr>
              <p:cNvSpPr/>
              <p:nvPr/>
            </p:nvSpPr>
            <p:spPr>
              <a:xfrm>
                <a:off x="6874052" y="2000166"/>
                <a:ext cx="358346" cy="404228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/>
                  <a:t>PCI</a:t>
                </a:r>
              </a:p>
            </p:txBody>
          </p:sp>
          <p:sp>
            <p:nvSpPr>
              <p:cNvPr id="8" name="Flecha izquierda y derecha 7">
                <a:extLst>
                  <a:ext uri="{FF2B5EF4-FFF2-40B4-BE49-F238E27FC236}">
                    <a16:creationId xmlns:a16="http://schemas.microsoft.com/office/drawing/2014/main" id="{F5E180CA-8934-BBE5-74E8-D779219AE887}"/>
                  </a:ext>
                </a:extLst>
              </p:cNvPr>
              <p:cNvSpPr/>
              <p:nvPr/>
            </p:nvSpPr>
            <p:spPr>
              <a:xfrm>
                <a:off x="6407815" y="3877650"/>
                <a:ext cx="422232" cy="212437"/>
              </a:xfrm>
              <a:prstGeom prst="left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9" name="Flecha izquierda y derecha 8">
                <a:extLst>
                  <a:ext uri="{FF2B5EF4-FFF2-40B4-BE49-F238E27FC236}">
                    <a16:creationId xmlns:a16="http://schemas.microsoft.com/office/drawing/2014/main" id="{6EE443E3-C734-4C27-B396-AE8BE66CE3BE}"/>
                  </a:ext>
                </a:extLst>
              </p:cNvPr>
              <p:cNvSpPr/>
              <p:nvPr/>
            </p:nvSpPr>
            <p:spPr>
              <a:xfrm>
                <a:off x="7234254" y="5460119"/>
                <a:ext cx="422232" cy="212437"/>
              </a:xfrm>
              <a:prstGeom prst="left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" name="Flecha izquierda y derecha 9">
                <a:extLst>
                  <a:ext uri="{FF2B5EF4-FFF2-40B4-BE49-F238E27FC236}">
                    <a16:creationId xmlns:a16="http://schemas.microsoft.com/office/drawing/2014/main" id="{EC148564-9CB7-65E2-607C-ACAA9C2B818D}"/>
                  </a:ext>
                </a:extLst>
              </p:cNvPr>
              <p:cNvSpPr/>
              <p:nvPr/>
            </p:nvSpPr>
            <p:spPr>
              <a:xfrm>
                <a:off x="7232398" y="4524898"/>
                <a:ext cx="422232" cy="212437"/>
              </a:xfrm>
              <a:prstGeom prst="left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" name="Flecha izquierda y derecha 10">
                <a:extLst>
                  <a:ext uri="{FF2B5EF4-FFF2-40B4-BE49-F238E27FC236}">
                    <a16:creationId xmlns:a16="http://schemas.microsoft.com/office/drawing/2014/main" id="{93FE9044-BE82-2B29-B675-60572856C7A6}"/>
                  </a:ext>
                </a:extLst>
              </p:cNvPr>
              <p:cNvSpPr/>
              <p:nvPr/>
            </p:nvSpPr>
            <p:spPr>
              <a:xfrm>
                <a:off x="7218967" y="3154081"/>
                <a:ext cx="422232" cy="212437"/>
              </a:xfrm>
              <a:prstGeom prst="left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E8E3549-1C84-3B38-7B9C-2F084FC5C2CA}"/>
              </a:ext>
            </a:extLst>
          </p:cNvPr>
          <p:cNvSpPr txBox="1"/>
          <p:nvPr/>
        </p:nvSpPr>
        <p:spPr>
          <a:xfrm>
            <a:off x="1965729" y="1144168"/>
            <a:ext cx="46760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/>
              <a:t>GPUDirect</a:t>
            </a:r>
            <a:r>
              <a:rPr lang="en-US" sz="3000" dirty="0"/>
              <a:t> 2.0 o Peer to Peer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EFB456BC-2E86-7BCD-22C1-0C1A6D03E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485" y="1901251"/>
            <a:ext cx="878017" cy="878017"/>
          </a:xfrm>
          <a:prstGeom prst="rect">
            <a:avLst/>
          </a:prstGeom>
        </p:spPr>
      </p:pic>
      <p:sp>
        <p:nvSpPr>
          <p:cNvPr id="23" name="Flecha izquierda y derecha 22">
            <a:extLst>
              <a:ext uri="{FF2B5EF4-FFF2-40B4-BE49-F238E27FC236}">
                <a16:creationId xmlns:a16="http://schemas.microsoft.com/office/drawing/2014/main" id="{EB9CB961-711A-FD69-3220-9176C9A93547}"/>
              </a:ext>
            </a:extLst>
          </p:cNvPr>
          <p:cNvSpPr/>
          <p:nvPr/>
        </p:nvSpPr>
        <p:spPr>
          <a:xfrm>
            <a:off x="6906775" y="2248739"/>
            <a:ext cx="260603" cy="131117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0844322-C987-0C3C-0DC6-C41DB0FE6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339" y="2788501"/>
            <a:ext cx="1282230" cy="128223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98227DE4-93D7-413B-D653-ACCA44D6D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232" y="2570667"/>
            <a:ext cx="878017" cy="878017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41403F93-8D41-BC9A-A2C8-3A7FBB6159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700000">
            <a:off x="7160302" y="3980139"/>
            <a:ext cx="853743" cy="853743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B490EF2D-04D9-68B3-6642-94EA6C379E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7170995" y="3386284"/>
            <a:ext cx="754488" cy="754488"/>
          </a:xfrm>
          <a:prstGeom prst="rect">
            <a:avLst/>
          </a:prstGeom>
        </p:spPr>
      </p:pic>
      <p:sp>
        <p:nvSpPr>
          <p:cNvPr id="35" name="Rectángulo redondeado 34">
            <a:extLst>
              <a:ext uri="{FF2B5EF4-FFF2-40B4-BE49-F238E27FC236}">
                <a16:creationId xmlns:a16="http://schemas.microsoft.com/office/drawing/2014/main" id="{4A2B9416-B8E4-F3D1-D598-813971691E43}"/>
              </a:ext>
            </a:extLst>
          </p:cNvPr>
          <p:cNvSpPr/>
          <p:nvPr/>
        </p:nvSpPr>
        <p:spPr>
          <a:xfrm>
            <a:off x="6678639" y="2205952"/>
            <a:ext cx="221173" cy="249491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PCI</a:t>
            </a:r>
          </a:p>
        </p:txBody>
      </p:sp>
      <p:sp>
        <p:nvSpPr>
          <p:cNvPr id="36" name="Flecha izquierda y derecha 35">
            <a:extLst>
              <a:ext uri="{FF2B5EF4-FFF2-40B4-BE49-F238E27FC236}">
                <a16:creationId xmlns:a16="http://schemas.microsoft.com/office/drawing/2014/main" id="{6109C909-BF90-76DA-4719-E0B606623191}"/>
              </a:ext>
            </a:extLst>
          </p:cNvPr>
          <p:cNvSpPr/>
          <p:nvPr/>
        </p:nvSpPr>
        <p:spPr>
          <a:xfrm>
            <a:off x="6390875" y="3364744"/>
            <a:ext cx="260603" cy="131117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7" name="Flecha izquierda y derecha 36">
            <a:extLst>
              <a:ext uri="{FF2B5EF4-FFF2-40B4-BE49-F238E27FC236}">
                <a16:creationId xmlns:a16="http://schemas.microsoft.com/office/drawing/2014/main" id="{15275ED6-0F9F-4325-2E96-32F5F5C935C7}"/>
              </a:ext>
            </a:extLst>
          </p:cNvPr>
          <p:cNvSpPr/>
          <p:nvPr/>
        </p:nvSpPr>
        <p:spPr>
          <a:xfrm>
            <a:off x="6900957" y="4341452"/>
            <a:ext cx="260603" cy="131117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8" name="Flecha izquierda y derecha 37">
            <a:extLst>
              <a:ext uri="{FF2B5EF4-FFF2-40B4-BE49-F238E27FC236}">
                <a16:creationId xmlns:a16="http://schemas.microsoft.com/office/drawing/2014/main" id="{3C2814C8-3C6A-6976-A9C5-BC45AFDE1126}"/>
              </a:ext>
            </a:extLst>
          </p:cNvPr>
          <p:cNvSpPr/>
          <p:nvPr/>
        </p:nvSpPr>
        <p:spPr>
          <a:xfrm>
            <a:off x="6899812" y="3764229"/>
            <a:ext cx="260603" cy="131117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9" name="Flecha izquierda y derecha 38">
            <a:extLst>
              <a:ext uri="{FF2B5EF4-FFF2-40B4-BE49-F238E27FC236}">
                <a16:creationId xmlns:a16="http://schemas.microsoft.com/office/drawing/2014/main" id="{E51CF011-B763-C120-BC49-621FDD0A352B}"/>
              </a:ext>
            </a:extLst>
          </p:cNvPr>
          <p:cNvSpPr/>
          <p:nvPr/>
        </p:nvSpPr>
        <p:spPr>
          <a:xfrm>
            <a:off x="6891522" y="2918154"/>
            <a:ext cx="260603" cy="131117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B0C7F4F7-9B02-E88F-6E67-CF788F7200D8}"/>
              </a:ext>
            </a:extLst>
          </p:cNvPr>
          <p:cNvCxnSpPr>
            <a:cxnSpLocks/>
          </p:cNvCxnSpPr>
          <p:nvPr/>
        </p:nvCxnSpPr>
        <p:spPr>
          <a:xfrm rot="10800000">
            <a:off x="2311146" y="2379856"/>
            <a:ext cx="408406" cy="0"/>
          </a:xfrm>
          <a:prstGeom prst="line">
            <a:avLst/>
          </a:prstGeom>
          <a:ln w="57150">
            <a:solidFill>
              <a:srgbClr val="00B0F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18AC3A2A-7B08-7CD6-A211-C38DA312EA6B}"/>
              </a:ext>
            </a:extLst>
          </p:cNvPr>
          <p:cNvCxnSpPr>
            <a:cxnSpLocks/>
          </p:cNvCxnSpPr>
          <p:nvPr/>
        </p:nvCxnSpPr>
        <p:spPr>
          <a:xfrm flipH="1">
            <a:off x="2278824" y="2379856"/>
            <a:ext cx="27105" cy="2170901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A61B392E-211D-459C-361C-C8DE7D83381D}"/>
              </a:ext>
            </a:extLst>
          </p:cNvPr>
          <p:cNvCxnSpPr/>
          <p:nvPr/>
        </p:nvCxnSpPr>
        <p:spPr>
          <a:xfrm>
            <a:off x="2254632" y="4541924"/>
            <a:ext cx="408406" cy="0"/>
          </a:xfrm>
          <a:prstGeom prst="line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C3746FB2-4A75-05BA-998C-9C333CD20E6F}"/>
              </a:ext>
            </a:extLst>
          </p:cNvPr>
          <p:cNvCxnSpPr>
            <a:cxnSpLocks/>
          </p:cNvCxnSpPr>
          <p:nvPr/>
        </p:nvCxnSpPr>
        <p:spPr>
          <a:xfrm flipH="1">
            <a:off x="2482949" y="3113899"/>
            <a:ext cx="17048" cy="119990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50253B9E-EF27-4BEA-34E7-D67CA3904F70}"/>
              </a:ext>
            </a:extLst>
          </p:cNvPr>
          <p:cNvCxnSpPr>
            <a:cxnSpLocks/>
          </p:cNvCxnSpPr>
          <p:nvPr/>
        </p:nvCxnSpPr>
        <p:spPr>
          <a:xfrm>
            <a:off x="2488075" y="3113900"/>
            <a:ext cx="231477" cy="0"/>
          </a:xfrm>
          <a:prstGeom prst="line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4C734A36-FCED-15DB-AC87-36496FE61993}"/>
              </a:ext>
            </a:extLst>
          </p:cNvPr>
          <p:cNvCxnSpPr>
            <a:cxnSpLocks/>
          </p:cNvCxnSpPr>
          <p:nvPr/>
        </p:nvCxnSpPr>
        <p:spPr>
          <a:xfrm flipH="1">
            <a:off x="2479786" y="4281019"/>
            <a:ext cx="204203" cy="0"/>
          </a:xfrm>
          <a:prstGeom prst="line">
            <a:avLst/>
          </a:prstGeom>
          <a:ln w="57150">
            <a:solidFill>
              <a:srgbClr val="00B05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FD224B53-4100-2393-3D3D-50AE254890FD}"/>
              </a:ext>
            </a:extLst>
          </p:cNvPr>
          <p:cNvCxnSpPr>
            <a:cxnSpLocks/>
          </p:cNvCxnSpPr>
          <p:nvPr/>
        </p:nvCxnSpPr>
        <p:spPr>
          <a:xfrm rot="10800000">
            <a:off x="6779283" y="2379856"/>
            <a:ext cx="408406" cy="0"/>
          </a:xfrm>
          <a:prstGeom prst="line">
            <a:avLst/>
          </a:prstGeom>
          <a:ln w="57150">
            <a:solidFill>
              <a:srgbClr val="00B0F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6E2DB34A-C623-F3BA-24AF-1F71DA77E696}"/>
              </a:ext>
            </a:extLst>
          </p:cNvPr>
          <p:cNvCxnSpPr>
            <a:cxnSpLocks/>
          </p:cNvCxnSpPr>
          <p:nvPr/>
        </p:nvCxnSpPr>
        <p:spPr>
          <a:xfrm flipH="1">
            <a:off x="6793650" y="2363233"/>
            <a:ext cx="9128" cy="677475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7EF49E4D-9F74-3BBD-C26C-9A04E838CE1C}"/>
              </a:ext>
            </a:extLst>
          </p:cNvPr>
          <p:cNvCxnSpPr/>
          <p:nvPr/>
        </p:nvCxnSpPr>
        <p:spPr>
          <a:xfrm>
            <a:off x="6798213" y="3009674"/>
            <a:ext cx="408406" cy="0"/>
          </a:xfrm>
          <a:prstGeom prst="line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0677E57-9373-7303-580F-ACF849CD75F2}"/>
              </a:ext>
            </a:extLst>
          </p:cNvPr>
          <p:cNvSpPr txBox="1"/>
          <p:nvPr/>
        </p:nvSpPr>
        <p:spPr>
          <a:xfrm>
            <a:off x="807187" y="2424971"/>
            <a:ext cx="115858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No </a:t>
            </a:r>
            <a:r>
              <a:rPr lang="en-US" sz="1350" dirty="0" err="1"/>
              <a:t>GPUDirect</a:t>
            </a:r>
            <a:endParaRPr lang="en-US" sz="1350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A5CA87F-D585-F6C5-EEE5-FA1B7BA472A5}"/>
              </a:ext>
            </a:extLst>
          </p:cNvPr>
          <p:cNvSpPr txBox="1"/>
          <p:nvPr/>
        </p:nvSpPr>
        <p:spPr>
          <a:xfrm>
            <a:off x="5399398" y="2293667"/>
            <a:ext cx="9165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GPUDirect</a:t>
            </a:r>
            <a:endParaRPr lang="en-US" sz="135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19A6893E-436F-108C-247C-87CC954A3F69}"/>
              </a:ext>
            </a:extLst>
          </p:cNvPr>
          <p:cNvSpPr txBox="1"/>
          <p:nvPr/>
        </p:nvSpPr>
        <p:spPr>
          <a:xfrm>
            <a:off x="892836" y="5141893"/>
            <a:ext cx="209506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cudaMemcpy</a:t>
            </a:r>
            <a:r>
              <a:rPr lang="en-US" sz="1350" dirty="0"/>
              <a:t>(device2host)</a:t>
            </a:r>
          </a:p>
          <a:p>
            <a:r>
              <a:rPr lang="en-US" sz="1350" dirty="0" err="1"/>
              <a:t>cudaMemcpy</a:t>
            </a:r>
            <a:r>
              <a:rPr lang="en-US" sz="1350" dirty="0"/>
              <a:t>(host2device)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9394D8F-812A-20AB-B647-9273A80075DC}"/>
              </a:ext>
            </a:extLst>
          </p:cNvPr>
          <p:cNvSpPr txBox="1"/>
          <p:nvPr/>
        </p:nvSpPr>
        <p:spPr>
          <a:xfrm>
            <a:off x="5752517" y="5252463"/>
            <a:ext cx="224523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cudaMemcpy</a:t>
            </a:r>
            <a:r>
              <a:rPr lang="en-US" sz="1350" dirty="0"/>
              <a:t>(device2device)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3BD67A8-394B-2574-DC30-832C6BAEEFAF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GPUDirect</a:t>
            </a:r>
            <a:endParaRPr lang="es-ES" dirty="0"/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37EE1EBB-4CF7-4690-747D-355FE784A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30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0C32F-0269-6936-B079-DE80C45EE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2D82E457-9A68-CB38-EBB4-74314FF05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2447126" y="2012854"/>
            <a:ext cx="1098560" cy="1185020"/>
          </a:xfrm>
          <a:prstGeom prst="rect">
            <a:avLst/>
          </a:prstGeom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49568FC9-9675-C918-A171-988A604CFA7E}"/>
              </a:ext>
            </a:extLst>
          </p:cNvPr>
          <p:cNvGrpSpPr/>
          <p:nvPr/>
        </p:nvGrpSpPr>
        <p:grpSpPr>
          <a:xfrm>
            <a:off x="740981" y="2515012"/>
            <a:ext cx="2736706" cy="2627930"/>
            <a:chOff x="4603656" y="2000166"/>
            <a:chExt cx="4434032" cy="4257793"/>
          </a:xfrm>
        </p:grpSpPr>
        <p:sp>
          <p:nvSpPr>
            <p:cNvPr id="14" name="Flecha izquierda y derecha 13">
              <a:extLst>
                <a:ext uri="{FF2B5EF4-FFF2-40B4-BE49-F238E27FC236}">
                  <a16:creationId xmlns:a16="http://schemas.microsoft.com/office/drawing/2014/main" id="{4BFD48DD-5C22-2FC4-F8BE-54A4CB49DFD8}"/>
                </a:ext>
              </a:extLst>
            </p:cNvPr>
            <p:cNvSpPr/>
            <p:nvPr/>
          </p:nvSpPr>
          <p:spPr>
            <a:xfrm>
              <a:off x="7243681" y="2069489"/>
              <a:ext cx="422232" cy="212437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B8350FE6-1690-2BB0-25EF-FEB724C31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03656" y="2944016"/>
              <a:ext cx="2077479" cy="2077479"/>
            </a:xfrm>
            <a:prstGeom prst="rect">
              <a:avLst/>
            </a:prstGeom>
          </p:spPr>
        </p:pic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A80DF334-DCBB-BB8F-B048-BBF2AA879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1702" y="2591079"/>
              <a:ext cx="1422570" cy="1422570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5E46EC56-17AD-DA0E-5258-7051043BB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700000">
              <a:off x="7654447" y="4874718"/>
              <a:ext cx="1383241" cy="1383241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45BCD16-6815-2103-D395-B524D989A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5400000">
              <a:off x="7671773" y="3912549"/>
              <a:ext cx="1222427" cy="1222427"/>
            </a:xfrm>
            <a:prstGeom prst="rect">
              <a:avLst/>
            </a:prstGeom>
          </p:spPr>
        </p:pic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9351A7D1-A9DD-5FB7-2E1B-2190402A313C}"/>
                </a:ext>
              </a:extLst>
            </p:cNvPr>
            <p:cNvSpPr/>
            <p:nvPr/>
          </p:nvSpPr>
          <p:spPr>
            <a:xfrm>
              <a:off x="6874052" y="2000166"/>
              <a:ext cx="358346" cy="404228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PCI</a:t>
              </a:r>
            </a:p>
          </p:txBody>
        </p:sp>
        <p:sp>
          <p:nvSpPr>
            <p:cNvPr id="8" name="Flecha izquierda y derecha 7">
              <a:extLst>
                <a:ext uri="{FF2B5EF4-FFF2-40B4-BE49-F238E27FC236}">
                  <a16:creationId xmlns:a16="http://schemas.microsoft.com/office/drawing/2014/main" id="{0ADCEA74-F8B8-6B32-E4B5-51B8FC9826BF}"/>
                </a:ext>
              </a:extLst>
            </p:cNvPr>
            <p:cNvSpPr/>
            <p:nvPr/>
          </p:nvSpPr>
          <p:spPr>
            <a:xfrm>
              <a:off x="6407815" y="3877650"/>
              <a:ext cx="422232" cy="212437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Flecha izquierda y derecha 8">
              <a:extLst>
                <a:ext uri="{FF2B5EF4-FFF2-40B4-BE49-F238E27FC236}">
                  <a16:creationId xmlns:a16="http://schemas.microsoft.com/office/drawing/2014/main" id="{77BAAFB7-997B-EC3F-9897-A3383EA5CE97}"/>
                </a:ext>
              </a:extLst>
            </p:cNvPr>
            <p:cNvSpPr/>
            <p:nvPr/>
          </p:nvSpPr>
          <p:spPr>
            <a:xfrm>
              <a:off x="7234254" y="5460119"/>
              <a:ext cx="422232" cy="212437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Flecha izquierda y derecha 9">
              <a:extLst>
                <a:ext uri="{FF2B5EF4-FFF2-40B4-BE49-F238E27FC236}">
                  <a16:creationId xmlns:a16="http://schemas.microsoft.com/office/drawing/2014/main" id="{2813CDF6-C2CC-DD7A-2DD8-E9DFBBA57173}"/>
                </a:ext>
              </a:extLst>
            </p:cNvPr>
            <p:cNvSpPr/>
            <p:nvPr/>
          </p:nvSpPr>
          <p:spPr>
            <a:xfrm>
              <a:off x="7232398" y="4524898"/>
              <a:ext cx="422232" cy="212437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Flecha izquierda y derecha 10">
              <a:extLst>
                <a:ext uri="{FF2B5EF4-FFF2-40B4-BE49-F238E27FC236}">
                  <a16:creationId xmlns:a16="http://schemas.microsoft.com/office/drawing/2014/main" id="{0B98F987-F0D4-1409-7B2E-E21A63A93B0C}"/>
                </a:ext>
              </a:extLst>
            </p:cNvPr>
            <p:cNvSpPr/>
            <p:nvPr/>
          </p:nvSpPr>
          <p:spPr>
            <a:xfrm>
              <a:off x="7218967" y="3154081"/>
              <a:ext cx="422232" cy="212437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16D284D-7BA9-F755-E24F-3120FE7E9E6A}"/>
              </a:ext>
            </a:extLst>
          </p:cNvPr>
          <p:cNvSpPr txBox="1"/>
          <p:nvPr/>
        </p:nvSpPr>
        <p:spPr>
          <a:xfrm>
            <a:off x="334230" y="1183411"/>
            <a:ext cx="30789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/>
              <a:t>GPUDirect</a:t>
            </a:r>
            <a:r>
              <a:rPr lang="en-US" sz="3000" dirty="0"/>
              <a:t> Storage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98C5AA62-6634-A905-5DA6-B27F49DD8CFB}"/>
              </a:ext>
            </a:extLst>
          </p:cNvPr>
          <p:cNvCxnSpPr>
            <a:cxnSpLocks/>
          </p:cNvCxnSpPr>
          <p:nvPr/>
        </p:nvCxnSpPr>
        <p:spPr>
          <a:xfrm flipH="1">
            <a:off x="2355163" y="2722141"/>
            <a:ext cx="15254" cy="212536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7B866939-46DA-8EA1-362A-09582C099278}"/>
              </a:ext>
            </a:extLst>
          </p:cNvPr>
          <p:cNvCxnSpPr>
            <a:cxnSpLocks/>
          </p:cNvCxnSpPr>
          <p:nvPr/>
        </p:nvCxnSpPr>
        <p:spPr>
          <a:xfrm flipV="1">
            <a:off x="2355163" y="2712081"/>
            <a:ext cx="323441" cy="10060"/>
          </a:xfrm>
          <a:prstGeom prst="line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4DB452BB-939B-D3C2-4CE1-37D81C49E82C}"/>
              </a:ext>
            </a:extLst>
          </p:cNvPr>
          <p:cNvCxnSpPr>
            <a:cxnSpLocks/>
          </p:cNvCxnSpPr>
          <p:nvPr/>
        </p:nvCxnSpPr>
        <p:spPr>
          <a:xfrm flipH="1">
            <a:off x="2355163" y="4847501"/>
            <a:ext cx="310090" cy="0"/>
          </a:xfrm>
          <a:prstGeom prst="line">
            <a:avLst/>
          </a:prstGeom>
          <a:ln w="57150">
            <a:solidFill>
              <a:srgbClr val="00B0F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B71AF0D-3A1A-0BE2-6BC7-2597C441F1F6}"/>
              </a:ext>
            </a:extLst>
          </p:cNvPr>
          <p:cNvSpPr/>
          <p:nvPr/>
        </p:nvSpPr>
        <p:spPr>
          <a:xfrm>
            <a:off x="2570098" y="1989950"/>
            <a:ext cx="852617" cy="1908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1566C5C-0BF9-2C42-D5D0-D6B0F6E5D15D}"/>
              </a:ext>
            </a:extLst>
          </p:cNvPr>
          <p:cNvSpPr txBox="1"/>
          <p:nvPr/>
        </p:nvSpPr>
        <p:spPr>
          <a:xfrm>
            <a:off x="2752075" y="2552645"/>
            <a:ext cx="5309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/>
              <a:t>NVMe</a:t>
            </a:r>
            <a:endParaRPr lang="en-US" sz="105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EE3B47AC-9F31-824B-7BBF-97AAF1DAA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114603" y="2012854"/>
            <a:ext cx="1098560" cy="1185020"/>
          </a:xfrm>
          <a:prstGeom prst="rect">
            <a:avLst/>
          </a:prstGeom>
        </p:spPr>
      </p:pic>
      <p:grpSp>
        <p:nvGrpSpPr>
          <p:cNvPr id="26" name="Grupo 25">
            <a:extLst>
              <a:ext uri="{FF2B5EF4-FFF2-40B4-BE49-F238E27FC236}">
                <a16:creationId xmlns:a16="http://schemas.microsoft.com/office/drawing/2014/main" id="{8E9EBCA5-16FA-6EF5-8DCE-C64333131248}"/>
              </a:ext>
            </a:extLst>
          </p:cNvPr>
          <p:cNvGrpSpPr/>
          <p:nvPr/>
        </p:nvGrpSpPr>
        <p:grpSpPr>
          <a:xfrm>
            <a:off x="5408458" y="2515012"/>
            <a:ext cx="2736706" cy="2627930"/>
            <a:chOff x="4603656" y="2000166"/>
            <a:chExt cx="4434032" cy="4257793"/>
          </a:xfrm>
        </p:grpSpPr>
        <p:sp>
          <p:nvSpPr>
            <p:cNvPr id="27" name="Flecha izquierda y derecha 26">
              <a:extLst>
                <a:ext uri="{FF2B5EF4-FFF2-40B4-BE49-F238E27FC236}">
                  <a16:creationId xmlns:a16="http://schemas.microsoft.com/office/drawing/2014/main" id="{DF4A89EE-776C-6E8D-BA58-1DA6E999ABCB}"/>
                </a:ext>
              </a:extLst>
            </p:cNvPr>
            <p:cNvSpPr/>
            <p:nvPr/>
          </p:nvSpPr>
          <p:spPr>
            <a:xfrm>
              <a:off x="7243681" y="2069489"/>
              <a:ext cx="422232" cy="212437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CA8C3347-3F83-8B08-BB23-EDF04B2BA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03656" y="2944016"/>
              <a:ext cx="2077479" cy="2077479"/>
            </a:xfrm>
            <a:prstGeom prst="rect">
              <a:avLst/>
            </a:prstGeom>
          </p:spPr>
        </p:pic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7510B862-350A-DEB1-E799-BA7D42D52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1702" y="2591079"/>
              <a:ext cx="1422570" cy="1422570"/>
            </a:xfrm>
            <a:prstGeom prst="rect">
              <a:avLst/>
            </a:prstGeom>
          </p:spPr>
        </p:pic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D189A802-9788-12DB-0992-41759745C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700000">
              <a:off x="7654447" y="4874718"/>
              <a:ext cx="1383241" cy="1383241"/>
            </a:xfrm>
            <a:prstGeom prst="rect">
              <a:avLst/>
            </a:prstGeom>
          </p:spPr>
        </p:pic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A3E234B6-5EE5-BB68-61F9-93EA9F7C4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5400000">
              <a:off x="7671773" y="3912549"/>
              <a:ext cx="1222427" cy="1222427"/>
            </a:xfrm>
            <a:prstGeom prst="rect">
              <a:avLst/>
            </a:prstGeom>
          </p:spPr>
        </p:pic>
        <p:sp>
          <p:nvSpPr>
            <p:cNvPr id="45" name="Rectángulo redondeado 44">
              <a:extLst>
                <a:ext uri="{FF2B5EF4-FFF2-40B4-BE49-F238E27FC236}">
                  <a16:creationId xmlns:a16="http://schemas.microsoft.com/office/drawing/2014/main" id="{190BA939-57A7-3357-06DA-8E5DF9A13CFC}"/>
                </a:ext>
              </a:extLst>
            </p:cNvPr>
            <p:cNvSpPr/>
            <p:nvPr/>
          </p:nvSpPr>
          <p:spPr>
            <a:xfrm>
              <a:off x="6874052" y="2000166"/>
              <a:ext cx="358346" cy="404228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PCI</a:t>
              </a:r>
            </a:p>
          </p:txBody>
        </p:sp>
        <p:sp>
          <p:nvSpPr>
            <p:cNvPr id="46" name="Flecha izquierda y derecha 45">
              <a:extLst>
                <a:ext uri="{FF2B5EF4-FFF2-40B4-BE49-F238E27FC236}">
                  <a16:creationId xmlns:a16="http://schemas.microsoft.com/office/drawing/2014/main" id="{2F98145B-C021-98D0-AF0E-5E88C6659250}"/>
                </a:ext>
              </a:extLst>
            </p:cNvPr>
            <p:cNvSpPr/>
            <p:nvPr/>
          </p:nvSpPr>
          <p:spPr>
            <a:xfrm>
              <a:off x="6407815" y="3877650"/>
              <a:ext cx="422232" cy="212437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8" name="Flecha izquierda y derecha 47">
              <a:extLst>
                <a:ext uri="{FF2B5EF4-FFF2-40B4-BE49-F238E27FC236}">
                  <a16:creationId xmlns:a16="http://schemas.microsoft.com/office/drawing/2014/main" id="{9009F035-59D8-EC5A-D757-8A16D2FCAB0E}"/>
                </a:ext>
              </a:extLst>
            </p:cNvPr>
            <p:cNvSpPr/>
            <p:nvPr/>
          </p:nvSpPr>
          <p:spPr>
            <a:xfrm>
              <a:off x="7234254" y="5460119"/>
              <a:ext cx="422232" cy="212437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0" name="Flecha izquierda y derecha 49">
              <a:extLst>
                <a:ext uri="{FF2B5EF4-FFF2-40B4-BE49-F238E27FC236}">
                  <a16:creationId xmlns:a16="http://schemas.microsoft.com/office/drawing/2014/main" id="{C69C8023-3CD3-7FC2-15DD-C958B2920C61}"/>
                </a:ext>
              </a:extLst>
            </p:cNvPr>
            <p:cNvSpPr/>
            <p:nvPr/>
          </p:nvSpPr>
          <p:spPr>
            <a:xfrm>
              <a:off x="7232398" y="4524898"/>
              <a:ext cx="422232" cy="212437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4" name="Flecha izquierda y derecha 53">
              <a:extLst>
                <a:ext uri="{FF2B5EF4-FFF2-40B4-BE49-F238E27FC236}">
                  <a16:creationId xmlns:a16="http://schemas.microsoft.com/office/drawing/2014/main" id="{2AF818BB-5C35-6184-D01D-79900E83DDEE}"/>
                </a:ext>
              </a:extLst>
            </p:cNvPr>
            <p:cNvSpPr/>
            <p:nvPr/>
          </p:nvSpPr>
          <p:spPr>
            <a:xfrm>
              <a:off x="7218967" y="3154081"/>
              <a:ext cx="422232" cy="212437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2" name="Rectángulo 61">
            <a:extLst>
              <a:ext uri="{FF2B5EF4-FFF2-40B4-BE49-F238E27FC236}">
                <a16:creationId xmlns:a16="http://schemas.microsoft.com/office/drawing/2014/main" id="{C62A53B8-9D85-0123-8D99-4950E5D8055B}"/>
              </a:ext>
            </a:extLst>
          </p:cNvPr>
          <p:cNvSpPr/>
          <p:nvPr/>
        </p:nvSpPr>
        <p:spPr>
          <a:xfrm>
            <a:off x="7237575" y="1989950"/>
            <a:ext cx="852617" cy="1908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B1589AAD-8376-37C6-2397-527817C81227}"/>
              </a:ext>
            </a:extLst>
          </p:cNvPr>
          <p:cNvSpPr txBox="1"/>
          <p:nvPr/>
        </p:nvSpPr>
        <p:spPr>
          <a:xfrm>
            <a:off x="7419551" y="2552645"/>
            <a:ext cx="5004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Video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2E82E5D-7AC8-988F-F112-1B7069B80E8C}"/>
              </a:ext>
            </a:extLst>
          </p:cNvPr>
          <p:cNvSpPr txBox="1"/>
          <p:nvPr/>
        </p:nvSpPr>
        <p:spPr>
          <a:xfrm>
            <a:off x="5001707" y="1205390"/>
            <a:ext cx="279730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/>
              <a:t>GPUDirect</a:t>
            </a:r>
            <a:r>
              <a:rPr lang="en-US" sz="3000" dirty="0"/>
              <a:t> Video</a:t>
            </a:r>
          </a:p>
        </p:txBody>
      </p: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91D918D7-8BA0-ED34-B482-62E11EB965C8}"/>
              </a:ext>
            </a:extLst>
          </p:cNvPr>
          <p:cNvCxnSpPr>
            <a:cxnSpLocks/>
          </p:cNvCxnSpPr>
          <p:nvPr/>
        </p:nvCxnSpPr>
        <p:spPr>
          <a:xfrm flipH="1">
            <a:off x="2474401" y="3419732"/>
            <a:ext cx="204203" cy="0"/>
          </a:xfrm>
          <a:prstGeom prst="line">
            <a:avLst/>
          </a:prstGeom>
          <a:ln w="57150">
            <a:solidFill>
              <a:srgbClr val="00B05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09C69213-ADE6-7E23-9E01-E60AB74C0C96}"/>
              </a:ext>
            </a:extLst>
          </p:cNvPr>
          <p:cNvCxnSpPr>
            <a:cxnSpLocks/>
          </p:cNvCxnSpPr>
          <p:nvPr/>
        </p:nvCxnSpPr>
        <p:spPr>
          <a:xfrm>
            <a:off x="2488513" y="3419733"/>
            <a:ext cx="0" cy="1230779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43F80291-315B-ED75-25BC-01640F573A5F}"/>
              </a:ext>
            </a:extLst>
          </p:cNvPr>
          <p:cNvCxnSpPr>
            <a:cxnSpLocks/>
          </p:cNvCxnSpPr>
          <p:nvPr/>
        </p:nvCxnSpPr>
        <p:spPr>
          <a:xfrm>
            <a:off x="2474401" y="4650512"/>
            <a:ext cx="231477" cy="0"/>
          </a:xfrm>
          <a:prstGeom prst="line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CA3FB0D8-D084-F453-A04E-68266DB38441}"/>
              </a:ext>
            </a:extLst>
          </p:cNvPr>
          <p:cNvCxnSpPr>
            <a:cxnSpLocks/>
          </p:cNvCxnSpPr>
          <p:nvPr/>
        </p:nvCxnSpPr>
        <p:spPr>
          <a:xfrm flipH="1">
            <a:off x="7017793" y="2672867"/>
            <a:ext cx="15254" cy="212536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0B5816C8-F87E-4508-1083-AB5D37EDBA5C}"/>
              </a:ext>
            </a:extLst>
          </p:cNvPr>
          <p:cNvCxnSpPr>
            <a:cxnSpLocks/>
          </p:cNvCxnSpPr>
          <p:nvPr/>
        </p:nvCxnSpPr>
        <p:spPr>
          <a:xfrm flipV="1">
            <a:off x="7017793" y="2662807"/>
            <a:ext cx="323441" cy="10060"/>
          </a:xfrm>
          <a:prstGeom prst="line">
            <a:avLst/>
          </a:prstGeom>
          <a:ln w="5715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F191216D-9F32-A2D8-8502-96419F061BDE}"/>
              </a:ext>
            </a:extLst>
          </p:cNvPr>
          <p:cNvCxnSpPr>
            <a:cxnSpLocks/>
          </p:cNvCxnSpPr>
          <p:nvPr/>
        </p:nvCxnSpPr>
        <p:spPr>
          <a:xfrm flipH="1">
            <a:off x="7017794" y="4798226"/>
            <a:ext cx="310090" cy="0"/>
          </a:xfrm>
          <a:prstGeom prst="line">
            <a:avLst/>
          </a:prstGeom>
          <a:ln w="57150">
            <a:solidFill>
              <a:srgbClr val="00B0F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CDC31489-9EEF-8E08-B022-6B7E438C3A00}"/>
              </a:ext>
            </a:extLst>
          </p:cNvPr>
          <p:cNvCxnSpPr>
            <a:cxnSpLocks/>
          </p:cNvCxnSpPr>
          <p:nvPr/>
        </p:nvCxnSpPr>
        <p:spPr>
          <a:xfrm flipH="1">
            <a:off x="7137031" y="3370458"/>
            <a:ext cx="204203" cy="0"/>
          </a:xfrm>
          <a:prstGeom prst="line">
            <a:avLst/>
          </a:prstGeom>
          <a:ln w="57150">
            <a:solidFill>
              <a:srgbClr val="00B05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7CE209D9-3C63-BB4C-C536-A0019BEAEBDF}"/>
              </a:ext>
            </a:extLst>
          </p:cNvPr>
          <p:cNvCxnSpPr>
            <a:cxnSpLocks/>
          </p:cNvCxnSpPr>
          <p:nvPr/>
        </p:nvCxnSpPr>
        <p:spPr>
          <a:xfrm>
            <a:off x="7151144" y="3370459"/>
            <a:ext cx="0" cy="1230779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196693A1-EC6E-DB69-EEB3-B9DD2F516CAC}"/>
              </a:ext>
            </a:extLst>
          </p:cNvPr>
          <p:cNvCxnSpPr>
            <a:cxnSpLocks/>
          </p:cNvCxnSpPr>
          <p:nvPr/>
        </p:nvCxnSpPr>
        <p:spPr>
          <a:xfrm>
            <a:off x="7137032" y="4601237"/>
            <a:ext cx="231477" cy="0"/>
          </a:xfrm>
          <a:prstGeom prst="line">
            <a:avLst/>
          </a:prstGeom>
          <a:ln w="5715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>
            <a:extLst>
              <a:ext uri="{FF2B5EF4-FFF2-40B4-BE49-F238E27FC236}">
                <a16:creationId xmlns:a16="http://schemas.microsoft.com/office/drawing/2014/main" id="{68657D29-A14A-5268-78FC-8C87E7D25C68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GPUDirect</a:t>
            </a:r>
            <a:endParaRPr lang="es-ES" dirty="0"/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A2C74F7D-4C2E-7053-ED66-0000A0C22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34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104CD-C361-BBD1-45F2-F934EC1BA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ángulo 71">
            <a:extLst>
              <a:ext uri="{FF2B5EF4-FFF2-40B4-BE49-F238E27FC236}">
                <a16:creationId xmlns:a16="http://schemas.microsoft.com/office/drawing/2014/main" id="{41A213DF-F483-5BEE-65F4-8723E35FAF6A}"/>
              </a:ext>
            </a:extLst>
          </p:cNvPr>
          <p:cNvSpPr/>
          <p:nvPr/>
        </p:nvSpPr>
        <p:spPr>
          <a:xfrm>
            <a:off x="3878317" y="2162880"/>
            <a:ext cx="1387366" cy="360504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7" name="Imagen 96">
            <a:extLst>
              <a:ext uri="{FF2B5EF4-FFF2-40B4-BE49-F238E27FC236}">
                <a16:creationId xmlns:a16="http://schemas.microsoft.com/office/drawing/2014/main" id="{FC9854F6-8504-C5F9-AC3D-511EB026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561" y="2502411"/>
            <a:ext cx="587386" cy="587385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5A0E997A-57E3-2121-4C8A-9D25E2D084EA}"/>
              </a:ext>
            </a:extLst>
          </p:cNvPr>
          <p:cNvGrpSpPr/>
          <p:nvPr/>
        </p:nvGrpSpPr>
        <p:grpSpPr>
          <a:xfrm>
            <a:off x="1409252" y="2200915"/>
            <a:ext cx="1505550" cy="1161154"/>
            <a:chOff x="890809" y="2693701"/>
            <a:chExt cx="2385750" cy="1840007"/>
          </a:xfrm>
        </p:grpSpPr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E2764B07-901F-824B-881E-6BCE30EC1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0809" y="3076411"/>
              <a:ext cx="1117796" cy="1117796"/>
            </a:xfrm>
            <a:prstGeom prst="rect">
              <a:avLst/>
            </a:prstGeom>
          </p:spPr>
        </p:pic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9ADFC397-366C-0807-FC09-A010898CC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7779" y="2693701"/>
              <a:ext cx="765420" cy="765420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A147DCA9-E73A-6D31-10F0-14959F74F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700000">
              <a:off x="2532300" y="3789449"/>
              <a:ext cx="744259" cy="744259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56AEF4E2-13D8-92B5-5506-5830958EC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2541622" y="3271751"/>
              <a:ext cx="657732" cy="657732"/>
            </a:xfrm>
            <a:prstGeom prst="rect">
              <a:avLst/>
            </a:prstGeom>
          </p:spPr>
        </p:pic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ECABD3EB-7542-117F-5250-65E9F5AA91D1}"/>
                </a:ext>
              </a:extLst>
            </p:cNvPr>
            <p:cNvSpPr/>
            <p:nvPr/>
          </p:nvSpPr>
          <p:spPr>
            <a:xfrm>
              <a:off x="2105179" y="2999850"/>
              <a:ext cx="192809" cy="127091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PCI</a:t>
              </a:r>
            </a:p>
          </p:txBody>
        </p:sp>
        <p:sp>
          <p:nvSpPr>
            <p:cNvPr id="8" name="Flecha izquierda y derecha 7">
              <a:extLst>
                <a:ext uri="{FF2B5EF4-FFF2-40B4-BE49-F238E27FC236}">
                  <a16:creationId xmlns:a16="http://schemas.microsoft.com/office/drawing/2014/main" id="{AC4FE6A3-7FCB-205E-4594-5EC0532C92AB}"/>
                </a:ext>
              </a:extLst>
            </p:cNvPr>
            <p:cNvSpPr/>
            <p:nvPr/>
          </p:nvSpPr>
          <p:spPr>
            <a:xfrm>
              <a:off x="1861546" y="3578756"/>
              <a:ext cx="227183" cy="114303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Flecha izquierda y derecha 8">
              <a:extLst>
                <a:ext uri="{FF2B5EF4-FFF2-40B4-BE49-F238E27FC236}">
                  <a16:creationId xmlns:a16="http://schemas.microsoft.com/office/drawing/2014/main" id="{DE17BBC8-6DF4-06DF-F512-A6164995883F}"/>
                </a:ext>
              </a:extLst>
            </p:cNvPr>
            <p:cNvSpPr/>
            <p:nvPr/>
          </p:nvSpPr>
          <p:spPr>
            <a:xfrm>
              <a:off x="2306215" y="4104426"/>
              <a:ext cx="227183" cy="114303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Flecha izquierda y derecha 9">
              <a:extLst>
                <a:ext uri="{FF2B5EF4-FFF2-40B4-BE49-F238E27FC236}">
                  <a16:creationId xmlns:a16="http://schemas.microsoft.com/office/drawing/2014/main" id="{2ADE1D35-18CD-94BF-21C6-36D4BA7ED857}"/>
                </a:ext>
              </a:extLst>
            </p:cNvPr>
            <p:cNvSpPr/>
            <p:nvPr/>
          </p:nvSpPr>
          <p:spPr>
            <a:xfrm>
              <a:off x="2305216" y="3601227"/>
              <a:ext cx="227183" cy="114303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Flecha izquierda y derecha 10">
              <a:extLst>
                <a:ext uri="{FF2B5EF4-FFF2-40B4-BE49-F238E27FC236}">
                  <a16:creationId xmlns:a16="http://schemas.microsoft.com/office/drawing/2014/main" id="{78188986-6E6F-2B7C-C48B-7315AC829865}"/>
                </a:ext>
              </a:extLst>
            </p:cNvPr>
            <p:cNvSpPr/>
            <p:nvPr/>
          </p:nvSpPr>
          <p:spPr>
            <a:xfrm>
              <a:off x="2297989" y="3076411"/>
              <a:ext cx="227183" cy="114303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31" name="Imagen 30">
            <a:extLst>
              <a:ext uri="{FF2B5EF4-FFF2-40B4-BE49-F238E27FC236}">
                <a16:creationId xmlns:a16="http://schemas.microsoft.com/office/drawing/2014/main" id="{A0E94C37-BD30-E227-FF3C-2E6B4015C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900000" flipH="1">
            <a:off x="6205060" y="2873781"/>
            <a:ext cx="429527" cy="40678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8F9EA633-416F-C4AF-5DBF-DB6CE6477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29199" y="2230030"/>
            <a:ext cx="418349" cy="44174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116EE9EF-0FC7-B006-7C59-BE8DA47919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 flipH="1">
            <a:off x="6248578" y="2573684"/>
            <a:ext cx="379591" cy="359490"/>
          </a:xfrm>
          <a:prstGeom prst="rect">
            <a:avLst/>
          </a:prstGeom>
        </p:spPr>
      </p:pic>
      <p:sp>
        <p:nvSpPr>
          <p:cNvPr id="36" name="Rectángulo redondeado 35">
            <a:extLst>
              <a:ext uri="{FF2B5EF4-FFF2-40B4-BE49-F238E27FC236}">
                <a16:creationId xmlns:a16="http://schemas.microsoft.com/office/drawing/2014/main" id="{FCF2CD2D-22CB-CBDD-CF49-45E9EE504473}"/>
              </a:ext>
            </a:extLst>
          </p:cNvPr>
          <p:cNvSpPr/>
          <p:nvPr/>
        </p:nvSpPr>
        <p:spPr>
          <a:xfrm flipH="1">
            <a:off x="6751279" y="2406715"/>
            <a:ext cx="105382" cy="7334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PCI</a:t>
            </a:r>
          </a:p>
        </p:txBody>
      </p:sp>
      <p:sp>
        <p:nvSpPr>
          <p:cNvPr id="37" name="Flecha izquierda y derecha 36">
            <a:extLst>
              <a:ext uri="{FF2B5EF4-FFF2-40B4-BE49-F238E27FC236}">
                <a16:creationId xmlns:a16="http://schemas.microsoft.com/office/drawing/2014/main" id="{EB424704-2E1C-63E0-EF50-4F069B9C8598}"/>
              </a:ext>
            </a:extLst>
          </p:cNvPr>
          <p:cNvSpPr/>
          <p:nvPr/>
        </p:nvSpPr>
        <p:spPr>
          <a:xfrm flipH="1">
            <a:off x="6865654" y="2740813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0" name="Flecha izquierda y derecha 39">
            <a:extLst>
              <a:ext uri="{FF2B5EF4-FFF2-40B4-BE49-F238E27FC236}">
                <a16:creationId xmlns:a16="http://schemas.microsoft.com/office/drawing/2014/main" id="{0260FF26-20B7-7F00-BECB-4C125D38DCAE}"/>
              </a:ext>
            </a:extLst>
          </p:cNvPr>
          <p:cNvSpPr/>
          <p:nvPr/>
        </p:nvSpPr>
        <p:spPr>
          <a:xfrm flipH="1">
            <a:off x="6622615" y="3044188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3" name="Flecha izquierda y derecha 42">
            <a:extLst>
              <a:ext uri="{FF2B5EF4-FFF2-40B4-BE49-F238E27FC236}">
                <a16:creationId xmlns:a16="http://schemas.microsoft.com/office/drawing/2014/main" id="{6ADEB19E-194C-8E6A-41E9-337FFA9DA21F}"/>
              </a:ext>
            </a:extLst>
          </p:cNvPr>
          <p:cNvSpPr/>
          <p:nvPr/>
        </p:nvSpPr>
        <p:spPr>
          <a:xfrm flipH="1">
            <a:off x="6623161" y="2753782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5" name="Flecha izquierda y derecha 44">
            <a:extLst>
              <a:ext uri="{FF2B5EF4-FFF2-40B4-BE49-F238E27FC236}">
                <a16:creationId xmlns:a16="http://schemas.microsoft.com/office/drawing/2014/main" id="{64983470-809E-0D0B-EE84-5E9085DD702C}"/>
              </a:ext>
            </a:extLst>
          </p:cNvPr>
          <p:cNvSpPr/>
          <p:nvPr/>
        </p:nvSpPr>
        <p:spPr>
          <a:xfrm flipH="1">
            <a:off x="6627110" y="2450900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17ADEE3B-3954-08CD-9C06-8A1C3818C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900000" flipH="1">
            <a:off x="6205060" y="3953123"/>
            <a:ext cx="429527" cy="406782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B612E592-C461-7C7A-CBA0-40B79B4A4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561" y="3581753"/>
            <a:ext cx="587386" cy="587385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A3EFD920-E29D-227E-816E-32BF24FBC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29199" y="3309372"/>
            <a:ext cx="418349" cy="441740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B98EFDFB-6578-446B-1BB4-B0299C32C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 flipH="1">
            <a:off x="6248578" y="3653026"/>
            <a:ext cx="379591" cy="359490"/>
          </a:xfrm>
          <a:prstGeom prst="rect">
            <a:avLst/>
          </a:prstGeom>
        </p:spPr>
      </p:pic>
      <p:sp>
        <p:nvSpPr>
          <p:cNvPr id="50" name="Rectángulo redondeado 49">
            <a:extLst>
              <a:ext uri="{FF2B5EF4-FFF2-40B4-BE49-F238E27FC236}">
                <a16:creationId xmlns:a16="http://schemas.microsoft.com/office/drawing/2014/main" id="{2C7C3F4E-BC87-9A16-C6C4-17B1A121C297}"/>
              </a:ext>
            </a:extLst>
          </p:cNvPr>
          <p:cNvSpPr/>
          <p:nvPr/>
        </p:nvSpPr>
        <p:spPr>
          <a:xfrm flipH="1">
            <a:off x="6751279" y="3486057"/>
            <a:ext cx="105382" cy="7334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PCI</a:t>
            </a:r>
          </a:p>
        </p:txBody>
      </p:sp>
      <p:sp>
        <p:nvSpPr>
          <p:cNvPr id="53" name="Flecha izquierda y derecha 52">
            <a:extLst>
              <a:ext uri="{FF2B5EF4-FFF2-40B4-BE49-F238E27FC236}">
                <a16:creationId xmlns:a16="http://schemas.microsoft.com/office/drawing/2014/main" id="{08E0085C-B5DB-6ACF-ED4D-2C09746CA984}"/>
              </a:ext>
            </a:extLst>
          </p:cNvPr>
          <p:cNvSpPr/>
          <p:nvPr/>
        </p:nvSpPr>
        <p:spPr>
          <a:xfrm flipH="1">
            <a:off x="6865654" y="3820156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5" name="Flecha izquierda y derecha 54">
            <a:extLst>
              <a:ext uri="{FF2B5EF4-FFF2-40B4-BE49-F238E27FC236}">
                <a16:creationId xmlns:a16="http://schemas.microsoft.com/office/drawing/2014/main" id="{B0B043C9-97C5-4897-41FF-BCFD3352D0BE}"/>
              </a:ext>
            </a:extLst>
          </p:cNvPr>
          <p:cNvSpPr/>
          <p:nvPr/>
        </p:nvSpPr>
        <p:spPr>
          <a:xfrm flipH="1">
            <a:off x="6622615" y="4123531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6" name="Flecha izquierda y derecha 55">
            <a:extLst>
              <a:ext uri="{FF2B5EF4-FFF2-40B4-BE49-F238E27FC236}">
                <a16:creationId xmlns:a16="http://schemas.microsoft.com/office/drawing/2014/main" id="{EA3D4DC0-8F2C-3C2D-3223-3BCA0B3ED4F8}"/>
              </a:ext>
            </a:extLst>
          </p:cNvPr>
          <p:cNvSpPr/>
          <p:nvPr/>
        </p:nvSpPr>
        <p:spPr>
          <a:xfrm flipH="1">
            <a:off x="6623161" y="3833125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8" name="Flecha izquierda y derecha 57">
            <a:extLst>
              <a:ext uri="{FF2B5EF4-FFF2-40B4-BE49-F238E27FC236}">
                <a16:creationId xmlns:a16="http://schemas.microsoft.com/office/drawing/2014/main" id="{57218C48-3FD5-D702-057C-9D411552FC0B}"/>
              </a:ext>
            </a:extLst>
          </p:cNvPr>
          <p:cNvSpPr/>
          <p:nvPr/>
        </p:nvSpPr>
        <p:spPr>
          <a:xfrm flipH="1">
            <a:off x="6627110" y="3530242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87" name="Imagen 86">
            <a:extLst>
              <a:ext uri="{FF2B5EF4-FFF2-40B4-BE49-F238E27FC236}">
                <a16:creationId xmlns:a16="http://schemas.microsoft.com/office/drawing/2014/main" id="{51FF5A75-E438-CEC8-B3A9-2EBC1BF20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900000" flipH="1">
            <a:off x="6229200" y="5095943"/>
            <a:ext cx="429527" cy="406782"/>
          </a:xfrm>
          <a:prstGeom prst="rect">
            <a:avLst/>
          </a:prstGeom>
        </p:spPr>
      </p:pic>
      <p:pic>
        <p:nvPicPr>
          <p:cNvPr id="88" name="Imagen 87">
            <a:extLst>
              <a:ext uri="{FF2B5EF4-FFF2-40B4-BE49-F238E27FC236}">
                <a16:creationId xmlns:a16="http://schemas.microsoft.com/office/drawing/2014/main" id="{D045F4C9-5D0A-3D1B-B87E-F8116EBAC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702" y="4724573"/>
            <a:ext cx="587386" cy="587385"/>
          </a:xfrm>
          <a:prstGeom prst="rect">
            <a:avLst/>
          </a:prstGeom>
        </p:spPr>
      </p:pic>
      <p:pic>
        <p:nvPicPr>
          <p:cNvPr id="89" name="Imagen 88">
            <a:extLst>
              <a:ext uri="{FF2B5EF4-FFF2-40B4-BE49-F238E27FC236}">
                <a16:creationId xmlns:a16="http://schemas.microsoft.com/office/drawing/2014/main" id="{5B2C8F13-0CEE-01D6-AC07-AED94432B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53339" y="4452192"/>
            <a:ext cx="418349" cy="441740"/>
          </a:xfrm>
          <a:prstGeom prst="rect">
            <a:avLst/>
          </a:prstGeom>
        </p:spPr>
      </p:pic>
      <p:pic>
        <p:nvPicPr>
          <p:cNvPr id="90" name="Imagen 89">
            <a:extLst>
              <a:ext uri="{FF2B5EF4-FFF2-40B4-BE49-F238E27FC236}">
                <a16:creationId xmlns:a16="http://schemas.microsoft.com/office/drawing/2014/main" id="{33438839-3018-7E9B-58EC-5A1815264B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 flipH="1">
            <a:off x="6272718" y="4795846"/>
            <a:ext cx="379591" cy="359490"/>
          </a:xfrm>
          <a:prstGeom prst="rect">
            <a:avLst/>
          </a:prstGeom>
        </p:spPr>
      </p:pic>
      <p:sp>
        <p:nvSpPr>
          <p:cNvPr id="91" name="Rectángulo redondeado 90">
            <a:extLst>
              <a:ext uri="{FF2B5EF4-FFF2-40B4-BE49-F238E27FC236}">
                <a16:creationId xmlns:a16="http://schemas.microsoft.com/office/drawing/2014/main" id="{1682074C-5A73-F5D4-5CA4-5C9CB7A44D6A}"/>
              </a:ext>
            </a:extLst>
          </p:cNvPr>
          <p:cNvSpPr/>
          <p:nvPr/>
        </p:nvSpPr>
        <p:spPr>
          <a:xfrm flipH="1">
            <a:off x="6775419" y="4628877"/>
            <a:ext cx="105382" cy="7334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PCI</a:t>
            </a:r>
          </a:p>
        </p:txBody>
      </p:sp>
      <p:sp>
        <p:nvSpPr>
          <p:cNvPr id="92" name="Flecha izquierda y derecha 91">
            <a:extLst>
              <a:ext uri="{FF2B5EF4-FFF2-40B4-BE49-F238E27FC236}">
                <a16:creationId xmlns:a16="http://schemas.microsoft.com/office/drawing/2014/main" id="{3E4935C5-6BCC-01AB-1C90-5E0B18FECF1E}"/>
              </a:ext>
            </a:extLst>
          </p:cNvPr>
          <p:cNvSpPr/>
          <p:nvPr/>
        </p:nvSpPr>
        <p:spPr>
          <a:xfrm flipH="1">
            <a:off x="6889794" y="4962976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3" name="Flecha izquierda y derecha 92">
            <a:extLst>
              <a:ext uri="{FF2B5EF4-FFF2-40B4-BE49-F238E27FC236}">
                <a16:creationId xmlns:a16="http://schemas.microsoft.com/office/drawing/2014/main" id="{6044178E-329C-EDFD-4257-6BA201B404AF}"/>
              </a:ext>
            </a:extLst>
          </p:cNvPr>
          <p:cNvSpPr/>
          <p:nvPr/>
        </p:nvSpPr>
        <p:spPr>
          <a:xfrm flipH="1">
            <a:off x="6646755" y="5266351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4" name="Flecha izquierda y derecha 93">
            <a:extLst>
              <a:ext uri="{FF2B5EF4-FFF2-40B4-BE49-F238E27FC236}">
                <a16:creationId xmlns:a16="http://schemas.microsoft.com/office/drawing/2014/main" id="{4736E13C-1099-A8EA-020E-CB9E5CBD61D4}"/>
              </a:ext>
            </a:extLst>
          </p:cNvPr>
          <p:cNvSpPr/>
          <p:nvPr/>
        </p:nvSpPr>
        <p:spPr>
          <a:xfrm flipH="1">
            <a:off x="6647301" y="4975945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5" name="Flecha izquierda y derecha 94">
            <a:extLst>
              <a:ext uri="{FF2B5EF4-FFF2-40B4-BE49-F238E27FC236}">
                <a16:creationId xmlns:a16="http://schemas.microsoft.com/office/drawing/2014/main" id="{B02DE467-0362-8682-EEB8-318D53DD469A}"/>
              </a:ext>
            </a:extLst>
          </p:cNvPr>
          <p:cNvSpPr/>
          <p:nvPr/>
        </p:nvSpPr>
        <p:spPr>
          <a:xfrm flipH="1">
            <a:off x="6651250" y="4673062"/>
            <a:ext cx="124169" cy="65966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721DF27-D303-8FAE-0D99-08E36EC689E2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NCCL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2A4C8899-CC19-4529-79A5-581640BB9DEE}"/>
              </a:ext>
            </a:extLst>
          </p:cNvPr>
          <p:cNvGrpSpPr/>
          <p:nvPr/>
        </p:nvGrpSpPr>
        <p:grpSpPr>
          <a:xfrm>
            <a:off x="1379823" y="3406882"/>
            <a:ext cx="1505550" cy="1161154"/>
            <a:chOff x="890809" y="2693701"/>
            <a:chExt cx="2385750" cy="1840007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C91ECAFB-9A95-E5CB-1CC1-6A7B7B00A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0809" y="3076411"/>
              <a:ext cx="1117796" cy="1117796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3B382A95-93D7-6D7C-19FE-5AAC14801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7779" y="2693701"/>
              <a:ext cx="765420" cy="765420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2B0AD819-739D-D690-0CF6-C2F6A1C56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700000">
              <a:off x="2532300" y="3789449"/>
              <a:ext cx="744259" cy="744259"/>
            </a:xfrm>
            <a:prstGeom prst="rect">
              <a:avLst/>
            </a:prstGeom>
          </p:spPr>
        </p:pic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8F014103-17C6-26D5-3619-5EFB6AE2E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2541622" y="3271751"/>
              <a:ext cx="657732" cy="657732"/>
            </a:xfrm>
            <a:prstGeom prst="rect">
              <a:avLst/>
            </a:prstGeom>
          </p:spPr>
        </p:pic>
        <p:sp>
          <p:nvSpPr>
            <p:cNvPr id="23" name="Rectángulo redondeado 22">
              <a:extLst>
                <a:ext uri="{FF2B5EF4-FFF2-40B4-BE49-F238E27FC236}">
                  <a16:creationId xmlns:a16="http://schemas.microsoft.com/office/drawing/2014/main" id="{A693A898-981D-6A39-F852-BB2550F88C94}"/>
                </a:ext>
              </a:extLst>
            </p:cNvPr>
            <p:cNvSpPr/>
            <p:nvPr/>
          </p:nvSpPr>
          <p:spPr>
            <a:xfrm>
              <a:off x="2105179" y="2999850"/>
              <a:ext cx="192809" cy="127091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PCI</a:t>
              </a:r>
            </a:p>
          </p:txBody>
        </p:sp>
        <p:sp>
          <p:nvSpPr>
            <p:cNvPr id="24" name="Flecha izquierda y derecha 23">
              <a:extLst>
                <a:ext uri="{FF2B5EF4-FFF2-40B4-BE49-F238E27FC236}">
                  <a16:creationId xmlns:a16="http://schemas.microsoft.com/office/drawing/2014/main" id="{854C7DB1-B5DE-B518-9086-0061D5F7812D}"/>
                </a:ext>
              </a:extLst>
            </p:cNvPr>
            <p:cNvSpPr/>
            <p:nvPr/>
          </p:nvSpPr>
          <p:spPr>
            <a:xfrm>
              <a:off x="1861546" y="3578756"/>
              <a:ext cx="227183" cy="114303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Flecha izquierda y derecha 24">
              <a:extLst>
                <a:ext uri="{FF2B5EF4-FFF2-40B4-BE49-F238E27FC236}">
                  <a16:creationId xmlns:a16="http://schemas.microsoft.com/office/drawing/2014/main" id="{4CEFF748-8EF0-0C91-3638-C3335BC6BAB2}"/>
                </a:ext>
              </a:extLst>
            </p:cNvPr>
            <p:cNvSpPr/>
            <p:nvPr/>
          </p:nvSpPr>
          <p:spPr>
            <a:xfrm>
              <a:off x="2306215" y="4104426"/>
              <a:ext cx="227183" cy="114303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" name="Flecha izquierda y derecha 28">
              <a:extLst>
                <a:ext uri="{FF2B5EF4-FFF2-40B4-BE49-F238E27FC236}">
                  <a16:creationId xmlns:a16="http://schemas.microsoft.com/office/drawing/2014/main" id="{0E2E4C8A-EF19-0279-62AF-F24632AC948A}"/>
                </a:ext>
              </a:extLst>
            </p:cNvPr>
            <p:cNvSpPr/>
            <p:nvPr/>
          </p:nvSpPr>
          <p:spPr>
            <a:xfrm>
              <a:off x="2305216" y="3601227"/>
              <a:ext cx="227183" cy="114303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0" name="Flecha izquierda y derecha 29">
              <a:extLst>
                <a:ext uri="{FF2B5EF4-FFF2-40B4-BE49-F238E27FC236}">
                  <a16:creationId xmlns:a16="http://schemas.microsoft.com/office/drawing/2014/main" id="{5D2A18A9-2DEC-E904-B417-B5394713356D}"/>
                </a:ext>
              </a:extLst>
            </p:cNvPr>
            <p:cNvSpPr/>
            <p:nvPr/>
          </p:nvSpPr>
          <p:spPr>
            <a:xfrm>
              <a:off x="2297989" y="3076411"/>
              <a:ext cx="227183" cy="114303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0578BE65-5D3B-2F1B-D880-667C35687653}"/>
              </a:ext>
            </a:extLst>
          </p:cNvPr>
          <p:cNvGrpSpPr/>
          <p:nvPr/>
        </p:nvGrpSpPr>
        <p:grpSpPr>
          <a:xfrm>
            <a:off x="1394510" y="4590037"/>
            <a:ext cx="1505550" cy="1161154"/>
            <a:chOff x="890809" y="2693701"/>
            <a:chExt cx="2385750" cy="1840007"/>
          </a:xfrm>
        </p:grpSpPr>
        <p:pic>
          <p:nvPicPr>
            <p:cNvPr id="59" name="Imagen 58">
              <a:extLst>
                <a:ext uri="{FF2B5EF4-FFF2-40B4-BE49-F238E27FC236}">
                  <a16:creationId xmlns:a16="http://schemas.microsoft.com/office/drawing/2014/main" id="{81332E19-BA02-34BB-7AF9-7597F1372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0809" y="3076411"/>
              <a:ext cx="1117796" cy="1117796"/>
            </a:xfrm>
            <a:prstGeom prst="rect">
              <a:avLst/>
            </a:prstGeom>
          </p:spPr>
        </p:pic>
        <p:pic>
          <p:nvPicPr>
            <p:cNvPr id="60" name="Imagen 59">
              <a:extLst>
                <a:ext uri="{FF2B5EF4-FFF2-40B4-BE49-F238E27FC236}">
                  <a16:creationId xmlns:a16="http://schemas.microsoft.com/office/drawing/2014/main" id="{74A56FC9-C4A6-68B0-0016-BCFF95CE8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7779" y="2693701"/>
              <a:ext cx="765420" cy="765420"/>
            </a:xfrm>
            <a:prstGeom prst="rect">
              <a:avLst/>
            </a:prstGeom>
          </p:spPr>
        </p:pic>
        <p:pic>
          <p:nvPicPr>
            <p:cNvPr id="61" name="Imagen 60">
              <a:extLst>
                <a:ext uri="{FF2B5EF4-FFF2-40B4-BE49-F238E27FC236}">
                  <a16:creationId xmlns:a16="http://schemas.microsoft.com/office/drawing/2014/main" id="{A7938000-EE34-3051-E86F-05BAEF9E4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700000">
              <a:off x="2532300" y="3789449"/>
              <a:ext cx="744259" cy="744259"/>
            </a:xfrm>
            <a:prstGeom prst="rect">
              <a:avLst/>
            </a:prstGeom>
          </p:spPr>
        </p:pic>
        <p:pic>
          <p:nvPicPr>
            <p:cNvPr id="62" name="Imagen 61">
              <a:extLst>
                <a:ext uri="{FF2B5EF4-FFF2-40B4-BE49-F238E27FC236}">
                  <a16:creationId xmlns:a16="http://schemas.microsoft.com/office/drawing/2014/main" id="{A8785C85-5EC1-B742-4A84-E5B70BD3B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2541622" y="3271751"/>
              <a:ext cx="657732" cy="657732"/>
            </a:xfrm>
            <a:prstGeom prst="rect">
              <a:avLst/>
            </a:prstGeom>
          </p:spPr>
        </p:pic>
        <p:sp>
          <p:nvSpPr>
            <p:cNvPr id="63" name="Rectángulo redondeado 62">
              <a:extLst>
                <a:ext uri="{FF2B5EF4-FFF2-40B4-BE49-F238E27FC236}">
                  <a16:creationId xmlns:a16="http://schemas.microsoft.com/office/drawing/2014/main" id="{33F00A35-515C-58E7-2DEE-AEC975516A9A}"/>
                </a:ext>
              </a:extLst>
            </p:cNvPr>
            <p:cNvSpPr/>
            <p:nvPr/>
          </p:nvSpPr>
          <p:spPr>
            <a:xfrm>
              <a:off x="2105179" y="2999850"/>
              <a:ext cx="192809" cy="1270915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PCI</a:t>
              </a:r>
            </a:p>
          </p:txBody>
        </p:sp>
        <p:sp>
          <p:nvSpPr>
            <p:cNvPr id="64" name="Flecha izquierda y derecha 63">
              <a:extLst>
                <a:ext uri="{FF2B5EF4-FFF2-40B4-BE49-F238E27FC236}">
                  <a16:creationId xmlns:a16="http://schemas.microsoft.com/office/drawing/2014/main" id="{388B7330-C22D-D2E2-EF55-2467FEE23285}"/>
                </a:ext>
              </a:extLst>
            </p:cNvPr>
            <p:cNvSpPr/>
            <p:nvPr/>
          </p:nvSpPr>
          <p:spPr>
            <a:xfrm>
              <a:off x="1861546" y="3578756"/>
              <a:ext cx="227183" cy="114303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5" name="Flecha izquierda y derecha 64">
              <a:extLst>
                <a:ext uri="{FF2B5EF4-FFF2-40B4-BE49-F238E27FC236}">
                  <a16:creationId xmlns:a16="http://schemas.microsoft.com/office/drawing/2014/main" id="{EA05FDDE-D9E0-CFDD-28C2-2AFDDEDBC249}"/>
                </a:ext>
              </a:extLst>
            </p:cNvPr>
            <p:cNvSpPr/>
            <p:nvPr/>
          </p:nvSpPr>
          <p:spPr>
            <a:xfrm>
              <a:off x="2306215" y="4104426"/>
              <a:ext cx="227183" cy="114303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6" name="Flecha izquierda y derecha 65">
              <a:extLst>
                <a:ext uri="{FF2B5EF4-FFF2-40B4-BE49-F238E27FC236}">
                  <a16:creationId xmlns:a16="http://schemas.microsoft.com/office/drawing/2014/main" id="{2405E772-2AD6-6862-883E-FF7E59D30E42}"/>
                </a:ext>
              </a:extLst>
            </p:cNvPr>
            <p:cNvSpPr/>
            <p:nvPr/>
          </p:nvSpPr>
          <p:spPr>
            <a:xfrm>
              <a:off x="2305216" y="3601227"/>
              <a:ext cx="227183" cy="114303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7" name="Flecha izquierda y derecha 66">
              <a:extLst>
                <a:ext uri="{FF2B5EF4-FFF2-40B4-BE49-F238E27FC236}">
                  <a16:creationId xmlns:a16="http://schemas.microsoft.com/office/drawing/2014/main" id="{BA9F5C8B-506F-A962-A5B9-8799F683D564}"/>
                </a:ext>
              </a:extLst>
            </p:cNvPr>
            <p:cNvSpPr/>
            <p:nvPr/>
          </p:nvSpPr>
          <p:spPr>
            <a:xfrm>
              <a:off x="2297989" y="3076411"/>
              <a:ext cx="227183" cy="114303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8" name="CuadroTexto 67">
            <a:extLst>
              <a:ext uri="{FF2B5EF4-FFF2-40B4-BE49-F238E27FC236}">
                <a16:creationId xmlns:a16="http://schemas.microsoft.com/office/drawing/2014/main" id="{DA3F70B5-F543-E783-9642-01C61C7277FB}"/>
              </a:ext>
            </a:extLst>
          </p:cNvPr>
          <p:cNvSpPr txBox="1"/>
          <p:nvPr/>
        </p:nvSpPr>
        <p:spPr>
          <a:xfrm>
            <a:off x="4035972" y="2383593"/>
            <a:ext cx="107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Allreduce</a:t>
            </a:r>
            <a:endParaRPr lang="es-ES" dirty="0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2F38BEE6-DA99-7017-1862-E145D10C5D17}"/>
              </a:ext>
            </a:extLst>
          </p:cNvPr>
          <p:cNvSpPr txBox="1"/>
          <p:nvPr/>
        </p:nvSpPr>
        <p:spPr>
          <a:xfrm>
            <a:off x="4035972" y="3319342"/>
            <a:ext cx="1111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Broadcast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D0032922-F1C1-A62E-C8FB-6F0973CB2056}"/>
              </a:ext>
            </a:extLst>
          </p:cNvPr>
          <p:cNvSpPr txBox="1"/>
          <p:nvPr/>
        </p:nvSpPr>
        <p:spPr>
          <a:xfrm>
            <a:off x="4006649" y="4218507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Allgather</a:t>
            </a:r>
            <a:endParaRPr lang="es-ES" dirty="0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908405E2-1887-45F6-CFDC-CDFDFAAC6F08}"/>
              </a:ext>
            </a:extLst>
          </p:cNvPr>
          <p:cNvSpPr txBox="1"/>
          <p:nvPr/>
        </p:nvSpPr>
        <p:spPr>
          <a:xfrm>
            <a:off x="4080436" y="5220393"/>
            <a:ext cx="836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Alltoall</a:t>
            </a:r>
            <a:endParaRPr lang="es-ES" dirty="0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4899C32C-FABB-6BB4-6D51-8DD35692C515}"/>
              </a:ext>
            </a:extLst>
          </p:cNvPr>
          <p:cNvSpPr txBox="1"/>
          <p:nvPr/>
        </p:nvSpPr>
        <p:spPr>
          <a:xfrm>
            <a:off x="660529" y="6275156"/>
            <a:ext cx="7861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Similar a MPI pero usa PCIe, </a:t>
            </a:r>
            <a:r>
              <a:rPr lang="es-ES" dirty="0" err="1"/>
              <a:t>NVLink</a:t>
            </a:r>
            <a:r>
              <a:rPr lang="es-ES" dirty="0"/>
              <a:t> </a:t>
            </a:r>
            <a:r>
              <a:rPr lang="es-ES" dirty="0" err="1"/>
              <a:t>NVSwitch</a:t>
            </a:r>
            <a:r>
              <a:rPr lang="es-ES" dirty="0"/>
              <a:t> o </a:t>
            </a:r>
            <a:r>
              <a:rPr lang="es-ES" dirty="0" err="1"/>
              <a:t>Infiniband</a:t>
            </a:r>
            <a:r>
              <a:rPr lang="es-ES" dirty="0"/>
              <a:t>  de forma transparente</a:t>
            </a:r>
          </a:p>
        </p:txBody>
      </p:sp>
      <p:sp>
        <p:nvSpPr>
          <p:cNvPr id="74" name="Marcador de número de diapositiva 73">
            <a:extLst>
              <a:ext uri="{FF2B5EF4-FFF2-40B4-BE49-F238E27FC236}">
                <a16:creationId xmlns:a16="http://schemas.microsoft.com/office/drawing/2014/main" id="{5A209208-466E-18FF-DE2B-7CCA8E250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09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49310-12C0-F103-2A25-D0299591D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DD5F4-C2BC-FC35-AEC7-7BBD81581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Más interfaces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80C5AA-038E-1094-731C-EE229F41C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Python vía </a:t>
            </a:r>
            <a:r>
              <a:rPr lang="es-ES" dirty="0" err="1"/>
              <a:t>pyCUDA</a:t>
            </a:r>
            <a:r>
              <a:rPr lang="es-ES" dirty="0"/>
              <a:t>, </a:t>
            </a:r>
            <a:r>
              <a:rPr lang="es-ES" dirty="0" err="1"/>
              <a:t>CuPy</a:t>
            </a:r>
            <a:r>
              <a:rPr lang="es-ES" dirty="0"/>
              <a:t>, </a:t>
            </a:r>
            <a:r>
              <a:rPr lang="es-ES" dirty="0" err="1"/>
              <a:t>Numba</a:t>
            </a:r>
            <a:r>
              <a:rPr lang="es-ES" dirty="0"/>
              <a:t> CUDA </a:t>
            </a:r>
          </a:p>
          <a:p>
            <a:r>
              <a:rPr lang="es-ES" dirty="0" err="1"/>
              <a:t>OpenACC</a:t>
            </a:r>
            <a:r>
              <a:rPr lang="es-ES" dirty="0"/>
              <a:t>, </a:t>
            </a:r>
            <a:r>
              <a:rPr lang="es-ES" dirty="0" err="1"/>
              <a:t>OpenMP</a:t>
            </a:r>
            <a:r>
              <a:rPr lang="es-ES" dirty="0"/>
              <a:t>, </a:t>
            </a:r>
            <a:r>
              <a:rPr lang="es-ES" dirty="0" err="1"/>
              <a:t>OmpSs</a:t>
            </a:r>
            <a:endParaRPr lang="es-ES" dirty="0"/>
          </a:p>
          <a:p>
            <a:r>
              <a:rPr lang="es-ES" dirty="0"/>
              <a:t>Matlab, R</a:t>
            </a:r>
          </a:p>
          <a:p>
            <a:endParaRPr lang="es-ES" dirty="0"/>
          </a:p>
          <a:p>
            <a:r>
              <a:rPr lang="es-ES" dirty="0"/>
              <a:t>JAX</a:t>
            </a:r>
          </a:p>
          <a:p>
            <a:r>
              <a:rPr lang="es-ES" dirty="0"/>
              <a:t>TVM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34F637-F5DB-BC2F-E4E5-93D18582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10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1285</Words>
  <Application>Microsoft Macintosh PowerPoint</Application>
  <PresentationFormat>Presentación en pantalla (4:3)</PresentationFormat>
  <Paragraphs>266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Consolas</vt:lpstr>
      <vt:lpstr>Office Theme</vt:lpstr>
      <vt:lpstr>Interfaces de Programación</vt:lpstr>
      <vt:lpstr>Introducción</vt:lpstr>
      <vt:lpstr>Por qué usar bibliotecas</vt:lpstr>
      <vt:lpstr>¿Qué bibliotecas?</vt:lpstr>
      <vt:lpstr>Bibliotecas</vt:lpstr>
      <vt:lpstr>Kernels manuales vs bibliotecas</vt:lpstr>
      <vt:lpstr>SAXPY CUDA</vt:lpstr>
      <vt:lpstr>SAXPY cuBLAS</vt:lpstr>
      <vt:lpstr>GEMM CUDA</vt:lpstr>
      <vt:lpstr>GEMM cuBLAS</vt:lpstr>
      <vt:lpstr>DFT CUDA</vt:lpstr>
      <vt:lpstr>DFT cuFFT</vt:lpstr>
      <vt:lpstr>Convolución CUDA</vt:lpstr>
      <vt:lpstr>Convolución cuDNN</vt:lpstr>
      <vt:lpstr>Otras APIs/soluciones</vt:lpstr>
      <vt:lpstr>GPUDirect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Más interfaces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Adrian Castello Gimeno</cp:lastModifiedBy>
  <cp:revision>4</cp:revision>
  <dcterms:created xsi:type="dcterms:W3CDTF">2013-01-27T09:14:16Z</dcterms:created>
  <dcterms:modified xsi:type="dcterms:W3CDTF">2025-12-02T15:24:07Z</dcterms:modified>
  <cp:category/>
</cp:coreProperties>
</file>